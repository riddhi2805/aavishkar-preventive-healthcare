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6" r:id="rId4"/>
  </p:sldMasterIdLst>
  <p:notesMasterIdLst>
    <p:notesMasterId r:id="rId25"/>
  </p:notesMasterIdLst>
  <p:handoutMasterIdLst>
    <p:handoutMasterId r:id="rId26"/>
  </p:handoutMasterIdLst>
  <p:sldIdLst>
    <p:sldId id="256" r:id="rId5"/>
    <p:sldId id="270" r:id="rId6"/>
    <p:sldId id="257" r:id="rId7"/>
    <p:sldId id="258" r:id="rId8"/>
    <p:sldId id="259" r:id="rId9"/>
    <p:sldId id="266" r:id="rId10"/>
    <p:sldId id="261" r:id="rId11"/>
    <p:sldId id="267" r:id="rId12"/>
    <p:sldId id="268" r:id="rId13"/>
    <p:sldId id="269" r:id="rId14"/>
    <p:sldId id="272" r:id="rId15"/>
    <p:sldId id="282" r:id="rId16"/>
    <p:sldId id="283" r:id="rId17"/>
    <p:sldId id="276" r:id="rId18"/>
    <p:sldId id="277" r:id="rId19"/>
    <p:sldId id="281" r:id="rId20"/>
    <p:sldId id="275" r:id="rId21"/>
    <p:sldId id="279" r:id="rId22"/>
    <p:sldId id="278" r:id="rId23"/>
    <p:sldId id="280"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26277A-866A-4864-90EC-403F622A6FA5}" v="1067" dt="2024-12-08T19:34:31.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05" autoAdjust="0"/>
    <p:restoredTop sz="94660"/>
  </p:normalViewPr>
  <p:slideViewPr>
    <p:cSldViewPr snapToGrid="0">
      <p:cViewPr varScale="1">
        <p:scale>
          <a:sx n="65" d="100"/>
          <a:sy n="65" d="100"/>
        </p:scale>
        <p:origin x="756" y="78"/>
      </p:cViewPr>
      <p:guideLst/>
    </p:cSldViewPr>
  </p:slideViewPr>
  <p:notesTextViewPr>
    <p:cViewPr>
      <p:scale>
        <a:sx n="1" d="1"/>
        <a:sy n="1" d="1"/>
      </p:scale>
      <p:origin x="0" y="0"/>
    </p:cViewPr>
  </p:notesTextViewPr>
  <p:notesViewPr>
    <p:cSldViewPr snapToGrid="0">
      <p:cViewPr varScale="1">
        <p:scale>
          <a:sx n="53" d="100"/>
          <a:sy n="53" d="100"/>
        </p:scale>
        <p:origin x="2922"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https://fergussonedu-my.sharepoint.com/personal/riddhi_kore785_deccansociety_org/Documents/pivot%20rahu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fergussonedu-my.sharepoint.com/personal/riddhi_kore785_deccansociety_org/Documents/pivot%20rahul.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fergussonedu-my.sharepoint.com/personal/riddhi_kore785_deccansociety_org/Documents/pivot%20rahul.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fergussonedu-my.sharepoint.com/personal/riddhi_kore785_deccansociety_org/Documents/pivot%20rahul.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a:t>Cost Awareness</a:t>
            </a:r>
          </a:p>
        </c:rich>
      </c:tx>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pieChart>
        <c:varyColors val="1"/>
        <c:ser>
          <c:idx val="0"/>
          <c:order val="0"/>
          <c:tx>
            <c:strRef>
              <c:f>'[pivot rahul.xlsx]Sheet5'!$B$16:$B$17</c:f>
              <c:strCache>
                <c:ptCount val="2"/>
                <c:pt idx="0">
                  <c:v>Count of Annual income</c:v>
                </c:pt>
                <c:pt idx="1">
                  <c:v>Grand Total</c:v>
                </c:pt>
              </c:strCache>
            </c:strRef>
          </c:tx>
          <c:dPt>
            <c:idx val="0"/>
            <c:bubble3D val="0"/>
            <c:spPr>
              <a:solidFill>
                <a:schemeClr val="accent1"/>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1-2E66-4CF3-90BF-3267154A8CEA}"/>
              </c:ext>
            </c:extLst>
          </c:dPt>
          <c:dPt>
            <c:idx val="1"/>
            <c:bubble3D val="0"/>
            <c:spPr>
              <a:solidFill>
                <a:schemeClr val="accent2"/>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3-2E66-4CF3-90BF-3267154A8CEA}"/>
              </c:ext>
            </c:extLst>
          </c:dPt>
          <c:dPt>
            <c:idx val="2"/>
            <c:bubble3D val="0"/>
            <c:spPr>
              <a:solidFill>
                <a:schemeClr val="accent3"/>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5-2E66-4CF3-90BF-3267154A8CEA}"/>
              </c:ext>
            </c:extLst>
          </c:dPt>
          <c:dPt>
            <c:idx val="3"/>
            <c:bubble3D val="0"/>
            <c:spPr>
              <a:solidFill>
                <a:schemeClr val="accent4"/>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7-2E66-4CF3-90BF-3267154A8CEA}"/>
              </c:ext>
            </c:extLst>
          </c:dPt>
          <c:dPt>
            <c:idx val="4"/>
            <c:bubble3D val="0"/>
            <c:spPr>
              <a:solidFill>
                <a:schemeClr val="accent5"/>
              </a:solidFill>
              <a:ln>
                <a:noFill/>
              </a:ln>
              <a:effectLst>
                <a:outerShdw blurRad="254000" sx="102000" sy="102000" algn="ctr" rotWithShape="0">
                  <a:prstClr val="black">
                    <a:alpha val="20000"/>
                  </a:prstClr>
                </a:outerShdw>
              </a:effectLst>
            </c:spPr>
            <c:extLst>
              <c:ext xmlns:c16="http://schemas.microsoft.com/office/drawing/2014/chart" uri="{C3380CC4-5D6E-409C-BE32-E72D297353CC}">
                <c16:uniqueId val="{00000009-2E66-4CF3-90BF-3267154A8CEA}"/>
              </c:ext>
            </c:extLst>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extLst>
          </c:dLbls>
          <c:cat>
            <c:strRef>
              <c:f>'[pivot rahul.xlsx]Sheet5'!$A$18:$A$22</c:f>
              <c:strCache>
                <c:ptCount val="5"/>
                <c:pt idx="0">
                  <c:v>₹1,000 - ₹5000</c:v>
                </c:pt>
                <c:pt idx="1">
                  <c:v>₹5,000 - ₹10000</c:v>
                </c:pt>
                <c:pt idx="2">
                  <c:v>Above ₹10000</c:v>
                </c:pt>
                <c:pt idx="3">
                  <c:v>I do not know / I do not receive check-ups</c:v>
                </c:pt>
                <c:pt idx="4">
                  <c:v>Less than ₹1,000</c:v>
                </c:pt>
              </c:strCache>
            </c:strRef>
          </c:cat>
          <c:val>
            <c:numRef>
              <c:f>'[pivot rahul.xlsx]Sheet5'!$B$18:$B$22</c:f>
              <c:numCache>
                <c:formatCode>General</c:formatCode>
                <c:ptCount val="5"/>
                <c:pt idx="0">
                  <c:v>70</c:v>
                </c:pt>
                <c:pt idx="1">
                  <c:v>36</c:v>
                </c:pt>
                <c:pt idx="2">
                  <c:v>16</c:v>
                </c:pt>
                <c:pt idx="3">
                  <c:v>105</c:v>
                </c:pt>
                <c:pt idx="4">
                  <c:v>23</c:v>
                </c:pt>
              </c:numCache>
            </c:numRef>
          </c:val>
          <c:extLst>
            <c:ext xmlns:c16="http://schemas.microsoft.com/office/drawing/2014/chart" uri="{C3380CC4-5D6E-409C-BE32-E72D297353CC}">
              <c16:uniqueId val="{0000000A-2E66-4CF3-90BF-3267154A8CEA}"/>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50" baseline="0">
                <a:solidFill>
                  <a:schemeClr val="tx1">
                    <a:lumMod val="65000"/>
                    <a:lumOff val="35000"/>
                  </a:schemeClr>
                </a:solidFill>
                <a:latin typeface="+mn-lt"/>
                <a:ea typeface="+mn-ea"/>
                <a:cs typeface="+mn-cs"/>
              </a:defRPr>
            </a:pPr>
            <a:r>
              <a:rPr lang="en-US"/>
              <a:t>Annual Income VS Cost Of Checkups</a:t>
            </a:r>
          </a:p>
        </c:rich>
      </c:tx>
      <c:overlay val="0"/>
      <c:spPr>
        <a:noFill/>
        <a:ln>
          <a:noFill/>
        </a:ln>
        <a:effectLst/>
      </c:spPr>
      <c:txPr>
        <a:bodyPr rot="0" spcFirstLastPara="1" vertOverflow="ellipsis" vert="horz" wrap="square" anchor="ctr" anchorCtr="1"/>
        <a:lstStyle/>
        <a:p>
          <a:pPr>
            <a:defRPr sz="2200" b="0" i="0" u="none" strike="noStrike" kern="1200" cap="none" spc="5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'[pivot rahul.xlsx]Sheet5'!$B$32</c:f>
              <c:strCache>
                <c:ptCount val="1"/>
                <c:pt idx="0">
                  <c:v>Less than ₹1,000</c:v>
                </c:pt>
              </c:strCache>
            </c:strRef>
          </c:tx>
          <c:spPr>
            <a:noFill/>
            <a:ln w="25400" cap="flat" cmpd="sng" algn="ctr">
              <a:solidFill>
                <a:schemeClr val="accent1"/>
              </a:solidFill>
              <a:miter lim="800000"/>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rahul.xlsx]Sheet5'!$A$33:$A$37</c:f>
              <c:strCache>
                <c:ptCount val="5"/>
                <c:pt idx="0">
                  <c:v>Less than ₹2,00,000</c:v>
                </c:pt>
                <c:pt idx="1">
                  <c:v>₹2,00,000 - ₹4,00,000</c:v>
                </c:pt>
                <c:pt idx="2">
                  <c:v>₹4,00,000 - ₹6,00,000</c:v>
                </c:pt>
                <c:pt idx="3">
                  <c:v>₹6,00,000 - ₹8,00,000</c:v>
                </c:pt>
                <c:pt idx="4">
                  <c:v>Above ₹8,00,000</c:v>
                </c:pt>
              </c:strCache>
            </c:strRef>
          </c:cat>
          <c:val>
            <c:numRef>
              <c:f>'[pivot rahul.xlsx]Sheet5'!$B$33:$B$37</c:f>
              <c:numCache>
                <c:formatCode>General</c:formatCode>
                <c:ptCount val="5"/>
                <c:pt idx="0">
                  <c:v>9</c:v>
                </c:pt>
                <c:pt idx="1">
                  <c:v>4</c:v>
                </c:pt>
                <c:pt idx="2">
                  <c:v>3</c:v>
                </c:pt>
                <c:pt idx="3">
                  <c:v>3</c:v>
                </c:pt>
                <c:pt idx="4">
                  <c:v>4</c:v>
                </c:pt>
              </c:numCache>
            </c:numRef>
          </c:val>
          <c:extLst>
            <c:ext xmlns:c16="http://schemas.microsoft.com/office/drawing/2014/chart" uri="{C3380CC4-5D6E-409C-BE32-E72D297353CC}">
              <c16:uniqueId val="{00000000-0590-43D3-9568-10C9D2FB8720}"/>
            </c:ext>
          </c:extLst>
        </c:ser>
        <c:ser>
          <c:idx val="1"/>
          <c:order val="1"/>
          <c:tx>
            <c:strRef>
              <c:f>'[pivot rahul.xlsx]Sheet5'!$C$32</c:f>
              <c:strCache>
                <c:ptCount val="1"/>
                <c:pt idx="0">
                  <c:v>₹1,000 - ₹5000</c:v>
                </c:pt>
              </c:strCache>
            </c:strRef>
          </c:tx>
          <c:spPr>
            <a:noFill/>
            <a:ln w="25400" cap="flat" cmpd="sng" algn="ctr">
              <a:solidFill>
                <a:schemeClr val="accent2"/>
              </a:solidFill>
              <a:miter lim="800000"/>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rahul.xlsx]Sheet5'!$A$33:$A$37</c:f>
              <c:strCache>
                <c:ptCount val="5"/>
                <c:pt idx="0">
                  <c:v>Less than ₹2,00,000</c:v>
                </c:pt>
                <c:pt idx="1">
                  <c:v>₹2,00,000 - ₹4,00,000</c:v>
                </c:pt>
                <c:pt idx="2">
                  <c:v>₹4,00,000 - ₹6,00,000</c:v>
                </c:pt>
                <c:pt idx="3">
                  <c:v>₹6,00,000 - ₹8,00,000</c:v>
                </c:pt>
                <c:pt idx="4">
                  <c:v>Above ₹8,00,000</c:v>
                </c:pt>
              </c:strCache>
            </c:strRef>
          </c:cat>
          <c:val>
            <c:numRef>
              <c:f>'[pivot rahul.xlsx]Sheet5'!$C$33:$C$37</c:f>
              <c:numCache>
                <c:formatCode>General</c:formatCode>
                <c:ptCount val="5"/>
                <c:pt idx="0">
                  <c:v>11</c:v>
                </c:pt>
                <c:pt idx="1">
                  <c:v>17</c:v>
                </c:pt>
                <c:pt idx="2">
                  <c:v>11</c:v>
                </c:pt>
                <c:pt idx="3">
                  <c:v>12</c:v>
                </c:pt>
                <c:pt idx="4">
                  <c:v>19</c:v>
                </c:pt>
              </c:numCache>
            </c:numRef>
          </c:val>
          <c:extLst>
            <c:ext xmlns:c16="http://schemas.microsoft.com/office/drawing/2014/chart" uri="{C3380CC4-5D6E-409C-BE32-E72D297353CC}">
              <c16:uniqueId val="{00000001-0590-43D3-9568-10C9D2FB8720}"/>
            </c:ext>
          </c:extLst>
        </c:ser>
        <c:ser>
          <c:idx val="2"/>
          <c:order val="2"/>
          <c:tx>
            <c:strRef>
              <c:f>'[pivot rahul.xlsx]Sheet5'!$D$32</c:f>
              <c:strCache>
                <c:ptCount val="1"/>
                <c:pt idx="0">
                  <c:v>₹5,000 - ₹10000</c:v>
                </c:pt>
              </c:strCache>
            </c:strRef>
          </c:tx>
          <c:spPr>
            <a:noFill/>
            <a:ln w="25400" cap="flat" cmpd="sng" algn="ctr">
              <a:solidFill>
                <a:schemeClr val="accent3"/>
              </a:solidFill>
              <a:miter lim="800000"/>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rahul.xlsx]Sheet5'!$A$33:$A$37</c:f>
              <c:strCache>
                <c:ptCount val="5"/>
                <c:pt idx="0">
                  <c:v>Less than ₹2,00,000</c:v>
                </c:pt>
                <c:pt idx="1">
                  <c:v>₹2,00,000 - ₹4,00,000</c:v>
                </c:pt>
                <c:pt idx="2">
                  <c:v>₹4,00,000 - ₹6,00,000</c:v>
                </c:pt>
                <c:pt idx="3">
                  <c:v>₹6,00,000 - ₹8,00,000</c:v>
                </c:pt>
                <c:pt idx="4">
                  <c:v>Above ₹8,00,000</c:v>
                </c:pt>
              </c:strCache>
            </c:strRef>
          </c:cat>
          <c:val>
            <c:numRef>
              <c:f>'[pivot rahul.xlsx]Sheet5'!$D$33:$D$37</c:f>
              <c:numCache>
                <c:formatCode>General</c:formatCode>
                <c:ptCount val="5"/>
                <c:pt idx="0">
                  <c:v>6</c:v>
                </c:pt>
                <c:pt idx="1">
                  <c:v>2</c:v>
                </c:pt>
                <c:pt idx="2">
                  <c:v>5</c:v>
                </c:pt>
                <c:pt idx="3">
                  <c:v>6</c:v>
                </c:pt>
                <c:pt idx="4">
                  <c:v>17</c:v>
                </c:pt>
              </c:numCache>
            </c:numRef>
          </c:val>
          <c:extLst>
            <c:ext xmlns:c16="http://schemas.microsoft.com/office/drawing/2014/chart" uri="{C3380CC4-5D6E-409C-BE32-E72D297353CC}">
              <c16:uniqueId val="{00000002-0590-43D3-9568-10C9D2FB8720}"/>
            </c:ext>
          </c:extLst>
        </c:ser>
        <c:ser>
          <c:idx val="3"/>
          <c:order val="3"/>
          <c:tx>
            <c:strRef>
              <c:f>'[pivot rahul.xlsx]Sheet5'!$E$32</c:f>
              <c:strCache>
                <c:ptCount val="1"/>
                <c:pt idx="0">
                  <c:v>Above ₹10000</c:v>
                </c:pt>
              </c:strCache>
            </c:strRef>
          </c:tx>
          <c:spPr>
            <a:noFill/>
            <a:ln w="25400" cap="flat" cmpd="sng" algn="ctr">
              <a:solidFill>
                <a:schemeClr val="accent4"/>
              </a:solidFill>
              <a:miter lim="800000"/>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65000"/>
                        <a:lumOff val="3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'[pivot rahul.xlsx]Sheet5'!$A$33:$A$37</c:f>
              <c:strCache>
                <c:ptCount val="5"/>
                <c:pt idx="0">
                  <c:v>Less than ₹2,00,000</c:v>
                </c:pt>
                <c:pt idx="1">
                  <c:v>₹2,00,000 - ₹4,00,000</c:v>
                </c:pt>
                <c:pt idx="2">
                  <c:v>₹4,00,000 - ₹6,00,000</c:v>
                </c:pt>
                <c:pt idx="3">
                  <c:v>₹6,00,000 - ₹8,00,000</c:v>
                </c:pt>
                <c:pt idx="4">
                  <c:v>Above ₹8,00,000</c:v>
                </c:pt>
              </c:strCache>
            </c:strRef>
          </c:cat>
          <c:val>
            <c:numRef>
              <c:f>'[pivot rahul.xlsx]Sheet5'!$E$33:$E$37</c:f>
              <c:numCache>
                <c:formatCode>General</c:formatCode>
                <c:ptCount val="5"/>
                <c:pt idx="0">
                  <c:v>2</c:v>
                </c:pt>
                <c:pt idx="1">
                  <c:v>1</c:v>
                </c:pt>
                <c:pt idx="2">
                  <c:v>4</c:v>
                </c:pt>
                <c:pt idx="3">
                  <c:v>3</c:v>
                </c:pt>
                <c:pt idx="4">
                  <c:v>6</c:v>
                </c:pt>
              </c:numCache>
            </c:numRef>
          </c:val>
          <c:extLst>
            <c:ext xmlns:c16="http://schemas.microsoft.com/office/drawing/2014/chart" uri="{C3380CC4-5D6E-409C-BE32-E72D297353CC}">
              <c16:uniqueId val="{00000003-0590-43D3-9568-10C9D2FB8720}"/>
            </c:ext>
          </c:extLst>
        </c:ser>
        <c:dLbls>
          <c:dLblPos val="inEnd"/>
          <c:showLegendKey val="0"/>
          <c:showVal val="1"/>
          <c:showCatName val="0"/>
          <c:showSerName val="0"/>
          <c:showPercent val="0"/>
          <c:showBubbleSize val="0"/>
        </c:dLbls>
        <c:gapWidth val="164"/>
        <c:overlap val="-35"/>
        <c:axId val="447030384"/>
        <c:axId val="447030864"/>
      </c:barChart>
      <c:catAx>
        <c:axId val="447030384"/>
        <c:scaling>
          <c:orientation val="minMax"/>
        </c:scaling>
        <c:delete val="0"/>
        <c:axPos val="b"/>
        <c:title>
          <c:tx>
            <c:rich>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r>
                  <a:rPr lang="en-US"/>
                  <a:t>Annual Income</a:t>
                </a:r>
              </a:p>
            </c:rich>
          </c:tx>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447030864"/>
        <c:crosses val="autoZero"/>
        <c:auto val="1"/>
        <c:lblAlgn val="ctr"/>
        <c:lblOffset val="100"/>
        <c:noMultiLvlLbl val="0"/>
      </c:catAx>
      <c:valAx>
        <c:axId val="447030864"/>
        <c:scaling>
          <c:orientation val="minMax"/>
        </c:scaling>
        <c:delete val="0"/>
        <c:axPos val="l"/>
        <c:title>
          <c:tx>
            <c:rich>
              <a:bodyPr rot="-54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r>
                  <a:rPr lang="en-US"/>
                  <a:t>Count</a:t>
                </a:r>
              </a:p>
            </c:rich>
          </c:tx>
          <c:overlay val="0"/>
          <c:spPr>
            <a:noFill/>
            <a:ln>
              <a:noFill/>
            </a:ln>
            <a:effectLst/>
          </c:spPr>
          <c:txPr>
            <a:bodyPr rot="-54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crossAx val="44703038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50000"/>
                  <a:lumOff val="50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a:t>Cost and Time Impact on Health Screening</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'[pivot rahul.xlsx]Sheet5'!$B$47</c:f>
              <c:strCache>
                <c:ptCount val="1"/>
                <c:pt idx="0">
                  <c:v> Impact of Time </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'[pivot rahul.xlsx]Sheet5'!$A$48:$A$52</c:f>
              <c:numCache>
                <c:formatCode>General</c:formatCode>
                <c:ptCount val="5"/>
                <c:pt idx="0">
                  <c:v>1</c:v>
                </c:pt>
                <c:pt idx="1">
                  <c:v>2</c:v>
                </c:pt>
                <c:pt idx="2">
                  <c:v>3</c:v>
                </c:pt>
                <c:pt idx="3">
                  <c:v>4</c:v>
                </c:pt>
                <c:pt idx="4">
                  <c:v>5</c:v>
                </c:pt>
              </c:numCache>
            </c:numRef>
          </c:cat>
          <c:val>
            <c:numRef>
              <c:f>'[pivot rahul.xlsx]Sheet5'!$B$48:$B$52</c:f>
              <c:numCache>
                <c:formatCode>General</c:formatCode>
                <c:ptCount val="5"/>
                <c:pt idx="0">
                  <c:v>44</c:v>
                </c:pt>
                <c:pt idx="1">
                  <c:v>49</c:v>
                </c:pt>
                <c:pt idx="2">
                  <c:v>76</c:v>
                </c:pt>
                <c:pt idx="3">
                  <c:v>52</c:v>
                </c:pt>
                <c:pt idx="4">
                  <c:v>29</c:v>
                </c:pt>
              </c:numCache>
            </c:numRef>
          </c:val>
          <c:extLst>
            <c:ext xmlns:c16="http://schemas.microsoft.com/office/drawing/2014/chart" uri="{C3380CC4-5D6E-409C-BE32-E72D297353CC}">
              <c16:uniqueId val="{00000000-8A9B-48A0-AC9C-977C1D953383}"/>
            </c:ext>
          </c:extLst>
        </c:ser>
        <c:ser>
          <c:idx val="1"/>
          <c:order val="1"/>
          <c:tx>
            <c:strRef>
              <c:f>'[pivot rahul.xlsx]Sheet5'!$C$47</c:f>
              <c:strCache>
                <c:ptCount val="1"/>
                <c:pt idx="0">
                  <c:v> Impact of Cost </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'[pivot rahul.xlsx]Sheet5'!$A$48:$A$52</c:f>
              <c:numCache>
                <c:formatCode>General</c:formatCode>
                <c:ptCount val="5"/>
                <c:pt idx="0">
                  <c:v>1</c:v>
                </c:pt>
                <c:pt idx="1">
                  <c:v>2</c:v>
                </c:pt>
                <c:pt idx="2">
                  <c:v>3</c:v>
                </c:pt>
                <c:pt idx="3">
                  <c:v>4</c:v>
                </c:pt>
                <c:pt idx="4">
                  <c:v>5</c:v>
                </c:pt>
              </c:numCache>
            </c:numRef>
          </c:cat>
          <c:val>
            <c:numRef>
              <c:f>'[pivot rahul.xlsx]Sheet5'!$C$48:$C$52</c:f>
              <c:numCache>
                <c:formatCode>General</c:formatCode>
                <c:ptCount val="5"/>
                <c:pt idx="0">
                  <c:v>37</c:v>
                </c:pt>
                <c:pt idx="1">
                  <c:v>45</c:v>
                </c:pt>
                <c:pt idx="2">
                  <c:v>84</c:v>
                </c:pt>
                <c:pt idx="3">
                  <c:v>50</c:v>
                </c:pt>
                <c:pt idx="4">
                  <c:v>34</c:v>
                </c:pt>
              </c:numCache>
            </c:numRef>
          </c:val>
          <c:extLst>
            <c:ext xmlns:c16="http://schemas.microsoft.com/office/drawing/2014/chart" uri="{C3380CC4-5D6E-409C-BE32-E72D297353CC}">
              <c16:uniqueId val="{00000001-8A9B-48A0-AC9C-977C1D953383}"/>
            </c:ext>
          </c:extLst>
        </c:ser>
        <c:ser>
          <c:idx val="2"/>
          <c:order val="2"/>
          <c:tx>
            <c:strRef>
              <c:f>'[pivot rahul.xlsx]Sheet5'!$D$47</c:f>
              <c:strCache>
                <c:ptCount val="1"/>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'[pivot rahul.xlsx]Sheet5'!$A$48:$A$52</c:f>
              <c:numCache>
                <c:formatCode>General</c:formatCode>
                <c:ptCount val="5"/>
                <c:pt idx="0">
                  <c:v>1</c:v>
                </c:pt>
                <c:pt idx="1">
                  <c:v>2</c:v>
                </c:pt>
                <c:pt idx="2">
                  <c:v>3</c:v>
                </c:pt>
                <c:pt idx="3">
                  <c:v>4</c:v>
                </c:pt>
                <c:pt idx="4">
                  <c:v>5</c:v>
                </c:pt>
              </c:numCache>
            </c:numRef>
          </c:cat>
          <c:val>
            <c:numRef>
              <c:f>'[pivot rahul.xlsx]Sheet5'!$D$48:$D$52</c:f>
              <c:numCache>
                <c:formatCode>General</c:formatCode>
                <c:ptCount val="5"/>
              </c:numCache>
            </c:numRef>
          </c:val>
          <c:extLst>
            <c:ext xmlns:c16="http://schemas.microsoft.com/office/drawing/2014/chart" uri="{C3380CC4-5D6E-409C-BE32-E72D297353CC}">
              <c16:uniqueId val="{00000002-8A9B-48A0-AC9C-977C1D953383}"/>
            </c:ext>
          </c:extLst>
        </c:ser>
        <c:dLbls>
          <c:dLblPos val="inEnd"/>
          <c:showLegendKey val="0"/>
          <c:showVal val="1"/>
          <c:showCatName val="0"/>
          <c:showSerName val="0"/>
          <c:showPercent val="0"/>
          <c:showBubbleSize val="0"/>
        </c:dLbls>
        <c:gapWidth val="219"/>
        <c:overlap val="-27"/>
        <c:axId val="571972496"/>
        <c:axId val="571967216"/>
      </c:barChart>
      <c:catAx>
        <c:axId val="571972496"/>
        <c:scaling>
          <c:orientation val="minMax"/>
        </c:scaling>
        <c:delete val="0"/>
        <c:axPos val="b"/>
        <c:title>
          <c:tx>
            <c:rich>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Ratio</a:t>
                </a:r>
              </a:p>
            </c:rich>
          </c:tx>
          <c:overlay val="0"/>
          <c:spPr>
            <a:noFill/>
            <a:ln>
              <a:noFill/>
            </a:ln>
            <a:effectLst/>
          </c:spPr>
          <c:txPr>
            <a:bodyPr rot="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71967216"/>
        <c:crosses val="autoZero"/>
        <c:auto val="1"/>
        <c:lblAlgn val="ctr"/>
        <c:lblOffset val="100"/>
        <c:noMultiLvlLbl val="0"/>
      </c:catAx>
      <c:valAx>
        <c:axId val="57196721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a:t>Count</a:t>
                </a:r>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571972496"/>
        <c:crosses val="autoZero"/>
        <c:crossBetween val="between"/>
      </c:valAx>
      <c:spPr>
        <a:noFill/>
        <a:ln>
          <a:noFill/>
        </a:ln>
        <a:effectLst/>
      </c:spPr>
    </c:plotArea>
    <c:legend>
      <c:legendPos val="b"/>
      <c:legendEntry>
        <c:idx val="2"/>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2128" b="1" i="0" u="none" strike="noStrike" kern="1200" baseline="0">
                <a:solidFill>
                  <a:schemeClr val="tx1"/>
                </a:solidFill>
                <a:latin typeface="+mn-lt"/>
                <a:ea typeface="+mn-ea"/>
                <a:cs typeface="+mn-cs"/>
              </a:defRPr>
            </a:pPr>
            <a:r>
              <a:rPr lang="en-US" dirty="0"/>
              <a:t> Reasons of people for not doing health checkup</a:t>
            </a:r>
          </a:p>
          <a:p>
            <a:pPr>
              <a:defRPr/>
            </a:pPr>
            <a:endParaRPr lang="en-US" dirty="0"/>
          </a:p>
        </c:rich>
      </c:tx>
      <c:overlay val="0"/>
      <c:spPr>
        <a:noFill/>
        <a:ln>
          <a:noFill/>
        </a:ln>
        <a:effectLst/>
      </c:spPr>
      <c:txPr>
        <a:bodyPr rot="0" spcFirstLastPara="1" vertOverflow="ellipsis" vert="horz" wrap="square" anchor="ctr" anchorCtr="1"/>
        <a:lstStyle/>
        <a:p>
          <a:pPr>
            <a:defRPr sz="2128" b="1" i="0" u="none" strike="noStrike" kern="1200" baseline="0">
              <a:solidFill>
                <a:schemeClr val="tx1"/>
              </a:solidFill>
              <a:latin typeface="+mn-lt"/>
              <a:ea typeface="+mn-ea"/>
              <a:cs typeface="+mn-cs"/>
            </a:defRPr>
          </a:pPr>
          <a:endParaRPr lang="en-US"/>
        </a:p>
      </c:txPr>
    </c:title>
    <c:autoTitleDeleted val="0"/>
    <c:plotArea>
      <c:layout>
        <c:manualLayout>
          <c:layoutTarget val="inner"/>
          <c:xMode val="edge"/>
          <c:yMode val="edge"/>
          <c:x val="0.12414099598411782"/>
          <c:y val="0.2958796296296296"/>
          <c:w val="0.84530353138069436"/>
          <c:h val="0.39866469816272965"/>
        </c:manualLayout>
      </c:layout>
      <c:barChart>
        <c:barDir val="col"/>
        <c:grouping val="clustered"/>
        <c:varyColors val="0"/>
        <c:ser>
          <c:idx val="0"/>
          <c:order val="0"/>
          <c:tx>
            <c:strRef>
              <c:f>'[pivot rahul.xlsx]Sheet5'!$B$61</c:f>
              <c:strCache>
                <c:ptCount val="1"/>
                <c:pt idx="0">
                  <c:v>cost</c:v>
                </c:pt>
              </c:strCache>
            </c:strRef>
          </c:tx>
          <c:spPr>
            <a:gradFill rotWithShape="1">
              <a:gsLst>
                <a:gs pos="0">
                  <a:schemeClr val="accent1">
                    <a:shade val="53000"/>
                    <a:satMod val="103000"/>
                    <a:lumMod val="102000"/>
                    <a:tint val="94000"/>
                  </a:schemeClr>
                </a:gs>
                <a:gs pos="50000">
                  <a:schemeClr val="accent1">
                    <a:shade val="53000"/>
                    <a:satMod val="110000"/>
                    <a:lumMod val="100000"/>
                    <a:shade val="100000"/>
                  </a:schemeClr>
                </a:gs>
                <a:gs pos="100000">
                  <a:schemeClr val="accent1">
                    <a:shade val="53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rahul.xlsx]Sheet5'!$A$62:$A$66</c:f>
              <c:strCache>
                <c:ptCount val="5"/>
                <c:pt idx="0">
                  <c:v>18-25</c:v>
                </c:pt>
                <c:pt idx="1">
                  <c:v>26-35</c:v>
                </c:pt>
                <c:pt idx="2">
                  <c:v>36-45</c:v>
                </c:pt>
                <c:pt idx="3">
                  <c:v>46-55</c:v>
                </c:pt>
                <c:pt idx="4">
                  <c:v>55-80</c:v>
                </c:pt>
              </c:strCache>
            </c:strRef>
          </c:cat>
          <c:val>
            <c:numRef>
              <c:f>'[pivot rahul.xlsx]Sheet5'!$B$62:$B$66</c:f>
              <c:numCache>
                <c:formatCode>General</c:formatCode>
                <c:ptCount val="5"/>
                <c:pt idx="0">
                  <c:v>3</c:v>
                </c:pt>
                <c:pt idx="1">
                  <c:v>4</c:v>
                </c:pt>
                <c:pt idx="2">
                  <c:v>5</c:v>
                </c:pt>
                <c:pt idx="3">
                  <c:v>8</c:v>
                </c:pt>
                <c:pt idx="4">
                  <c:v>2</c:v>
                </c:pt>
              </c:numCache>
            </c:numRef>
          </c:val>
          <c:extLst>
            <c:ext xmlns:c16="http://schemas.microsoft.com/office/drawing/2014/chart" uri="{C3380CC4-5D6E-409C-BE32-E72D297353CC}">
              <c16:uniqueId val="{00000000-6A04-468C-BE1F-BFE491F9F48E}"/>
            </c:ext>
          </c:extLst>
        </c:ser>
        <c:ser>
          <c:idx val="1"/>
          <c:order val="1"/>
          <c:tx>
            <c:strRef>
              <c:f>'[pivot rahul.xlsx]Sheet5'!$C$61</c:f>
              <c:strCache>
                <c:ptCount val="1"/>
                <c:pt idx="0">
                  <c:v>time</c:v>
                </c:pt>
              </c:strCache>
            </c:strRef>
          </c:tx>
          <c:spPr>
            <a:gradFill rotWithShape="1">
              <a:gsLst>
                <a:gs pos="0">
                  <a:schemeClr val="accent1">
                    <a:shade val="76000"/>
                    <a:satMod val="103000"/>
                    <a:lumMod val="102000"/>
                    <a:tint val="94000"/>
                  </a:schemeClr>
                </a:gs>
                <a:gs pos="50000">
                  <a:schemeClr val="accent1">
                    <a:shade val="76000"/>
                    <a:satMod val="110000"/>
                    <a:lumMod val="100000"/>
                    <a:shade val="100000"/>
                  </a:schemeClr>
                </a:gs>
                <a:gs pos="100000">
                  <a:schemeClr val="accent1">
                    <a:shade val="76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rahul.xlsx]Sheet5'!$A$62:$A$66</c:f>
              <c:strCache>
                <c:ptCount val="5"/>
                <c:pt idx="0">
                  <c:v>18-25</c:v>
                </c:pt>
                <c:pt idx="1">
                  <c:v>26-35</c:v>
                </c:pt>
                <c:pt idx="2">
                  <c:v>36-45</c:v>
                </c:pt>
                <c:pt idx="3">
                  <c:v>46-55</c:v>
                </c:pt>
                <c:pt idx="4">
                  <c:v>55-80</c:v>
                </c:pt>
              </c:strCache>
            </c:strRef>
          </c:cat>
          <c:val>
            <c:numRef>
              <c:f>'[pivot rahul.xlsx]Sheet5'!$C$62:$C$66</c:f>
              <c:numCache>
                <c:formatCode>General</c:formatCode>
                <c:ptCount val="5"/>
                <c:pt idx="0">
                  <c:v>18</c:v>
                </c:pt>
                <c:pt idx="1">
                  <c:v>17</c:v>
                </c:pt>
                <c:pt idx="2">
                  <c:v>9</c:v>
                </c:pt>
                <c:pt idx="3">
                  <c:v>9</c:v>
                </c:pt>
                <c:pt idx="4">
                  <c:v>11</c:v>
                </c:pt>
              </c:numCache>
            </c:numRef>
          </c:val>
          <c:extLst>
            <c:ext xmlns:c16="http://schemas.microsoft.com/office/drawing/2014/chart" uri="{C3380CC4-5D6E-409C-BE32-E72D297353CC}">
              <c16:uniqueId val="{00000001-6A04-468C-BE1F-BFE491F9F48E}"/>
            </c:ext>
          </c:extLst>
        </c:ser>
        <c:ser>
          <c:idx val="2"/>
          <c:order val="2"/>
          <c:tx>
            <c:strRef>
              <c:f>'[pivot rahul.xlsx]Sheet5'!$D$61</c:f>
              <c:strCache>
                <c:ptCount val="1"/>
                <c:pt idx="0">
                  <c:v>unawareness</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rahul.xlsx]Sheet5'!$A$62:$A$66</c:f>
              <c:strCache>
                <c:ptCount val="5"/>
                <c:pt idx="0">
                  <c:v>18-25</c:v>
                </c:pt>
                <c:pt idx="1">
                  <c:v>26-35</c:v>
                </c:pt>
                <c:pt idx="2">
                  <c:v>36-45</c:v>
                </c:pt>
                <c:pt idx="3">
                  <c:v>46-55</c:v>
                </c:pt>
                <c:pt idx="4">
                  <c:v>55-80</c:v>
                </c:pt>
              </c:strCache>
            </c:strRef>
          </c:cat>
          <c:val>
            <c:numRef>
              <c:f>'[pivot rahul.xlsx]Sheet5'!$D$62:$D$66</c:f>
              <c:numCache>
                <c:formatCode>General</c:formatCode>
                <c:ptCount val="5"/>
                <c:pt idx="0">
                  <c:v>12</c:v>
                </c:pt>
                <c:pt idx="1">
                  <c:v>13</c:v>
                </c:pt>
                <c:pt idx="2">
                  <c:v>7</c:v>
                </c:pt>
                <c:pt idx="3">
                  <c:v>3</c:v>
                </c:pt>
                <c:pt idx="4">
                  <c:v>21</c:v>
                </c:pt>
              </c:numCache>
            </c:numRef>
          </c:val>
          <c:extLst>
            <c:ext xmlns:c16="http://schemas.microsoft.com/office/drawing/2014/chart" uri="{C3380CC4-5D6E-409C-BE32-E72D297353CC}">
              <c16:uniqueId val="{00000002-6A04-468C-BE1F-BFE491F9F48E}"/>
            </c:ext>
          </c:extLst>
        </c:ser>
        <c:ser>
          <c:idx val="3"/>
          <c:order val="3"/>
          <c:tx>
            <c:strRef>
              <c:f>'[pivot rahul.xlsx]Sheet5'!$E$61</c:f>
              <c:strCache>
                <c:ptCount val="1"/>
                <c:pt idx="0">
                  <c:v>fear</c:v>
                </c:pt>
              </c:strCache>
            </c:strRef>
          </c:tx>
          <c:spPr>
            <a:gradFill rotWithShape="1">
              <a:gsLst>
                <a:gs pos="0">
                  <a:schemeClr val="accent1">
                    <a:tint val="77000"/>
                    <a:satMod val="103000"/>
                    <a:lumMod val="102000"/>
                    <a:tint val="94000"/>
                  </a:schemeClr>
                </a:gs>
                <a:gs pos="50000">
                  <a:schemeClr val="accent1">
                    <a:tint val="77000"/>
                    <a:satMod val="110000"/>
                    <a:lumMod val="100000"/>
                    <a:shade val="100000"/>
                  </a:schemeClr>
                </a:gs>
                <a:gs pos="100000">
                  <a:schemeClr val="accent1">
                    <a:tint val="77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rahul.xlsx]Sheet5'!$A$62:$A$66</c:f>
              <c:strCache>
                <c:ptCount val="5"/>
                <c:pt idx="0">
                  <c:v>18-25</c:v>
                </c:pt>
                <c:pt idx="1">
                  <c:v>26-35</c:v>
                </c:pt>
                <c:pt idx="2">
                  <c:v>36-45</c:v>
                </c:pt>
                <c:pt idx="3">
                  <c:v>46-55</c:v>
                </c:pt>
                <c:pt idx="4">
                  <c:v>55-80</c:v>
                </c:pt>
              </c:strCache>
            </c:strRef>
          </c:cat>
          <c:val>
            <c:numRef>
              <c:f>'[pivot rahul.xlsx]Sheet5'!$E$62:$E$66</c:f>
              <c:numCache>
                <c:formatCode>General</c:formatCode>
                <c:ptCount val="5"/>
                <c:pt idx="0">
                  <c:v>2</c:v>
                </c:pt>
                <c:pt idx="1">
                  <c:v>7</c:v>
                </c:pt>
                <c:pt idx="2">
                  <c:v>6</c:v>
                </c:pt>
                <c:pt idx="3">
                  <c:v>4</c:v>
                </c:pt>
                <c:pt idx="4">
                  <c:v>9</c:v>
                </c:pt>
              </c:numCache>
            </c:numRef>
          </c:val>
          <c:extLst>
            <c:ext xmlns:c16="http://schemas.microsoft.com/office/drawing/2014/chart" uri="{C3380CC4-5D6E-409C-BE32-E72D297353CC}">
              <c16:uniqueId val="{00000003-6A04-468C-BE1F-BFE491F9F48E}"/>
            </c:ext>
          </c:extLst>
        </c:ser>
        <c:ser>
          <c:idx val="4"/>
          <c:order val="4"/>
          <c:tx>
            <c:strRef>
              <c:f>'[pivot rahul.xlsx]Sheet5'!$F$61</c:f>
              <c:strCache>
                <c:ptCount val="1"/>
                <c:pt idx="0">
                  <c:v>no need</c:v>
                </c:pt>
              </c:strCache>
            </c:strRef>
          </c:tx>
          <c:spPr>
            <a:gradFill rotWithShape="1">
              <a:gsLst>
                <a:gs pos="0">
                  <a:schemeClr val="accent1">
                    <a:tint val="54000"/>
                    <a:satMod val="103000"/>
                    <a:lumMod val="102000"/>
                    <a:tint val="94000"/>
                  </a:schemeClr>
                </a:gs>
                <a:gs pos="50000">
                  <a:schemeClr val="accent1">
                    <a:tint val="54000"/>
                    <a:satMod val="110000"/>
                    <a:lumMod val="100000"/>
                    <a:shade val="100000"/>
                  </a:schemeClr>
                </a:gs>
                <a:gs pos="100000">
                  <a:schemeClr val="accent1">
                    <a:tint val="54000"/>
                    <a:lumMod val="99000"/>
                    <a:satMod val="120000"/>
                    <a:shade val="78000"/>
                  </a:schemeClr>
                </a:gs>
              </a:gsLst>
              <a:lin ang="5400000" scaled="0"/>
            </a:gradFill>
            <a:ln>
              <a:noFill/>
            </a:ln>
            <a:effectLst/>
          </c:spPr>
          <c:invertIfNegative val="0"/>
          <c:dLbls>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'[pivot rahul.xlsx]Sheet5'!$A$62:$A$66</c:f>
              <c:strCache>
                <c:ptCount val="5"/>
                <c:pt idx="0">
                  <c:v>18-25</c:v>
                </c:pt>
                <c:pt idx="1">
                  <c:v>26-35</c:v>
                </c:pt>
                <c:pt idx="2">
                  <c:v>36-45</c:v>
                </c:pt>
                <c:pt idx="3">
                  <c:v>46-55</c:v>
                </c:pt>
                <c:pt idx="4">
                  <c:v>55-80</c:v>
                </c:pt>
              </c:strCache>
            </c:strRef>
          </c:cat>
          <c:val>
            <c:numRef>
              <c:f>'[pivot rahul.xlsx]Sheet5'!$F$62:$F$66</c:f>
              <c:numCache>
                <c:formatCode>General</c:formatCode>
                <c:ptCount val="5"/>
                <c:pt idx="0">
                  <c:v>4</c:v>
                </c:pt>
                <c:pt idx="1">
                  <c:v>4</c:v>
                </c:pt>
                <c:pt idx="2">
                  <c:v>3</c:v>
                </c:pt>
                <c:pt idx="3">
                  <c:v>5</c:v>
                </c:pt>
                <c:pt idx="4">
                  <c:v>0</c:v>
                </c:pt>
              </c:numCache>
            </c:numRef>
          </c:val>
          <c:extLst>
            <c:ext xmlns:c16="http://schemas.microsoft.com/office/drawing/2014/chart" uri="{C3380CC4-5D6E-409C-BE32-E72D297353CC}">
              <c16:uniqueId val="{00000004-6A04-468C-BE1F-BFE491F9F48E}"/>
            </c:ext>
          </c:extLst>
        </c:ser>
        <c:dLbls>
          <c:dLblPos val="inEnd"/>
          <c:showLegendKey val="0"/>
          <c:showVal val="1"/>
          <c:showCatName val="0"/>
          <c:showSerName val="0"/>
          <c:showPercent val="0"/>
          <c:showBubbleSize val="0"/>
        </c:dLbls>
        <c:gapWidth val="100"/>
        <c:overlap val="-24"/>
        <c:axId val="590057280"/>
        <c:axId val="590045760"/>
      </c:barChart>
      <c:catAx>
        <c:axId val="590057280"/>
        <c:scaling>
          <c:orientation val="minMax"/>
        </c:scaling>
        <c:delete val="0"/>
        <c:axPos val="b"/>
        <c:title>
          <c:tx>
            <c:rich>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r>
                  <a:rPr lang="en-US"/>
                  <a:t>Age Groups</a:t>
                </a:r>
              </a:p>
            </c:rich>
          </c:tx>
          <c:overlay val="0"/>
          <c:spPr>
            <a:noFill/>
            <a:ln>
              <a:noFill/>
            </a:ln>
            <a:effectLst/>
          </c:spPr>
          <c:txPr>
            <a:bodyPr rot="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590045760"/>
        <c:crosses val="autoZero"/>
        <c:auto val="1"/>
        <c:lblAlgn val="ctr"/>
        <c:lblOffset val="100"/>
        <c:noMultiLvlLbl val="0"/>
      </c:catAx>
      <c:valAx>
        <c:axId val="590045760"/>
        <c:scaling>
          <c:orientation val="minMax"/>
        </c:scaling>
        <c:delete val="0"/>
        <c:axPos val="l"/>
        <c:majorGridlines>
          <c:spPr>
            <a:ln w="9525" cap="flat" cmpd="sng" algn="ctr">
              <a:solidFill>
                <a:schemeClr val="tx2">
                  <a:lumMod val="15000"/>
                  <a:lumOff val="85000"/>
                </a:schemeClr>
              </a:solidFill>
              <a:round/>
            </a:ln>
            <a:effectLst/>
          </c:spPr>
        </c:majorGridlines>
        <c:title>
          <c:tx>
            <c:rich>
              <a:bodyPr rot="-5400000" spcFirstLastPara="1" vertOverflow="ellipsis" vert="horz" wrap="square" anchor="ctr" anchorCtr="1"/>
              <a:lstStyle/>
              <a:p>
                <a:pPr>
                  <a:defRPr sz="1197" b="1" i="0" u="none" strike="noStrike" kern="1200" baseline="0">
                    <a:solidFill>
                      <a:schemeClr val="tx1"/>
                    </a:solidFill>
                    <a:latin typeface="+mn-lt"/>
                    <a:ea typeface="+mn-ea"/>
                    <a:cs typeface="+mn-cs"/>
                  </a:defRPr>
                </a:pPr>
                <a:r>
                  <a:rPr lang="en-US"/>
                  <a:t>Frequency</a:t>
                </a:r>
              </a:p>
            </c:rich>
          </c:tx>
          <c:overlay val="0"/>
          <c:spPr>
            <a:noFill/>
            <a:ln>
              <a:noFill/>
            </a:ln>
            <a:effectLst/>
          </c:spPr>
          <c:txPr>
            <a:bodyPr rot="-54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crossAx val="59005728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US"/>
        </a:p>
      </c:txPr>
    </c:legend>
    <c:plotVisOnly val="1"/>
    <c:dispBlanksAs val="gap"/>
    <c:showDLblsOverMax val="0"/>
  </c:chart>
  <c:spPr>
    <a:noFill/>
    <a:ln>
      <a:noFill/>
    </a:ln>
    <a:effectLst/>
  </c:spPr>
  <c:txPr>
    <a:bodyPr/>
    <a:lstStyle/>
    <a:p>
      <a:pPr>
        <a:defRPr>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11">
  <cs:axisTitle>
    <cs:lnRef idx="0"/>
    <cs:fillRef idx="0"/>
    <cs:effectRef idx="0"/>
    <cs:fontRef idx="minor">
      <a:schemeClr val="tx1">
        <a:lumMod val="50000"/>
        <a:lumOff val="50000"/>
      </a:schemeClr>
    </cs:fontRef>
    <cs:defRPr sz="1197" kern="1200"/>
  </cs:axisTitle>
  <cs:categoryAxis>
    <cs:lnRef idx="0"/>
    <cs:fillRef idx="0"/>
    <cs:effectRef idx="0"/>
    <cs:fontRef idx="minor">
      <a:schemeClr val="tx1">
        <a:lumMod val="50000"/>
        <a:lumOff val="50000"/>
      </a:schemeClr>
    </cs:fontRef>
    <cs:defRPr sz="1197"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65000"/>
        <a:lumOff val="35000"/>
      </a:schemeClr>
    </cs:fontRef>
    <cs:defRPr sz="1197" kern="1200"/>
  </cs:dataLabel>
  <cs:dataLabelCallout>
    <cs:lnRef idx="0"/>
    <cs:fillRef idx="0"/>
    <cs:effectRef idx="0"/>
    <cs:fontRef idx="minor">
      <a:schemeClr val="bg1"/>
    </cs:fontRef>
    <cs:spPr>
      <a:solidFill>
        <a:schemeClr val="tx1">
          <a:lumMod val="35000"/>
          <a:lumOff val="65000"/>
        </a:schemeClr>
      </a:solidFill>
    </cs:spPr>
    <cs:defRPr sz="1197"/>
    <cs:bodyPr rot="0" spcFirstLastPara="1" vertOverflow="clip" horzOverflow="clip" vert="horz" wrap="square" lIns="36576" tIns="18288" rIns="36576" bIns="18288" anchor="ctr" anchorCtr="1">
      <a:spAutoFit/>
    </cs:bodyPr>
  </cs:dataLabelCallout>
  <cs:dataPoint>
    <cs:lnRef idx="0">
      <cs:styleClr val="auto"/>
    </cs:lnRef>
    <cs:fillRef idx="0"/>
    <cs:effectRef idx="0"/>
    <cs:fontRef idx="minor">
      <a:schemeClr val="dk1"/>
    </cs:fontRef>
    <cs:spPr>
      <a:noFill/>
      <a:ln w="25400" cap="flat" cmpd="sng" algn="ctr">
        <a:solidFill>
          <a:schemeClr val="phClr"/>
        </a:solidFill>
        <a:miter lim="800000"/>
      </a:ln>
    </cs:spPr>
  </cs:dataPoint>
  <cs:dataPoint3D>
    <cs:lnRef idx="0">
      <cs:styleClr val="auto"/>
    </cs:lnRef>
    <cs:fillRef idx="0">
      <cs:styleClr val="auto"/>
    </cs:fillRef>
    <cs:effectRef idx="0"/>
    <cs:fontRef idx="minor">
      <a:schemeClr val="dk1"/>
    </cs:fontRef>
    <cs:spPr>
      <a:ln w="19050" cap="flat" cmpd="sng" algn="ctr">
        <a:solidFill>
          <a:schemeClr val="phClr"/>
        </a:solidFill>
        <a:miter lim="800000"/>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ln w="19050" cap="rnd">
        <a:solidFill>
          <a:schemeClr val="phClr"/>
        </a:solidFill>
        <a:round/>
      </a:ln>
    </cs:spPr>
  </cs:dataPointMarker>
  <cs:dataPointMarkerLayout symbol="circle" size="6"/>
  <cs:dataPointWireframe>
    <cs:lnRef idx="0">
      <cs:styleClr val="auto"/>
    </cs:lnRef>
    <cs:fillRef idx="1"/>
    <cs:effectRef idx="0"/>
    <cs:fontRef idx="minor">
      <a:schemeClr val="tx1"/>
    </cs:fontRef>
    <cs:spPr>
      <a:ln w="9525">
        <a:solidFill>
          <a:schemeClr val="phClr"/>
        </a:solidFill>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tx1">
            <a:lumMod val="50000"/>
            <a:lumOff val="50000"/>
          </a:schemeClr>
        </a:solidFill>
        <a:round/>
      </a:ln>
    </cs:spPr>
  </cs:downBar>
  <cs:dropLine>
    <cs:lnRef idx="0"/>
    <cs:fillRef idx="0"/>
    <cs:effectRef idx="0"/>
    <cs:fontRef idx="minor">
      <a:schemeClr val="dk1"/>
    </cs:fontRef>
    <cs:spPr>
      <a:ln w="9525" cap="flat" cmpd="sng" algn="ctr">
        <a:solidFill>
          <a:schemeClr val="tx1">
            <a:lumMod val="35000"/>
            <a:lumOff val="65000"/>
          </a:schemeClr>
        </a:solidFill>
        <a:round/>
      </a:ln>
    </cs:spPr>
  </cs:dropLine>
  <cs:errorBar>
    <cs:lnRef idx="0"/>
    <cs:fillRef idx="0"/>
    <cs:effectRef idx="0"/>
    <cs:fontRef idx="minor">
      <a:schemeClr val="dk1"/>
    </cs:fontRef>
    <cs:spPr>
      <a:ln w="9525" cap="flat" cmpd="sng" algn="ctr">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a:solidFill>
          <a:schemeClr val="tx1">
            <a:lumMod val="15000"/>
            <a:lumOff val="85000"/>
          </a:schemeClr>
        </a:solidFill>
      </a:ln>
    </cs:spPr>
  </cs:gridlineMajor>
  <cs:gridlineMinor>
    <cs:lnRef idx="0"/>
    <cs:fillRef idx="0"/>
    <cs:effectRef idx="0"/>
    <cs:fontRef idx="minor">
      <a:schemeClr val="dk1"/>
    </cs:fontRef>
    <cs:spPr>
      <a:ln w="9525">
        <a:solidFill>
          <a:schemeClr val="tx1">
            <a:lumMod val="5000"/>
            <a:lumOff val="95000"/>
          </a:schemeClr>
        </a:solidFill>
      </a:ln>
    </cs:spPr>
  </cs:gridlineMinor>
  <cs:hiLoLine>
    <cs:lnRef idx="0"/>
    <cs:fillRef idx="0"/>
    <cs:effectRef idx="0"/>
    <cs:fontRef idx="minor">
      <a:schemeClr val="dk1"/>
    </cs:fontRef>
    <cs:spPr>
      <a:ln w="9525" cap="flat" cmpd="sng" algn="ctr">
        <a:solidFill>
          <a:schemeClr val="tx1">
            <a:lumMod val="35000"/>
            <a:lumOff val="65000"/>
          </a:schemeClr>
        </a:solidFill>
        <a:round/>
      </a:ln>
    </cs:spPr>
  </cs:hiLoLine>
  <cs:leaderLine>
    <cs:lnRef idx="0"/>
    <cs:fillRef idx="0"/>
    <cs:effectRef idx="0"/>
    <cs:fontRef idx="minor">
      <a:schemeClr val="dk1"/>
    </cs:fontRef>
    <cs:spPr>
      <a:ln w="9525" cap="flat" cmpd="sng" algn="ctr">
        <a:solidFill>
          <a:schemeClr val="tx1">
            <a:lumMod val="35000"/>
            <a:lumOff val="65000"/>
          </a:schemeClr>
        </a:solidFill>
        <a:round/>
      </a:ln>
    </cs:spPr>
  </cs:leaderLine>
  <cs:legend>
    <cs:lnRef idx="0"/>
    <cs:fillRef idx="0"/>
    <cs:effectRef idx="0"/>
    <cs:fontRef idx="minor">
      <a:schemeClr val="tx1">
        <a:lumMod val="50000"/>
        <a:lumOff val="50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defRPr sz="1197" kern="1200"/>
  </cs:seriesAxis>
  <cs:seriesLine>
    <cs:lnRef idx="0"/>
    <cs:fillRef idx="0"/>
    <cs:effectRef idx="0"/>
    <cs:fontRef idx="minor">
      <a:schemeClr val="dk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200" b="0" kern="1200" cap="none" spc="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50000"/>
        <a:lumOff val="50000"/>
      </a:schemeClr>
    </cs:fontRef>
    <cs:defRPr sz="1197" kern="1200"/>
  </cs:trendlineLabel>
  <cs:upBar>
    <cs:lnRef idx="0"/>
    <cs:fillRef idx="0"/>
    <cs:effectRef idx="0"/>
    <cs:fontRef idx="minor">
      <a:schemeClr val="dk1"/>
    </cs:fontRef>
    <cs:spPr>
      <a:solidFill>
        <a:schemeClr val="lt1"/>
      </a:solidFill>
      <a:ln w="9525" cap="flat" cmpd="sng" algn="ctr">
        <a:solidFill>
          <a:schemeClr val="tx1">
            <a:lumMod val="50000"/>
            <a:lumOff val="50000"/>
          </a:schemeClr>
        </a:solidFill>
        <a:round/>
      </a:ln>
    </cs:spPr>
  </cs:upBar>
  <cs:valueAxis>
    <cs:lnRef idx="0"/>
    <cs:fillRef idx="0"/>
    <cs:effectRef idx="0"/>
    <cs:fontRef idx="minor">
      <a:schemeClr val="tx1">
        <a:lumMod val="50000"/>
        <a:lumOff val="50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0470CD-B456-498B-AAD1-242A3A5A3CF8}"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9DCAC81E-B5BA-4613-A1C6-B0F3134468BD}">
      <dgm:prSet/>
      <dgm:spPr/>
      <dgm:t>
        <a:bodyPr/>
        <a:lstStyle/>
        <a:p>
          <a:r>
            <a:rPr lang="en-US" b="1" dirty="0"/>
            <a:t>Non-Communicable Diseases (NCDs)</a:t>
          </a:r>
          <a:r>
            <a:rPr lang="en-US" dirty="0"/>
            <a:t> account for nearly 63% of all deaths in India as of 2023, including cardiovascular diseases (27%), cancers (9%), and chronic respiratory diseases (11%).</a:t>
          </a:r>
        </a:p>
      </dgm:t>
    </dgm:pt>
    <dgm:pt modelId="{F262ABCC-C89B-4F3A-837C-928298053555}" type="parTrans" cxnId="{9DB04F35-BAE8-469E-926A-CFBEF6E9D8D6}">
      <dgm:prSet/>
      <dgm:spPr/>
      <dgm:t>
        <a:bodyPr/>
        <a:lstStyle/>
        <a:p>
          <a:endParaRPr lang="en-US"/>
        </a:p>
      </dgm:t>
    </dgm:pt>
    <dgm:pt modelId="{DD634767-36D9-46BB-B219-A890A5EF9F8A}" type="sibTrans" cxnId="{9DB04F35-BAE8-469E-926A-CFBEF6E9D8D6}">
      <dgm:prSet phldrT="01"/>
      <dgm:spPr/>
      <dgm:t>
        <a:bodyPr/>
        <a:lstStyle/>
        <a:p>
          <a:r>
            <a:rPr lang="en-US"/>
            <a:t>01</a:t>
          </a:r>
        </a:p>
      </dgm:t>
    </dgm:pt>
    <dgm:pt modelId="{7BF55EFD-C5EC-4940-A757-B843968E1B77}">
      <dgm:prSet/>
      <dgm:spPr/>
      <dgm:t>
        <a:bodyPr/>
        <a:lstStyle/>
        <a:p>
          <a:r>
            <a:rPr lang="en-US" dirty="0"/>
            <a:t>Around 25–30% of deaths in India are linked to conditions that could have been mitigated with regular health check-ups.</a:t>
          </a:r>
        </a:p>
      </dgm:t>
    </dgm:pt>
    <dgm:pt modelId="{116C1AC7-E524-46A8-AA91-F2106FD5CC68}" type="parTrans" cxnId="{C5B95DF2-82D0-45E4-958C-E54EA76D95CA}">
      <dgm:prSet/>
      <dgm:spPr/>
      <dgm:t>
        <a:bodyPr/>
        <a:lstStyle/>
        <a:p>
          <a:endParaRPr lang="en-US"/>
        </a:p>
      </dgm:t>
    </dgm:pt>
    <dgm:pt modelId="{B9A85DEE-FC68-4864-8F91-0AFE0827C0A2}" type="sibTrans" cxnId="{C5B95DF2-82D0-45E4-958C-E54EA76D95CA}">
      <dgm:prSet phldrT="02"/>
      <dgm:spPr/>
      <dgm:t>
        <a:bodyPr/>
        <a:lstStyle/>
        <a:p>
          <a:r>
            <a:rPr lang="en-US"/>
            <a:t>02</a:t>
          </a:r>
        </a:p>
      </dgm:t>
    </dgm:pt>
    <dgm:pt modelId="{0BAFF845-6B7D-428B-A375-7B6A36EDAA79}">
      <dgm:prSet/>
      <dgm:spPr/>
      <dgm:t>
        <a:bodyPr/>
        <a:lstStyle/>
        <a:p>
          <a:r>
            <a:rPr lang="en-US" dirty="0"/>
            <a:t>As of 2023, about 55% of healthcare expenses in India are out-of-pocket, making preventive check-ups unaffordable for many.</a:t>
          </a:r>
        </a:p>
      </dgm:t>
    </dgm:pt>
    <dgm:pt modelId="{B6F22443-844A-4D20-A546-2742618E679E}" type="parTrans" cxnId="{58531A95-EFA0-4CAB-8879-B57160A6EFA1}">
      <dgm:prSet/>
      <dgm:spPr/>
      <dgm:t>
        <a:bodyPr/>
        <a:lstStyle/>
        <a:p>
          <a:endParaRPr lang="en-US"/>
        </a:p>
      </dgm:t>
    </dgm:pt>
    <dgm:pt modelId="{777A94C6-DF55-4FAC-A41B-70F4C195D087}" type="sibTrans" cxnId="{58531A95-EFA0-4CAB-8879-B57160A6EFA1}">
      <dgm:prSet phldrT="03"/>
      <dgm:spPr/>
      <dgm:t>
        <a:bodyPr/>
        <a:lstStyle/>
        <a:p>
          <a:r>
            <a:rPr lang="en-US"/>
            <a:t>03</a:t>
          </a:r>
        </a:p>
      </dgm:t>
    </dgm:pt>
    <dgm:pt modelId="{D49C8C63-20E4-4512-8CBE-F425DA689FC4}" type="pres">
      <dgm:prSet presAssocID="{0B0470CD-B456-498B-AAD1-242A3A5A3CF8}" presName="Name0" presStyleCnt="0">
        <dgm:presLayoutVars>
          <dgm:animLvl val="lvl"/>
          <dgm:resizeHandles val="exact"/>
        </dgm:presLayoutVars>
      </dgm:prSet>
      <dgm:spPr/>
    </dgm:pt>
    <dgm:pt modelId="{2D65D1B1-1F2F-47A0-92C5-46C8C3DC4CD8}" type="pres">
      <dgm:prSet presAssocID="{9DCAC81E-B5BA-4613-A1C6-B0F3134468BD}" presName="compositeNode" presStyleCnt="0">
        <dgm:presLayoutVars>
          <dgm:bulletEnabled val="1"/>
        </dgm:presLayoutVars>
      </dgm:prSet>
      <dgm:spPr/>
    </dgm:pt>
    <dgm:pt modelId="{71AC1D23-843B-4AB0-9883-FEA68F5EF6D1}" type="pres">
      <dgm:prSet presAssocID="{9DCAC81E-B5BA-4613-A1C6-B0F3134468BD}" presName="bgRect" presStyleLbl="alignNode1" presStyleIdx="0" presStyleCnt="3"/>
      <dgm:spPr/>
    </dgm:pt>
    <dgm:pt modelId="{2F0ABB35-50CC-4F5B-AB4A-8FE67E32F90C}" type="pres">
      <dgm:prSet presAssocID="{DD634767-36D9-46BB-B219-A890A5EF9F8A}" presName="sibTransNodeRect" presStyleLbl="alignNode1" presStyleIdx="0" presStyleCnt="3">
        <dgm:presLayoutVars>
          <dgm:chMax val="0"/>
          <dgm:bulletEnabled val="1"/>
        </dgm:presLayoutVars>
      </dgm:prSet>
      <dgm:spPr/>
    </dgm:pt>
    <dgm:pt modelId="{0C5BD820-6779-4A0D-B264-AA1DE327B82D}" type="pres">
      <dgm:prSet presAssocID="{9DCAC81E-B5BA-4613-A1C6-B0F3134468BD}" presName="nodeRect" presStyleLbl="alignNode1" presStyleIdx="0" presStyleCnt="3">
        <dgm:presLayoutVars>
          <dgm:bulletEnabled val="1"/>
        </dgm:presLayoutVars>
      </dgm:prSet>
      <dgm:spPr/>
    </dgm:pt>
    <dgm:pt modelId="{EEEC7B15-7029-456D-9FE5-EA415363B216}" type="pres">
      <dgm:prSet presAssocID="{DD634767-36D9-46BB-B219-A890A5EF9F8A}" presName="sibTrans" presStyleCnt="0"/>
      <dgm:spPr/>
    </dgm:pt>
    <dgm:pt modelId="{4ED4F514-F82B-407D-8356-C66CCC449CEF}" type="pres">
      <dgm:prSet presAssocID="{7BF55EFD-C5EC-4940-A757-B843968E1B77}" presName="compositeNode" presStyleCnt="0">
        <dgm:presLayoutVars>
          <dgm:bulletEnabled val="1"/>
        </dgm:presLayoutVars>
      </dgm:prSet>
      <dgm:spPr/>
    </dgm:pt>
    <dgm:pt modelId="{5BFCCC1B-B973-4CEB-B0E2-00C09A2F866F}" type="pres">
      <dgm:prSet presAssocID="{7BF55EFD-C5EC-4940-A757-B843968E1B77}" presName="bgRect" presStyleLbl="alignNode1" presStyleIdx="1" presStyleCnt="3"/>
      <dgm:spPr/>
    </dgm:pt>
    <dgm:pt modelId="{A01500D9-6939-4F8B-AD57-054FB847A041}" type="pres">
      <dgm:prSet presAssocID="{B9A85DEE-FC68-4864-8F91-0AFE0827C0A2}" presName="sibTransNodeRect" presStyleLbl="alignNode1" presStyleIdx="1" presStyleCnt="3">
        <dgm:presLayoutVars>
          <dgm:chMax val="0"/>
          <dgm:bulletEnabled val="1"/>
        </dgm:presLayoutVars>
      </dgm:prSet>
      <dgm:spPr/>
    </dgm:pt>
    <dgm:pt modelId="{E5EF15AB-3732-4258-A97F-1CBE2DA81BB6}" type="pres">
      <dgm:prSet presAssocID="{7BF55EFD-C5EC-4940-A757-B843968E1B77}" presName="nodeRect" presStyleLbl="alignNode1" presStyleIdx="1" presStyleCnt="3">
        <dgm:presLayoutVars>
          <dgm:bulletEnabled val="1"/>
        </dgm:presLayoutVars>
      </dgm:prSet>
      <dgm:spPr/>
    </dgm:pt>
    <dgm:pt modelId="{56481A83-ADF0-4395-8854-BF5164F55F49}" type="pres">
      <dgm:prSet presAssocID="{B9A85DEE-FC68-4864-8F91-0AFE0827C0A2}" presName="sibTrans" presStyleCnt="0"/>
      <dgm:spPr/>
    </dgm:pt>
    <dgm:pt modelId="{68177A38-E5E5-4C20-86EA-9658F3D12457}" type="pres">
      <dgm:prSet presAssocID="{0BAFF845-6B7D-428B-A375-7B6A36EDAA79}" presName="compositeNode" presStyleCnt="0">
        <dgm:presLayoutVars>
          <dgm:bulletEnabled val="1"/>
        </dgm:presLayoutVars>
      </dgm:prSet>
      <dgm:spPr/>
    </dgm:pt>
    <dgm:pt modelId="{783165F0-AB7F-4B9A-85DF-1A3B4235E263}" type="pres">
      <dgm:prSet presAssocID="{0BAFF845-6B7D-428B-A375-7B6A36EDAA79}" presName="bgRect" presStyleLbl="alignNode1" presStyleIdx="2" presStyleCnt="3"/>
      <dgm:spPr/>
    </dgm:pt>
    <dgm:pt modelId="{543C9F99-F6C5-4886-9696-678714E9C802}" type="pres">
      <dgm:prSet presAssocID="{777A94C6-DF55-4FAC-A41B-70F4C195D087}" presName="sibTransNodeRect" presStyleLbl="alignNode1" presStyleIdx="2" presStyleCnt="3">
        <dgm:presLayoutVars>
          <dgm:chMax val="0"/>
          <dgm:bulletEnabled val="1"/>
        </dgm:presLayoutVars>
      </dgm:prSet>
      <dgm:spPr/>
    </dgm:pt>
    <dgm:pt modelId="{E4425C61-FFAA-4E4C-8CE4-DECC88392CE5}" type="pres">
      <dgm:prSet presAssocID="{0BAFF845-6B7D-428B-A375-7B6A36EDAA79}" presName="nodeRect" presStyleLbl="alignNode1" presStyleIdx="2" presStyleCnt="3">
        <dgm:presLayoutVars>
          <dgm:bulletEnabled val="1"/>
        </dgm:presLayoutVars>
      </dgm:prSet>
      <dgm:spPr/>
    </dgm:pt>
  </dgm:ptLst>
  <dgm:cxnLst>
    <dgm:cxn modelId="{F9194511-59BC-4169-83CA-825DDD194CD3}" type="presOf" srcId="{9DCAC81E-B5BA-4613-A1C6-B0F3134468BD}" destId="{0C5BD820-6779-4A0D-B264-AA1DE327B82D}" srcOrd="1" destOrd="0" presId="urn:microsoft.com/office/officeart/2016/7/layout/LinearBlockProcessNumbered"/>
    <dgm:cxn modelId="{7FA02818-A4E8-460A-AC00-17735DBBB750}" type="presOf" srcId="{9DCAC81E-B5BA-4613-A1C6-B0F3134468BD}" destId="{71AC1D23-843B-4AB0-9883-FEA68F5EF6D1}" srcOrd="0" destOrd="0" presId="urn:microsoft.com/office/officeart/2016/7/layout/LinearBlockProcessNumbered"/>
    <dgm:cxn modelId="{A337BD28-0BEF-439D-A45F-E725A9D8159B}" type="presOf" srcId="{0BAFF845-6B7D-428B-A375-7B6A36EDAA79}" destId="{783165F0-AB7F-4B9A-85DF-1A3B4235E263}" srcOrd="0" destOrd="0" presId="urn:microsoft.com/office/officeart/2016/7/layout/LinearBlockProcessNumbered"/>
    <dgm:cxn modelId="{B1B93A2C-DB2C-49E1-97CD-60BF126D11F0}" type="presOf" srcId="{0B0470CD-B456-498B-AAD1-242A3A5A3CF8}" destId="{D49C8C63-20E4-4512-8CBE-F425DA689FC4}" srcOrd="0" destOrd="0" presId="urn:microsoft.com/office/officeart/2016/7/layout/LinearBlockProcessNumbered"/>
    <dgm:cxn modelId="{9DB04F35-BAE8-469E-926A-CFBEF6E9D8D6}" srcId="{0B0470CD-B456-498B-AAD1-242A3A5A3CF8}" destId="{9DCAC81E-B5BA-4613-A1C6-B0F3134468BD}" srcOrd="0" destOrd="0" parTransId="{F262ABCC-C89B-4F3A-837C-928298053555}" sibTransId="{DD634767-36D9-46BB-B219-A890A5EF9F8A}"/>
    <dgm:cxn modelId="{DD472768-29AA-411D-910C-BDD456E87D5D}" type="presOf" srcId="{7BF55EFD-C5EC-4940-A757-B843968E1B77}" destId="{E5EF15AB-3732-4258-A97F-1CBE2DA81BB6}" srcOrd="1" destOrd="0" presId="urn:microsoft.com/office/officeart/2016/7/layout/LinearBlockProcessNumbered"/>
    <dgm:cxn modelId="{3E0ADF48-32B3-43B5-95F1-BB1DD72B02C6}" type="presOf" srcId="{0BAFF845-6B7D-428B-A375-7B6A36EDAA79}" destId="{E4425C61-FFAA-4E4C-8CE4-DECC88392CE5}" srcOrd="1" destOrd="0" presId="urn:microsoft.com/office/officeart/2016/7/layout/LinearBlockProcessNumbered"/>
    <dgm:cxn modelId="{01EA9B85-967D-4B1E-B60D-5A06371D870F}" type="presOf" srcId="{7BF55EFD-C5EC-4940-A757-B843968E1B77}" destId="{5BFCCC1B-B973-4CEB-B0E2-00C09A2F866F}" srcOrd="0" destOrd="0" presId="urn:microsoft.com/office/officeart/2016/7/layout/LinearBlockProcessNumbered"/>
    <dgm:cxn modelId="{58531A95-EFA0-4CAB-8879-B57160A6EFA1}" srcId="{0B0470CD-B456-498B-AAD1-242A3A5A3CF8}" destId="{0BAFF845-6B7D-428B-A375-7B6A36EDAA79}" srcOrd="2" destOrd="0" parTransId="{B6F22443-844A-4D20-A546-2742618E679E}" sibTransId="{777A94C6-DF55-4FAC-A41B-70F4C195D087}"/>
    <dgm:cxn modelId="{F75C3CBF-6261-4C5A-90AF-2604A63F1931}" type="presOf" srcId="{B9A85DEE-FC68-4864-8F91-0AFE0827C0A2}" destId="{A01500D9-6939-4F8B-AD57-054FB847A041}" srcOrd="0" destOrd="0" presId="urn:microsoft.com/office/officeart/2016/7/layout/LinearBlockProcessNumbered"/>
    <dgm:cxn modelId="{AAAB7AE5-F095-4E4E-92A3-239152A9CA63}" type="presOf" srcId="{777A94C6-DF55-4FAC-A41B-70F4C195D087}" destId="{543C9F99-F6C5-4886-9696-678714E9C802}" srcOrd="0" destOrd="0" presId="urn:microsoft.com/office/officeart/2016/7/layout/LinearBlockProcessNumbered"/>
    <dgm:cxn modelId="{1AF707F2-2769-4DF3-B250-6E0FF3B71262}" type="presOf" srcId="{DD634767-36D9-46BB-B219-A890A5EF9F8A}" destId="{2F0ABB35-50CC-4F5B-AB4A-8FE67E32F90C}" srcOrd="0" destOrd="0" presId="urn:microsoft.com/office/officeart/2016/7/layout/LinearBlockProcessNumbered"/>
    <dgm:cxn modelId="{C5B95DF2-82D0-45E4-958C-E54EA76D95CA}" srcId="{0B0470CD-B456-498B-AAD1-242A3A5A3CF8}" destId="{7BF55EFD-C5EC-4940-A757-B843968E1B77}" srcOrd="1" destOrd="0" parTransId="{116C1AC7-E524-46A8-AA91-F2106FD5CC68}" sibTransId="{B9A85DEE-FC68-4864-8F91-0AFE0827C0A2}"/>
    <dgm:cxn modelId="{6B688A0F-678B-4C15-964A-6F58319B07D8}" type="presParOf" srcId="{D49C8C63-20E4-4512-8CBE-F425DA689FC4}" destId="{2D65D1B1-1F2F-47A0-92C5-46C8C3DC4CD8}" srcOrd="0" destOrd="0" presId="urn:microsoft.com/office/officeart/2016/7/layout/LinearBlockProcessNumbered"/>
    <dgm:cxn modelId="{240BF0A3-B5DA-4079-8758-B77FDE10DAB8}" type="presParOf" srcId="{2D65D1B1-1F2F-47A0-92C5-46C8C3DC4CD8}" destId="{71AC1D23-843B-4AB0-9883-FEA68F5EF6D1}" srcOrd="0" destOrd="0" presId="urn:microsoft.com/office/officeart/2016/7/layout/LinearBlockProcessNumbered"/>
    <dgm:cxn modelId="{A32A991E-EA2B-46DD-A4BF-FA7D9B56968B}" type="presParOf" srcId="{2D65D1B1-1F2F-47A0-92C5-46C8C3DC4CD8}" destId="{2F0ABB35-50CC-4F5B-AB4A-8FE67E32F90C}" srcOrd="1" destOrd="0" presId="urn:microsoft.com/office/officeart/2016/7/layout/LinearBlockProcessNumbered"/>
    <dgm:cxn modelId="{9CADFC19-457A-4852-BEFE-E7B2C955185A}" type="presParOf" srcId="{2D65D1B1-1F2F-47A0-92C5-46C8C3DC4CD8}" destId="{0C5BD820-6779-4A0D-B264-AA1DE327B82D}" srcOrd="2" destOrd="0" presId="urn:microsoft.com/office/officeart/2016/7/layout/LinearBlockProcessNumbered"/>
    <dgm:cxn modelId="{25D45B4F-DE6A-44B6-8427-CF3929113D32}" type="presParOf" srcId="{D49C8C63-20E4-4512-8CBE-F425DA689FC4}" destId="{EEEC7B15-7029-456D-9FE5-EA415363B216}" srcOrd="1" destOrd="0" presId="urn:microsoft.com/office/officeart/2016/7/layout/LinearBlockProcessNumbered"/>
    <dgm:cxn modelId="{39913D9B-2421-4655-9179-CBFE24419FF9}" type="presParOf" srcId="{D49C8C63-20E4-4512-8CBE-F425DA689FC4}" destId="{4ED4F514-F82B-407D-8356-C66CCC449CEF}" srcOrd="2" destOrd="0" presId="urn:microsoft.com/office/officeart/2016/7/layout/LinearBlockProcessNumbered"/>
    <dgm:cxn modelId="{4ACC4FBB-2785-4477-AEB1-B294763CF9D6}" type="presParOf" srcId="{4ED4F514-F82B-407D-8356-C66CCC449CEF}" destId="{5BFCCC1B-B973-4CEB-B0E2-00C09A2F866F}" srcOrd="0" destOrd="0" presId="urn:microsoft.com/office/officeart/2016/7/layout/LinearBlockProcessNumbered"/>
    <dgm:cxn modelId="{C016BF39-B656-4CBF-BB68-73CC3BF4C30A}" type="presParOf" srcId="{4ED4F514-F82B-407D-8356-C66CCC449CEF}" destId="{A01500D9-6939-4F8B-AD57-054FB847A041}" srcOrd="1" destOrd="0" presId="urn:microsoft.com/office/officeart/2016/7/layout/LinearBlockProcessNumbered"/>
    <dgm:cxn modelId="{5E5FABEA-7A14-4D00-A452-760443863135}" type="presParOf" srcId="{4ED4F514-F82B-407D-8356-C66CCC449CEF}" destId="{E5EF15AB-3732-4258-A97F-1CBE2DA81BB6}" srcOrd="2" destOrd="0" presId="urn:microsoft.com/office/officeart/2016/7/layout/LinearBlockProcessNumbered"/>
    <dgm:cxn modelId="{CF743587-71CB-4320-99AF-705C0B2EB782}" type="presParOf" srcId="{D49C8C63-20E4-4512-8CBE-F425DA689FC4}" destId="{56481A83-ADF0-4395-8854-BF5164F55F49}" srcOrd="3" destOrd="0" presId="urn:microsoft.com/office/officeart/2016/7/layout/LinearBlockProcessNumbered"/>
    <dgm:cxn modelId="{19ED7F9E-36E6-48BF-9C36-85F8A16868D6}" type="presParOf" srcId="{D49C8C63-20E4-4512-8CBE-F425DA689FC4}" destId="{68177A38-E5E5-4C20-86EA-9658F3D12457}" srcOrd="4" destOrd="0" presId="urn:microsoft.com/office/officeart/2016/7/layout/LinearBlockProcessNumbered"/>
    <dgm:cxn modelId="{953AC27A-F7F8-406F-BBBE-9137D56B43EA}" type="presParOf" srcId="{68177A38-E5E5-4C20-86EA-9658F3D12457}" destId="{783165F0-AB7F-4B9A-85DF-1A3B4235E263}" srcOrd="0" destOrd="0" presId="urn:microsoft.com/office/officeart/2016/7/layout/LinearBlockProcessNumbered"/>
    <dgm:cxn modelId="{8E08EA36-169E-450F-B32C-4A3C9C13FE16}" type="presParOf" srcId="{68177A38-E5E5-4C20-86EA-9658F3D12457}" destId="{543C9F99-F6C5-4886-9696-678714E9C802}" srcOrd="1" destOrd="0" presId="urn:microsoft.com/office/officeart/2016/7/layout/LinearBlockProcessNumbered"/>
    <dgm:cxn modelId="{095301EB-4B23-4A20-88EC-298D9ECF5256}" type="presParOf" srcId="{68177A38-E5E5-4C20-86EA-9658F3D12457}" destId="{E4425C61-FFAA-4E4C-8CE4-DECC88392CE5}"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5B2884-F593-4CAF-A80F-1E555C2E55D1}" type="doc">
      <dgm:prSet loTypeId="urn:microsoft.com/office/officeart/2018/2/layout/IconVerticalSolidList" loCatId="icon" qsTypeId="urn:microsoft.com/office/officeart/2005/8/quickstyle/simple4" qsCatId="simple" csTypeId="urn:microsoft.com/office/officeart/2005/8/colors/accent6_2" csCatId="accent6" phldr="1"/>
      <dgm:spPr/>
      <dgm:t>
        <a:bodyPr/>
        <a:lstStyle/>
        <a:p>
          <a:endParaRPr lang="en-US"/>
        </a:p>
      </dgm:t>
    </dgm:pt>
    <dgm:pt modelId="{7F649AC9-FC5B-41C3-9639-0AD81B212150}">
      <dgm:prSet/>
      <dgm:spPr/>
      <dgm:t>
        <a:bodyPr/>
        <a:lstStyle/>
        <a:p>
          <a:pPr>
            <a:lnSpc>
              <a:spcPct val="100000"/>
            </a:lnSpc>
          </a:pPr>
          <a:r>
            <a:rPr lang="en-US" b="0" i="0" baseline="0">
              <a:solidFill>
                <a:schemeClr val="bg1"/>
              </a:solidFill>
            </a:rPr>
            <a:t>To analyze the impact of cost, income, and awareness on participation in preventive health check-ups.</a:t>
          </a:r>
          <a:endParaRPr lang="en-US">
            <a:solidFill>
              <a:schemeClr val="bg1"/>
            </a:solidFill>
          </a:endParaRPr>
        </a:p>
      </dgm:t>
    </dgm:pt>
    <dgm:pt modelId="{BA5403BA-37B7-46CD-91DD-E83B07DD45DA}" type="parTrans" cxnId="{7A08582A-6229-4F7B-9AA2-DE19A005A854}">
      <dgm:prSet/>
      <dgm:spPr/>
      <dgm:t>
        <a:bodyPr/>
        <a:lstStyle/>
        <a:p>
          <a:endParaRPr lang="en-US">
            <a:solidFill>
              <a:schemeClr val="bg1"/>
            </a:solidFill>
          </a:endParaRPr>
        </a:p>
      </dgm:t>
    </dgm:pt>
    <dgm:pt modelId="{B0CA13B1-0B1C-41F5-9FB2-7B6FFF378A90}" type="sibTrans" cxnId="{7A08582A-6229-4F7B-9AA2-DE19A005A854}">
      <dgm:prSet/>
      <dgm:spPr/>
      <dgm:t>
        <a:bodyPr/>
        <a:lstStyle/>
        <a:p>
          <a:endParaRPr lang="en-US">
            <a:solidFill>
              <a:schemeClr val="bg1"/>
            </a:solidFill>
          </a:endParaRPr>
        </a:p>
      </dgm:t>
    </dgm:pt>
    <dgm:pt modelId="{30ECDF0D-9739-4018-A139-F681DFEAC481}">
      <dgm:prSet/>
      <dgm:spPr/>
      <dgm:t>
        <a:bodyPr/>
        <a:lstStyle/>
        <a:p>
          <a:pPr>
            <a:lnSpc>
              <a:spcPct val="100000"/>
            </a:lnSpc>
          </a:pPr>
          <a:r>
            <a:rPr lang="en-US" b="0" i="0" baseline="0">
              <a:solidFill>
                <a:schemeClr val="bg1"/>
              </a:solidFill>
            </a:rPr>
            <a:t>To identify barriers faced by different groups in accessing regular health screenings.</a:t>
          </a:r>
          <a:endParaRPr lang="en-US">
            <a:solidFill>
              <a:schemeClr val="bg1"/>
            </a:solidFill>
          </a:endParaRPr>
        </a:p>
      </dgm:t>
    </dgm:pt>
    <dgm:pt modelId="{20448FD8-6F1B-402F-850A-5ADA503C0361}" type="parTrans" cxnId="{A0BA7346-B406-4EB1-A283-BB32568DBAD0}">
      <dgm:prSet/>
      <dgm:spPr/>
      <dgm:t>
        <a:bodyPr/>
        <a:lstStyle/>
        <a:p>
          <a:endParaRPr lang="en-US">
            <a:solidFill>
              <a:schemeClr val="bg1"/>
            </a:solidFill>
          </a:endParaRPr>
        </a:p>
      </dgm:t>
    </dgm:pt>
    <dgm:pt modelId="{604A9560-068B-4844-9048-41C38D936BE6}" type="sibTrans" cxnId="{A0BA7346-B406-4EB1-A283-BB32568DBAD0}">
      <dgm:prSet/>
      <dgm:spPr/>
      <dgm:t>
        <a:bodyPr/>
        <a:lstStyle/>
        <a:p>
          <a:endParaRPr lang="en-US">
            <a:solidFill>
              <a:schemeClr val="bg1"/>
            </a:solidFill>
          </a:endParaRPr>
        </a:p>
      </dgm:t>
    </dgm:pt>
    <dgm:pt modelId="{B3F28DDD-1393-4D40-8C9C-7EF4F206F263}">
      <dgm:prSet/>
      <dgm:spPr/>
      <dgm:t>
        <a:bodyPr/>
        <a:lstStyle/>
        <a:p>
          <a:pPr>
            <a:lnSpc>
              <a:spcPct val="100000"/>
            </a:lnSpc>
          </a:pPr>
          <a:r>
            <a:rPr lang="en-US" b="0" i="0" baseline="0">
              <a:solidFill>
                <a:schemeClr val="bg1"/>
              </a:solidFill>
            </a:rPr>
            <a:t>To propose practical solutions for making preventive healthcare more affordable and accessible. </a:t>
          </a:r>
          <a:endParaRPr lang="en-US">
            <a:solidFill>
              <a:schemeClr val="bg1"/>
            </a:solidFill>
          </a:endParaRPr>
        </a:p>
      </dgm:t>
    </dgm:pt>
    <dgm:pt modelId="{787CE794-8D3C-4589-A451-6F99F4C58EAE}" type="parTrans" cxnId="{502EB3A3-9259-46FB-870A-3070DA4CC665}">
      <dgm:prSet/>
      <dgm:spPr/>
      <dgm:t>
        <a:bodyPr/>
        <a:lstStyle/>
        <a:p>
          <a:endParaRPr lang="en-US">
            <a:solidFill>
              <a:schemeClr val="bg1"/>
            </a:solidFill>
          </a:endParaRPr>
        </a:p>
      </dgm:t>
    </dgm:pt>
    <dgm:pt modelId="{607A102A-59E7-4156-A2DE-268D2DD1F958}" type="sibTrans" cxnId="{502EB3A3-9259-46FB-870A-3070DA4CC665}">
      <dgm:prSet/>
      <dgm:spPr/>
      <dgm:t>
        <a:bodyPr/>
        <a:lstStyle/>
        <a:p>
          <a:endParaRPr lang="en-US">
            <a:solidFill>
              <a:schemeClr val="bg1"/>
            </a:solidFill>
          </a:endParaRPr>
        </a:p>
      </dgm:t>
    </dgm:pt>
    <dgm:pt modelId="{E66E977D-3833-4C2B-A54B-993582D3DEEE}" type="pres">
      <dgm:prSet presAssocID="{145B2884-F593-4CAF-A80F-1E555C2E55D1}" presName="root" presStyleCnt="0">
        <dgm:presLayoutVars>
          <dgm:dir/>
          <dgm:resizeHandles val="exact"/>
        </dgm:presLayoutVars>
      </dgm:prSet>
      <dgm:spPr/>
    </dgm:pt>
    <dgm:pt modelId="{1F87EFD5-DE84-49B3-B3C5-6F42591BCE74}" type="pres">
      <dgm:prSet presAssocID="{7F649AC9-FC5B-41C3-9639-0AD81B212150}" presName="compNode" presStyleCnt="0"/>
      <dgm:spPr/>
    </dgm:pt>
    <dgm:pt modelId="{6385E263-2876-476E-AC69-F109852B6C35}" type="pres">
      <dgm:prSet presAssocID="{7F649AC9-FC5B-41C3-9639-0AD81B212150}" presName="bgRect" presStyleLbl="bgShp" presStyleIdx="0" presStyleCnt="3"/>
      <dgm:spPr/>
    </dgm:pt>
    <dgm:pt modelId="{236E4C47-4922-4D05-A372-310C82551F47}" type="pres">
      <dgm:prSet presAssocID="{7F649AC9-FC5B-41C3-9639-0AD81B21215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llar"/>
        </a:ext>
      </dgm:extLst>
    </dgm:pt>
    <dgm:pt modelId="{07E5CE4E-13E5-41F4-803C-3D743C0E3161}" type="pres">
      <dgm:prSet presAssocID="{7F649AC9-FC5B-41C3-9639-0AD81B212150}" presName="spaceRect" presStyleCnt="0"/>
      <dgm:spPr/>
    </dgm:pt>
    <dgm:pt modelId="{91586A6E-A413-4094-A426-10CD1D34E627}" type="pres">
      <dgm:prSet presAssocID="{7F649AC9-FC5B-41C3-9639-0AD81B212150}" presName="parTx" presStyleLbl="revTx" presStyleIdx="0" presStyleCnt="3">
        <dgm:presLayoutVars>
          <dgm:chMax val="0"/>
          <dgm:chPref val="0"/>
        </dgm:presLayoutVars>
      </dgm:prSet>
      <dgm:spPr/>
    </dgm:pt>
    <dgm:pt modelId="{FA8D53E2-C643-4E21-8AEE-A1AAE67659DC}" type="pres">
      <dgm:prSet presAssocID="{B0CA13B1-0B1C-41F5-9FB2-7B6FFF378A90}" presName="sibTrans" presStyleCnt="0"/>
      <dgm:spPr/>
    </dgm:pt>
    <dgm:pt modelId="{17189720-3CCE-42EB-A7B1-21C3A8948388}" type="pres">
      <dgm:prSet presAssocID="{30ECDF0D-9739-4018-A139-F681DFEAC481}" presName="compNode" presStyleCnt="0"/>
      <dgm:spPr/>
    </dgm:pt>
    <dgm:pt modelId="{334EFF3F-E802-403B-BCA3-98AA52B708EC}" type="pres">
      <dgm:prSet presAssocID="{30ECDF0D-9739-4018-A139-F681DFEAC481}" presName="bgRect" presStyleLbl="bgShp" presStyleIdx="1" presStyleCnt="3"/>
      <dgm:spPr/>
    </dgm:pt>
    <dgm:pt modelId="{D373FD00-9869-48B6-A602-D54486DA0033}" type="pres">
      <dgm:prSet presAssocID="{30ECDF0D-9739-4018-A139-F681DFEAC48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ethoscope"/>
        </a:ext>
      </dgm:extLst>
    </dgm:pt>
    <dgm:pt modelId="{330D1FF0-EC80-433E-90F8-5E68C45BDE2A}" type="pres">
      <dgm:prSet presAssocID="{30ECDF0D-9739-4018-A139-F681DFEAC481}" presName="spaceRect" presStyleCnt="0"/>
      <dgm:spPr/>
    </dgm:pt>
    <dgm:pt modelId="{D72DE00B-EAC0-49B9-A937-82E63F030EF2}" type="pres">
      <dgm:prSet presAssocID="{30ECDF0D-9739-4018-A139-F681DFEAC481}" presName="parTx" presStyleLbl="revTx" presStyleIdx="1" presStyleCnt="3">
        <dgm:presLayoutVars>
          <dgm:chMax val="0"/>
          <dgm:chPref val="0"/>
        </dgm:presLayoutVars>
      </dgm:prSet>
      <dgm:spPr/>
    </dgm:pt>
    <dgm:pt modelId="{1910CA9B-D424-4FCB-92F1-1433FB7D2479}" type="pres">
      <dgm:prSet presAssocID="{604A9560-068B-4844-9048-41C38D936BE6}" presName="sibTrans" presStyleCnt="0"/>
      <dgm:spPr/>
    </dgm:pt>
    <dgm:pt modelId="{41059AEE-1186-4771-B2E4-C2807E311261}" type="pres">
      <dgm:prSet presAssocID="{B3F28DDD-1393-4D40-8C9C-7EF4F206F263}" presName="compNode" presStyleCnt="0"/>
      <dgm:spPr/>
    </dgm:pt>
    <dgm:pt modelId="{B69B7934-974C-4E24-854D-AD71F047BEE6}" type="pres">
      <dgm:prSet presAssocID="{B3F28DDD-1393-4D40-8C9C-7EF4F206F263}" presName="bgRect" presStyleLbl="bgShp" presStyleIdx="2" presStyleCnt="3"/>
      <dgm:spPr/>
    </dgm:pt>
    <dgm:pt modelId="{D240420E-A828-47E9-A06C-A63A4F09BCD4}" type="pres">
      <dgm:prSet presAssocID="{B3F28DDD-1393-4D40-8C9C-7EF4F206F26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tor"/>
        </a:ext>
      </dgm:extLst>
    </dgm:pt>
    <dgm:pt modelId="{A2D676F7-4006-4ACE-9EB3-4E16990CAC50}" type="pres">
      <dgm:prSet presAssocID="{B3F28DDD-1393-4D40-8C9C-7EF4F206F263}" presName="spaceRect" presStyleCnt="0"/>
      <dgm:spPr/>
    </dgm:pt>
    <dgm:pt modelId="{F7EEAEB7-26D7-4982-A86B-6D037BF4FDCF}" type="pres">
      <dgm:prSet presAssocID="{B3F28DDD-1393-4D40-8C9C-7EF4F206F263}" presName="parTx" presStyleLbl="revTx" presStyleIdx="2" presStyleCnt="3">
        <dgm:presLayoutVars>
          <dgm:chMax val="0"/>
          <dgm:chPref val="0"/>
        </dgm:presLayoutVars>
      </dgm:prSet>
      <dgm:spPr/>
    </dgm:pt>
  </dgm:ptLst>
  <dgm:cxnLst>
    <dgm:cxn modelId="{7B1A330A-6D6A-4923-8CE2-47F878669BF5}" type="presOf" srcId="{7F649AC9-FC5B-41C3-9639-0AD81B212150}" destId="{91586A6E-A413-4094-A426-10CD1D34E627}" srcOrd="0" destOrd="0" presId="urn:microsoft.com/office/officeart/2018/2/layout/IconVerticalSolidList"/>
    <dgm:cxn modelId="{7A08582A-6229-4F7B-9AA2-DE19A005A854}" srcId="{145B2884-F593-4CAF-A80F-1E555C2E55D1}" destId="{7F649AC9-FC5B-41C3-9639-0AD81B212150}" srcOrd="0" destOrd="0" parTransId="{BA5403BA-37B7-46CD-91DD-E83B07DD45DA}" sibTransId="{B0CA13B1-0B1C-41F5-9FB2-7B6FFF378A90}"/>
    <dgm:cxn modelId="{A0BA7346-B406-4EB1-A283-BB32568DBAD0}" srcId="{145B2884-F593-4CAF-A80F-1E555C2E55D1}" destId="{30ECDF0D-9739-4018-A139-F681DFEAC481}" srcOrd="1" destOrd="0" parTransId="{20448FD8-6F1B-402F-850A-5ADA503C0361}" sibTransId="{604A9560-068B-4844-9048-41C38D936BE6}"/>
    <dgm:cxn modelId="{BE04104A-E761-4CE3-AC0D-C8704ED0AFD6}" type="presOf" srcId="{30ECDF0D-9739-4018-A139-F681DFEAC481}" destId="{D72DE00B-EAC0-49B9-A937-82E63F030EF2}" srcOrd="0" destOrd="0" presId="urn:microsoft.com/office/officeart/2018/2/layout/IconVerticalSolidList"/>
    <dgm:cxn modelId="{00366C78-88E6-4691-8D12-FAC0BCCA3060}" type="presOf" srcId="{145B2884-F593-4CAF-A80F-1E555C2E55D1}" destId="{E66E977D-3833-4C2B-A54B-993582D3DEEE}" srcOrd="0" destOrd="0" presId="urn:microsoft.com/office/officeart/2018/2/layout/IconVerticalSolidList"/>
    <dgm:cxn modelId="{502EB3A3-9259-46FB-870A-3070DA4CC665}" srcId="{145B2884-F593-4CAF-A80F-1E555C2E55D1}" destId="{B3F28DDD-1393-4D40-8C9C-7EF4F206F263}" srcOrd="2" destOrd="0" parTransId="{787CE794-8D3C-4589-A451-6F99F4C58EAE}" sibTransId="{607A102A-59E7-4156-A2DE-268D2DD1F958}"/>
    <dgm:cxn modelId="{31BE9AEF-2DE0-4905-850F-D115844ECABF}" type="presOf" srcId="{B3F28DDD-1393-4D40-8C9C-7EF4F206F263}" destId="{F7EEAEB7-26D7-4982-A86B-6D037BF4FDCF}" srcOrd="0" destOrd="0" presId="urn:microsoft.com/office/officeart/2018/2/layout/IconVerticalSolidList"/>
    <dgm:cxn modelId="{98FA9D3D-E6E7-4C50-93E1-6679F35B56C7}" type="presParOf" srcId="{E66E977D-3833-4C2B-A54B-993582D3DEEE}" destId="{1F87EFD5-DE84-49B3-B3C5-6F42591BCE74}" srcOrd="0" destOrd="0" presId="urn:microsoft.com/office/officeart/2018/2/layout/IconVerticalSolidList"/>
    <dgm:cxn modelId="{7B385FA7-FF81-4DE7-94C8-134C46649424}" type="presParOf" srcId="{1F87EFD5-DE84-49B3-B3C5-6F42591BCE74}" destId="{6385E263-2876-476E-AC69-F109852B6C35}" srcOrd="0" destOrd="0" presId="urn:microsoft.com/office/officeart/2018/2/layout/IconVerticalSolidList"/>
    <dgm:cxn modelId="{9E521CB0-154D-4E38-B31A-508DF9136466}" type="presParOf" srcId="{1F87EFD5-DE84-49B3-B3C5-6F42591BCE74}" destId="{236E4C47-4922-4D05-A372-310C82551F47}" srcOrd="1" destOrd="0" presId="urn:microsoft.com/office/officeart/2018/2/layout/IconVerticalSolidList"/>
    <dgm:cxn modelId="{B91A7221-01B9-4920-AF10-3D4EA00AFCF9}" type="presParOf" srcId="{1F87EFD5-DE84-49B3-B3C5-6F42591BCE74}" destId="{07E5CE4E-13E5-41F4-803C-3D743C0E3161}" srcOrd="2" destOrd="0" presId="urn:microsoft.com/office/officeart/2018/2/layout/IconVerticalSolidList"/>
    <dgm:cxn modelId="{C84D74DE-1EF2-4151-89EB-9C0FA44F282E}" type="presParOf" srcId="{1F87EFD5-DE84-49B3-B3C5-6F42591BCE74}" destId="{91586A6E-A413-4094-A426-10CD1D34E627}" srcOrd="3" destOrd="0" presId="urn:microsoft.com/office/officeart/2018/2/layout/IconVerticalSolidList"/>
    <dgm:cxn modelId="{08748C4B-B13D-42C0-BFA9-ACC5E5555DF7}" type="presParOf" srcId="{E66E977D-3833-4C2B-A54B-993582D3DEEE}" destId="{FA8D53E2-C643-4E21-8AEE-A1AAE67659DC}" srcOrd="1" destOrd="0" presId="urn:microsoft.com/office/officeart/2018/2/layout/IconVerticalSolidList"/>
    <dgm:cxn modelId="{EDF37D18-E48A-40AD-8A90-539C85B1EF56}" type="presParOf" srcId="{E66E977D-3833-4C2B-A54B-993582D3DEEE}" destId="{17189720-3CCE-42EB-A7B1-21C3A8948388}" srcOrd="2" destOrd="0" presId="urn:microsoft.com/office/officeart/2018/2/layout/IconVerticalSolidList"/>
    <dgm:cxn modelId="{F50C2127-8E49-4616-BDE4-4FB2FCE2B4FD}" type="presParOf" srcId="{17189720-3CCE-42EB-A7B1-21C3A8948388}" destId="{334EFF3F-E802-403B-BCA3-98AA52B708EC}" srcOrd="0" destOrd="0" presId="urn:microsoft.com/office/officeart/2018/2/layout/IconVerticalSolidList"/>
    <dgm:cxn modelId="{1694BC55-DC4C-48F4-B23F-0ECB4558557D}" type="presParOf" srcId="{17189720-3CCE-42EB-A7B1-21C3A8948388}" destId="{D373FD00-9869-48B6-A602-D54486DA0033}" srcOrd="1" destOrd="0" presId="urn:microsoft.com/office/officeart/2018/2/layout/IconVerticalSolidList"/>
    <dgm:cxn modelId="{DADE4D1D-9612-4E11-B0CF-946B180B8EC6}" type="presParOf" srcId="{17189720-3CCE-42EB-A7B1-21C3A8948388}" destId="{330D1FF0-EC80-433E-90F8-5E68C45BDE2A}" srcOrd="2" destOrd="0" presId="urn:microsoft.com/office/officeart/2018/2/layout/IconVerticalSolidList"/>
    <dgm:cxn modelId="{D686CBAE-5066-4773-B3C2-DA292FFEA207}" type="presParOf" srcId="{17189720-3CCE-42EB-A7B1-21C3A8948388}" destId="{D72DE00B-EAC0-49B9-A937-82E63F030EF2}" srcOrd="3" destOrd="0" presId="urn:microsoft.com/office/officeart/2018/2/layout/IconVerticalSolidList"/>
    <dgm:cxn modelId="{FB96EE02-D42B-451B-82C2-9812E01B9B48}" type="presParOf" srcId="{E66E977D-3833-4C2B-A54B-993582D3DEEE}" destId="{1910CA9B-D424-4FCB-92F1-1433FB7D2479}" srcOrd="3" destOrd="0" presId="urn:microsoft.com/office/officeart/2018/2/layout/IconVerticalSolidList"/>
    <dgm:cxn modelId="{FC46C288-945B-48C0-A3A9-48E371F5296C}" type="presParOf" srcId="{E66E977D-3833-4C2B-A54B-993582D3DEEE}" destId="{41059AEE-1186-4771-B2E4-C2807E311261}" srcOrd="4" destOrd="0" presId="urn:microsoft.com/office/officeart/2018/2/layout/IconVerticalSolidList"/>
    <dgm:cxn modelId="{E51F2249-08D1-49E5-B8EF-786015CA2A45}" type="presParOf" srcId="{41059AEE-1186-4771-B2E4-C2807E311261}" destId="{B69B7934-974C-4E24-854D-AD71F047BEE6}" srcOrd="0" destOrd="0" presId="urn:microsoft.com/office/officeart/2018/2/layout/IconVerticalSolidList"/>
    <dgm:cxn modelId="{7EA45504-6238-496D-85ED-1C263518ACF1}" type="presParOf" srcId="{41059AEE-1186-4771-B2E4-C2807E311261}" destId="{D240420E-A828-47E9-A06C-A63A4F09BCD4}" srcOrd="1" destOrd="0" presId="urn:microsoft.com/office/officeart/2018/2/layout/IconVerticalSolidList"/>
    <dgm:cxn modelId="{ED9C76B0-A96C-4616-BE88-FDEE27ABFE9A}" type="presParOf" srcId="{41059AEE-1186-4771-B2E4-C2807E311261}" destId="{A2D676F7-4006-4ACE-9EB3-4E16990CAC50}" srcOrd="2" destOrd="0" presId="urn:microsoft.com/office/officeart/2018/2/layout/IconVerticalSolidList"/>
    <dgm:cxn modelId="{5A5D947E-32A5-4370-B8E2-A1003B2792AA}" type="presParOf" srcId="{41059AEE-1186-4771-B2E4-C2807E311261}" destId="{F7EEAEB7-26D7-4982-A86B-6D037BF4FDCF}"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929EAE-A65E-4846-B62A-4ECB4B7E58D2}" type="doc">
      <dgm:prSet loTypeId="urn:microsoft.com/office/officeart/2005/8/layout/hList6" loCatId="list" qsTypeId="urn:microsoft.com/office/officeart/2005/8/quickstyle/simple4" qsCatId="simple" csTypeId="urn:microsoft.com/office/officeart/2005/8/colors/accent1_2" csCatId="accent1"/>
      <dgm:spPr/>
      <dgm:t>
        <a:bodyPr/>
        <a:lstStyle/>
        <a:p>
          <a:endParaRPr lang="en-US"/>
        </a:p>
      </dgm:t>
    </dgm:pt>
    <dgm:pt modelId="{1E5A33AE-7E42-41DE-8466-A4FF6B4758DB}">
      <dgm:prSet custT="1"/>
      <dgm:spPr/>
      <dgm:t>
        <a:bodyPr/>
        <a:lstStyle/>
        <a:p>
          <a:r>
            <a:rPr lang="en-US" sz="1600" b="1" dirty="0"/>
            <a:t>42% of people are unaware of the cost, indicating a need for greater awareness.</a:t>
          </a:r>
          <a:endParaRPr lang="en-US" sz="1600" dirty="0"/>
        </a:p>
      </dgm:t>
    </dgm:pt>
    <dgm:pt modelId="{05A4D905-EC49-4B88-A739-BBFAD51BCDF3}" type="parTrans" cxnId="{DFF8FDAB-5329-4AFE-B88F-C1FEA15367C7}">
      <dgm:prSet/>
      <dgm:spPr/>
      <dgm:t>
        <a:bodyPr/>
        <a:lstStyle/>
        <a:p>
          <a:endParaRPr lang="en-US"/>
        </a:p>
      </dgm:t>
    </dgm:pt>
    <dgm:pt modelId="{DA10F1CA-3BDD-42E0-9615-7BDB4474CAD0}" type="sibTrans" cxnId="{DFF8FDAB-5329-4AFE-B88F-C1FEA15367C7}">
      <dgm:prSet/>
      <dgm:spPr/>
      <dgm:t>
        <a:bodyPr/>
        <a:lstStyle/>
        <a:p>
          <a:endParaRPr lang="en-US"/>
        </a:p>
      </dgm:t>
    </dgm:pt>
    <dgm:pt modelId="{A0FA79F5-DF7C-4DE4-BDD3-F102C435D5B4}" type="pres">
      <dgm:prSet presAssocID="{7B929EAE-A65E-4846-B62A-4ECB4B7E58D2}" presName="Name0" presStyleCnt="0">
        <dgm:presLayoutVars>
          <dgm:dir/>
          <dgm:resizeHandles val="exact"/>
        </dgm:presLayoutVars>
      </dgm:prSet>
      <dgm:spPr/>
    </dgm:pt>
    <dgm:pt modelId="{6EC22181-6550-446B-B783-77C3CEB88DC1}" type="pres">
      <dgm:prSet presAssocID="{1E5A33AE-7E42-41DE-8466-A4FF6B4758DB}" presName="node" presStyleLbl="node1" presStyleIdx="0" presStyleCnt="1">
        <dgm:presLayoutVars>
          <dgm:bulletEnabled val="1"/>
        </dgm:presLayoutVars>
      </dgm:prSet>
      <dgm:spPr/>
    </dgm:pt>
  </dgm:ptLst>
  <dgm:cxnLst>
    <dgm:cxn modelId="{48EA064C-8965-443C-8D74-CA3107172DFA}" type="presOf" srcId="{7B929EAE-A65E-4846-B62A-4ECB4B7E58D2}" destId="{A0FA79F5-DF7C-4DE4-BDD3-F102C435D5B4}" srcOrd="0" destOrd="0" presId="urn:microsoft.com/office/officeart/2005/8/layout/hList6"/>
    <dgm:cxn modelId="{DFF8FDAB-5329-4AFE-B88F-C1FEA15367C7}" srcId="{7B929EAE-A65E-4846-B62A-4ECB4B7E58D2}" destId="{1E5A33AE-7E42-41DE-8466-A4FF6B4758DB}" srcOrd="0" destOrd="0" parTransId="{05A4D905-EC49-4B88-A739-BBFAD51BCDF3}" sibTransId="{DA10F1CA-3BDD-42E0-9615-7BDB4474CAD0}"/>
    <dgm:cxn modelId="{ED1B0DD4-A640-439F-8C53-924DB63F10D1}" type="presOf" srcId="{1E5A33AE-7E42-41DE-8466-A4FF6B4758DB}" destId="{6EC22181-6550-446B-B783-77C3CEB88DC1}" srcOrd="0" destOrd="0" presId="urn:microsoft.com/office/officeart/2005/8/layout/hList6"/>
    <dgm:cxn modelId="{0062DBC9-4C34-48F1-833E-88CC26B68827}" type="presParOf" srcId="{A0FA79F5-DF7C-4DE4-BDD3-F102C435D5B4}" destId="{6EC22181-6550-446B-B783-77C3CEB88DC1}" srcOrd="0" destOrd="0" presId="urn:microsoft.com/office/officeart/2005/8/layout/hList6"/>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0228BC-B367-44B8-8E9E-91C9071FB4F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3A71110-B4FE-4663-9DB6-8E7C68EAEBBF}">
      <dgm:prSet custT="1"/>
      <dgm:spPr/>
      <dgm:t>
        <a:bodyPr/>
        <a:lstStyle/>
        <a:p>
          <a:r>
            <a:rPr lang="en-US" sz="1600" b="1" dirty="0"/>
            <a:t>Higher-income individuals (above ₹8,00,000) tend to spend more on health checkups, while lower-income groups prefer lower-cost options, indicating cost sensitivity based on income.</a:t>
          </a:r>
          <a:endParaRPr lang="en-US" sz="1600" dirty="0"/>
        </a:p>
      </dgm:t>
    </dgm:pt>
    <dgm:pt modelId="{1F341AEB-B310-404A-9A42-0C89788CDB31}" type="parTrans" cxnId="{79201A89-C0DB-43C1-ABB1-E930342097CD}">
      <dgm:prSet/>
      <dgm:spPr/>
      <dgm:t>
        <a:bodyPr/>
        <a:lstStyle/>
        <a:p>
          <a:endParaRPr lang="en-US"/>
        </a:p>
      </dgm:t>
    </dgm:pt>
    <dgm:pt modelId="{19D3B5DE-43A9-4B53-BD46-594C730E8F74}" type="sibTrans" cxnId="{79201A89-C0DB-43C1-ABB1-E930342097CD}">
      <dgm:prSet/>
      <dgm:spPr/>
      <dgm:t>
        <a:bodyPr/>
        <a:lstStyle/>
        <a:p>
          <a:endParaRPr lang="en-US"/>
        </a:p>
      </dgm:t>
    </dgm:pt>
    <dgm:pt modelId="{9391FF36-3D5D-40A8-8420-0A22362AAFF4}" type="pres">
      <dgm:prSet presAssocID="{8C0228BC-B367-44B8-8E9E-91C9071FB4FB}" presName="linear" presStyleCnt="0">
        <dgm:presLayoutVars>
          <dgm:animLvl val="lvl"/>
          <dgm:resizeHandles val="exact"/>
        </dgm:presLayoutVars>
      </dgm:prSet>
      <dgm:spPr/>
    </dgm:pt>
    <dgm:pt modelId="{C2D7F784-9A96-456C-9A41-AB16131ADFA3}" type="pres">
      <dgm:prSet presAssocID="{33A71110-B4FE-4663-9DB6-8E7C68EAEBBF}" presName="parentText" presStyleLbl="node1" presStyleIdx="0" presStyleCnt="1" custLinFactNeighborX="-267" custLinFactNeighborY="4382">
        <dgm:presLayoutVars>
          <dgm:chMax val="0"/>
          <dgm:bulletEnabled val="1"/>
        </dgm:presLayoutVars>
      </dgm:prSet>
      <dgm:spPr/>
    </dgm:pt>
  </dgm:ptLst>
  <dgm:cxnLst>
    <dgm:cxn modelId="{ABB6BF65-E2F0-4863-9351-B63F15F4542A}" type="presOf" srcId="{33A71110-B4FE-4663-9DB6-8E7C68EAEBBF}" destId="{C2D7F784-9A96-456C-9A41-AB16131ADFA3}" srcOrd="0" destOrd="0" presId="urn:microsoft.com/office/officeart/2005/8/layout/vList2"/>
    <dgm:cxn modelId="{1E08AA84-A6D1-4BEC-80D1-C1394BD00D35}" type="presOf" srcId="{8C0228BC-B367-44B8-8E9E-91C9071FB4FB}" destId="{9391FF36-3D5D-40A8-8420-0A22362AAFF4}" srcOrd="0" destOrd="0" presId="urn:microsoft.com/office/officeart/2005/8/layout/vList2"/>
    <dgm:cxn modelId="{79201A89-C0DB-43C1-ABB1-E930342097CD}" srcId="{8C0228BC-B367-44B8-8E9E-91C9071FB4FB}" destId="{33A71110-B4FE-4663-9DB6-8E7C68EAEBBF}" srcOrd="0" destOrd="0" parTransId="{1F341AEB-B310-404A-9A42-0C89788CDB31}" sibTransId="{19D3B5DE-43A9-4B53-BD46-594C730E8F74}"/>
    <dgm:cxn modelId="{787F1501-2A5E-49F8-9DB7-39F8507E07DD}" type="presParOf" srcId="{9391FF36-3D5D-40A8-8420-0A22362AAFF4}" destId="{C2D7F784-9A96-456C-9A41-AB16131ADFA3}" srcOrd="0"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D98726F-DBF1-4BAF-8741-7572B92D99CC}" type="doc">
      <dgm:prSet loTypeId="urn:microsoft.com/office/officeart/2005/8/layout/hList6" loCatId="list" qsTypeId="urn:microsoft.com/office/officeart/2005/8/quickstyle/simple4" qsCatId="simple" csTypeId="urn:microsoft.com/office/officeart/2005/8/colors/accent1_2" csCatId="accent1"/>
      <dgm:spPr/>
      <dgm:t>
        <a:bodyPr/>
        <a:lstStyle/>
        <a:p>
          <a:endParaRPr lang="en-US"/>
        </a:p>
      </dgm:t>
    </dgm:pt>
    <dgm:pt modelId="{DD276579-7AE2-46DF-8D6C-E35CA447A78F}">
      <dgm:prSet/>
      <dgm:spPr/>
      <dgm:t>
        <a:bodyPr/>
        <a:lstStyle/>
        <a:p>
          <a:r>
            <a:rPr lang="en-US" b="1"/>
            <a:t>Cost and time both impact health screenings, with cost having a slightly higher influence at mid-range levels.</a:t>
          </a:r>
          <a:endParaRPr lang="en-US"/>
        </a:p>
      </dgm:t>
    </dgm:pt>
    <dgm:pt modelId="{3DD00D02-4F56-46DC-A81D-5C6B1680DCD2}" type="parTrans" cxnId="{78778E65-46F0-478A-998E-819EDDABB6C7}">
      <dgm:prSet/>
      <dgm:spPr/>
      <dgm:t>
        <a:bodyPr/>
        <a:lstStyle/>
        <a:p>
          <a:endParaRPr lang="en-US"/>
        </a:p>
      </dgm:t>
    </dgm:pt>
    <dgm:pt modelId="{88908CE7-76E5-4348-87B3-34A3ECDE8364}" type="sibTrans" cxnId="{78778E65-46F0-478A-998E-819EDDABB6C7}">
      <dgm:prSet/>
      <dgm:spPr/>
      <dgm:t>
        <a:bodyPr/>
        <a:lstStyle/>
        <a:p>
          <a:endParaRPr lang="en-US"/>
        </a:p>
      </dgm:t>
    </dgm:pt>
    <dgm:pt modelId="{983F1A55-1D3E-41FA-8DE2-5CFD6EC7E288}" type="pres">
      <dgm:prSet presAssocID="{CD98726F-DBF1-4BAF-8741-7572B92D99CC}" presName="Name0" presStyleCnt="0">
        <dgm:presLayoutVars>
          <dgm:dir/>
          <dgm:resizeHandles val="exact"/>
        </dgm:presLayoutVars>
      </dgm:prSet>
      <dgm:spPr/>
    </dgm:pt>
    <dgm:pt modelId="{821CFC80-0BE7-4E37-9852-6E0A7E5DAA9A}" type="pres">
      <dgm:prSet presAssocID="{DD276579-7AE2-46DF-8D6C-E35CA447A78F}" presName="node" presStyleLbl="node1" presStyleIdx="0" presStyleCnt="1" custLinFactNeighborY="2282">
        <dgm:presLayoutVars>
          <dgm:bulletEnabled val="1"/>
        </dgm:presLayoutVars>
      </dgm:prSet>
      <dgm:spPr/>
    </dgm:pt>
  </dgm:ptLst>
  <dgm:cxnLst>
    <dgm:cxn modelId="{1D22442D-8E8C-4C03-82C2-ACC2E5E328AB}" type="presOf" srcId="{DD276579-7AE2-46DF-8D6C-E35CA447A78F}" destId="{821CFC80-0BE7-4E37-9852-6E0A7E5DAA9A}" srcOrd="0" destOrd="0" presId="urn:microsoft.com/office/officeart/2005/8/layout/hList6"/>
    <dgm:cxn modelId="{78778E65-46F0-478A-998E-819EDDABB6C7}" srcId="{CD98726F-DBF1-4BAF-8741-7572B92D99CC}" destId="{DD276579-7AE2-46DF-8D6C-E35CA447A78F}" srcOrd="0" destOrd="0" parTransId="{3DD00D02-4F56-46DC-A81D-5C6B1680DCD2}" sibTransId="{88908CE7-76E5-4348-87B3-34A3ECDE8364}"/>
    <dgm:cxn modelId="{2785E28A-FE42-4171-9335-92453B6C39DC}" type="presOf" srcId="{CD98726F-DBF1-4BAF-8741-7572B92D99CC}" destId="{983F1A55-1D3E-41FA-8DE2-5CFD6EC7E288}" srcOrd="0" destOrd="0" presId="urn:microsoft.com/office/officeart/2005/8/layout/hList6"/>
    <dgm:cxn modelId="{145D9AB4-FDB7-424D-9D6D-2EC831173131}" type="presParOf" srcId="{983F1A55-1D3E-41FA-8DE2-5CFD6EC7E288}" destId="{821CFC80-0BE7-4E37-9852-6E0A7E5DAA9A}" srcOrd="0" destOrd="0" presId="urn:microsoft.com/office/officeart/2005/8/layout/hList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84FEC88-833E-4DDA-ACC6-149BE684BBF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A6AB8C9-9AB2-4386-8415-2CA8FEBE27B3}">
      <dgm:prSet/>
      <dgm:spPr/>
      <dgm:t>
        <a:bodyPr/>
        <a:lstStyle/>
        <a:p>
          <a:r>
            <a:rPr lang="en-US" b="1" dirty="0"/>
            <a:t>The graph shows that cost, time, and lack of awareness are key barriers to regular health checkups. Addressing these through affordable care, flexible schedules, and awareness campaigns can improve health outcomes.</a:t>
          </a:r>
          <a:endParaRPr lang="en-US" dirty="0"/>
        </a:p>
      </dgm:t>
    </dgm:pt>
    <dgm:pt modelId="{B969328B-D51F-4FAB-933D-72C428F0AD77}" type="parTrans" cxnId="{0AE3F817-0385-4291-80D7-9F212D8B0033}">
      <dgm:prSet/>
      <dgm:spPr/>
      <dgm:t>
        <a:bodyPr/>
        <a:lstStyle/>
        <a:p>
          <a:endParaRPr lang="en-US"/>
        </a:p>
      </dgm:t>
    </dgm:pt>
    <dgm:pt modelId="{8C2C9AD1-1B66-4FBC-8A2A-9CD42B35B89B}" type="sibTrans" cxnId="{0AE3F817-0385-4291-80D7-9F212D8B0033}">
      <dgm:prSet/>
      <dgm:spPr/>
      <dgm:t>
        <a:bodyPr/>
        <a:lstStyle/>
        <a:p>
          <a:endParaRPr lang="en-US"/>
        </a:p>
      </dgm:t>
    </dgm:pt>
    <dgm:pt modelId="{8FDF5185-4998-4AED-91A9-D183DCE7918B}" type="pres">
      <dgm:prSet presAssocID="{D84FEC88-833E-4DDA-ACC6-149BE684BBF2}" presName="linear" presStyleCnt="0">
        <dgm:presLayoutVars>
          <dgm:animLvl val="lvl"/>
          <dgm:resizeHandles val="exact"/>
        </dgm:presLayoutVars>
      </dgm:prSet>
      <dgm:spPr/>
    </dgm:pt>
    <dgm:pt modelId="{5B9C378A-2B5D-4D72-A87A-A973D3C2DFC1}" type="pres">
      <dgm:prSet presAssocID="{3A6AB8C9-9AB2-4386-8415-2CA8FEBE27B3}" presName="parentText" presStyleLbl="node1" presStyleIdx="0" presStyleCnt="1" custLinFactNeighborX="1460" custLinFactNeighborY="-12663">
        <dgm:presLayoutVars>
          <dgm:chMax val="0"/>
          <dgm:bulletEnabled val="1"/>
        </dgm:presLayoutVars>
      </dgm:prSet>
      <dgm:spPr/>
    </dgm:pt>
  </dgm:ptLst>
  <dgm:cxnLst>
    <dgm:cxn modelId="{0AE3F817-0385-4291-80D7-9F212D8B0033}" srcId="{D84FEC88-833E-4DDA-ACC6-149BE684BBF2}" destId="{3A6AB8C9-9AB2-4386-8415-2CA8FEBE27B3}" srcOrd="0" destOrd="0" parTransId="{B969328B-D51F-4FAB-933D-72C428F0AD77}" sibTransId="{8C2C9AD1-1B66-4FBC-8A2A-9CD42B35B89B}"/>
    <dgm:cxn modelId="{3EA0B3CB-87F9-4472-8C3D-0875B37B1562}" type="presOf" srcId="{D84FEC88-833E-4DDA-ACC6-149BE684BBF2}" destId="{8FDF5185-4998-4AED-91A9-D183DCE7918B}" srcOrd="0" destOrd="0" presId="urn:microsoft.com/office/officeart/2005/8/layout/vList2"/>
    <dgm:cxn modelId="{A12558CE-F7C7-4945-A36E-BE8BF17AA539}" type="presOf" srcId="{3A6AB8C9-9AB2-4386-8415-2CA8FEBE27B3}" destId="{5B9C378A-2B5D-4D72-A87A-A973D3C2DFC1}" srcOrd="0" destOrd="0" presId="urn:microsoft.com/office/officeart/2005/8/layout/vList2"/>
    <dgm:cxn modelId="{75A42189-395D-4178-AF2A-5A356606CC94}" type="presParOf" srcId="{8FDF5185-4998-4AED-91A9-D183DCE7918B}" destId="{5B9C378A-2B5D-4D72-A87A-A973D3C2DFC1}"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3072255-EE0B-42A6-A23F-40F3BA66A8A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0DF7809-A56D-4F50-9B54-CD5F46D27841}">
      <dgm:prSet custT="1"/>
      <dgm:spPr/>
      <dgm:t>
        <a:bodyPr/>
        <a:lstStyle/>
        <a:p>
          <a:pPr>
            <a:lnSpc>
              <a:spcPct val="100000"/>
            </a:lnSpc>
          </a:pPr>
          <a:r>
            <a:rPr lang="en-US" sz="1600" b="1" dirty="0"/>
            <a:t>Registration: </a:t>
          </a:r>
          <a:r>
            <a:rPr lang="en-US" sz="1600" dirty="0"/>
            <a:t>Users can easily register and access the app's services.</a:t>
          </a:r>
        </a:p>
      </dgm:t>
    </dgm:pt>
    <dgm:pt modelId="{C7208AD9-8A86-406F-B967-D6866240AC24}" type="parTrans" cxnId="{1FE307FC-54FC-4770-A23E-AA5F663AC6CB}">
      <dgm:prSet/>
      <dgm:spPr/>
      <dgm:t>
        <a:bodyPr/>
        <a:lstStyle/>
        <a:p>
          <a:endParaRPr lang="en-US"/>
        </a:p>
      </dgm:t>
    </dgm:pt>
    <dgm:pt modelId="{A726B4EC-5E4F-4EE1-BF6C-6EC7187B8DC0}" type="sibTrans" cxnId="{1FE307FC-54FC-4770-A23E-AA5F663AC6CB}">
      <dgm:prSet/>
      <dgm:spPr/>
      <dgm:t>
        <a:bodyPr/>
        <a:lstStyle/>
        <a:p>
          <a:pPr>
            <a:lnSpc>
              <a:spcPct val="100000"/>
            </a:lnSpc>
          </a:pPr>
          <a:endParaRPr lang="en-US"/>
        </a:p>
      </dgm:t>
    </dgm:pt>
    <dgm:pt modelId="{795523E8-463E-4612-A5BE-66FE01B98B65}">
      <dgm:prSet/>
      <dgm:spPr/>
      <dgm:t>
        <a:bodyPr/>
        <a:lstStyle/>
        <a:p>
          <a:pPr>
            <a:lnSpc>
              <a:spcPct val="100000"/>
            </a:lnSpc>
          </a:pPr>
          <a:r>
            <a:rPr lang="en-US" b="1" dirty="0"/>
            <a:t>AI-Driven Report Analysis</a:t>
          </a:r>
          <a:r>
            <a:rPr lang="en-US" dirty="0"/>
            <a:t>: AI analyzes health reports, providing personalized insights and recommendations.</a:t>
          </a:r>
        </a:p>
      </dgm:t>
    </dgm:pt>
    <dgm:pt modelId="{425EAFE5-A853-4EBB-A20F-D869EDF902B9}" type="parTrans" cxnId="{EAA6A39F-ECF5-46CE-B7C7-727F19EA7DCC}">
      <dgm:prSet/>
      <dgm:spPr/>
      <dgm:t>
        <a:bodyPr/>
        <a:lstStyle/>
        <a:p>
          <a:endParaRPr lang="en-US"/>
        </a:p>
      </dgm:t>
    </dgm:pt>
    <dgm:pt modelId="{D35D1B28-A264-4666-BC2F-6191FA39B754}" type="sibTrans" cxnId="{EAA6A39F-ECF5-46CE-B7C7-727F19EA7DCC}">
      <dgm:prSet/>
      <dgm:spPr/>
      <dgm:t>
        <a:bodyPr/>
        <a:lstStyle/>
        <a:p>
          <a:pPr>
            <a:lnSpc>
              <a:spcPct val="100000"/>
            </a:lnSpc>
          </a:pPr>
          <a:endParaRPr lang="en-US"/>
        </a:p>
      </dgm:t>
    </dgm:pt>
    <dgm:pt modelId="{AE6FE091-E84C-4C53-90AD-94425EA9474F}">
      <dgm:prSet/>
      <dgm:spPr/>
      <dgm:t>
        <a:bodyPr/>
        <a:lstStyle/>
        <a:p>
          <a:pPr>
            <a:lnSpc>
              <a:spcPct val="100000"/>
            </a:lnSpc>
          </a:pPr>
          <a:r>
            <a:rPr lang="en-US" b="1" dirty="0"/>
            <a:t>Health Check-Up Reminders</a:t>
          </a:r>
          <a:r>
            <a:rPr lang="en-US" dirty="0"/>
            <a:t>: Regular reminders ensure users stay on track with their check-ups.</a:t>
          </a:r>
        </a:p>
      </dgm:t>
    </dgm:pt>
    <dgm:pt modelId="{FFC10363-0CB2-4DDB-B305-9C5CE8ABFA8F}" type="parTrans" cxnId="{AE5266E8-8865-47D7-9FED-8F156E8BD78C}">
      <dgm:prSet/>
      <dgm:spPr/>
      <dgm:t>
        <a:bodyPr/>
        <a:lstStyle/>
        <a:p>
          <a:endParaRPr lang="en-US"/>
        </a:p>
      </dgm:t>
    </dgm:pt>
    <dgm:pt modelId="{D0BD9C41-250D-4C16-BD4A-7BD3430BDC8C}" type="sibTrans" cxnId="{AE5266E8-8865-47D7-9FED-8F156E8BD78C}">
      <dgm:prSet/>
      <dgm:spPr/>
      <dgm:t>
        <a:bodyPr/>
        <a:lstStyle/>
        <a:p>
          <a:pPr>
            <a:lnSpc>
              <a:spcPct val="100000"/>
            </a:lnSpc>
          </a:pPr>
          <a:endParaRPr lang="en-US"/>
        </a:p>
      </dgm:t>
    </dgm:pt>
    <dgm:pt modelId="{92DCCDDD-0F35-4B43-A2C0-CD75C64A4B31}" type="pres">
      <dgm:prSet presAssocID="{C3072255-EE0B-42A6-A23F-40F3BA66A8A7}" presName="root" presStyleCnt="0">
        <dgm:presLayoutVars>
          <dgm:dir/>
          <dgm:resizeHandles val="exact"/>
        </dgm:presLayoutVars>
      </dgm:prSet>
      <dgm:spPr/>
    </dgm:pt>
    <dgm:pt modelId="{3EDCD660-E5DD-48EF-B5C8-A9CA45962945}" type="pres">
      <dgm:prSet presAssocID="{90DF7809-A56D-4F50-9B54-CD5F46D27841}" presName="compNode" presStyleCnt="0"/>
      <dgm:spPr/>
    </dgm:pt>
    <dgm:pt modelId="{17C04D16-EC60-4E62-97AB-6952B28875F0}" type="pres">
      <dgm:prSet presAssocID="{90DF7809-A56D-4F50-9B54-CD5F46D27841}"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rowser Window"/>
        </a:ext>
      </dgm:extLst>
    </dgm:pt>
    <dgm:pt modelId="{E3A1B878-5913-417A-ACAB-FDFB055EAEF2}" type="pres">
      <dgm:prSet presAssocID="{90DF7809-A56D-4F50-9B54-CD5F46D27841}" presName="spaceRect" presStyleCnt="0"/>
      <dgm:spPr/>
    </dgm:pt>
    <dgm:pt modelId="{3A97249F-220C-4360-946D-D13BD15A78F4}" type="pres">
      <dgm:prSet presAssocID="{90DF7809-A56D-4F50-9B54-CD5F46D27841}" presName="textRect" presStyleLbl="revTx" presStyleIdx="0" presStyleCnt="3">
        <dgm:presLayoutVars>
          <dgm:chMax val="1"/>
          <dgm:chPref val="1"/>
        </dgm:presLayoutVars>
      </dgm:prSet>
      <dgm:spPr/>
    </dgm:pt>
    <dgm:pt modelId="{1450E553-2D4B-4C79-A7A3-2E1350DB1C71}" type="pres">
      <dgm:prSet presAssocID="{A726B4EC-5E4F-4EE1-BF6C-6EC7187B8DC0}" presName="sibTrans" presStyleCnt="0"/>
      <dgm:spPr/>
    </dgm:pt>
    <dgm:pt modelId="{8B9EF8BE-E6F4-49E4-A573-D85D4A7C9ECD}" type="pres">
      <dgm:prSet presAssocID="{795523E8-463E-4612-A5BE-66FE01B98B65}" presName="compNode" presStyleCnt="0"/>
      <dgm:spPr/>
    </dgm:pt>
    <dgm:pt modelId="{36E1A960-388A-46CA-B314-EDB1458A1D6A}" type="pres">
      <dgm:prSet presAssocID="{795523E8-463E-4612-A5BE-66FE01B98B6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45EAEF9E-0E45-4AB4-B345-72C8D4241F85}" type="pres">
      <dgm:prSet presAssocID="{795523E8-463E-4612-A5BE-66FE01B98B65}" presName="spaceRect" presStyleCnt="0"/>
      <dgm:spPr/>
    </dgm:pt>
    <dgm:pt modelId="{19029B50-77F4-4247-9410-1EA66223BF20}" type="pres">
      <dgm:prSet presAssocID="{795523E8-463E-4612-A5BE-66FE01B98B65}" presName="textRect" presStyleLbl="revTx" presStyleIdx="1" presStyleCnt="3">
        <dgm:presLayoutVars>
          <dgm:chMax val="1"/>
          <dgm:chPref val="1"/>
        </dgm:presLayoutVars>
      </dgm:prSet>
      <dgm:spPr/>
    </dgm:pt>
    <dgm:pt modelId="{9C67781E-6705-4041-8AEC-9BC68C6AFFC0}" type="pres">
      <dgm:prSet presAssocID="{D35D1B28-A264-4666-BC2F-6191FA39B754}" presName="sibTrans" presStyleCnt="0"/>
      <dgm:spPr/>
    </dgm:pt>
    <dgm:pt modelId="{0EC4213A-B267-43D9-A8C5-00C78205A846}" type="pres">
      <dgm:prSet presAssocID="{AE6FE091-E84C-4C53-90AD-94425EA9474F}" presName="compNode" presStyleCnt="0"/>
      <dgm:spPr/>
    </dgm:pt>
    <dgm:pt modelId="{D03CB2DE-598A-4DE8-A0F7-D7588200E0A6}" type="pres">
      <dgm:prSet presAssocID="{AE6FE091-E84C-4C53-90AD-94425EA947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ell"/>
        </a:ext>
      </dgm:extLst>
    </dgm:pt>
    <dgm:pt modelId="{AB6783DA-7182-436D-AB3B-68FDB4D37F8C}" type="pres">
      <dgm:prSet presAssocID="{AE6FE091-E84C-4C53-90AD-94425EA9474F}" presName="spaceRect" presStyleCnt="0"/>
      <dgm:spPr/>
    </dgm:pt>
    <dgm:pt modelId="{C9BB9179-E430-4235-BF31-FFB2FD36F532}" type="pres">
      <dgm:prSet presAssocID="{AE6FE091-E84C-4C53-90AD-94425EA9474F}" presName="textRect" presStyleLbl="revTx" presStyleIdx="2" presStyleCnt="3">
        <dgm:presLayoutVars>
          <dgm:chMax val="1"/>
          <dgm:chPref val="1"/>
        </dgm:presLayoutVars>
      </dgm:prSet>
      <dgm:spPr/>
    </dgm:pt>
  </dgm:ptLst>
  <dgm:cxnLst>
    <dgm:cxn modelId="{563CA236-B297-42D6-9D79-6DCB7EFE5534}" type="presOf" srcId="{795523E8-463E-4612-A5BE-66FE01B98B65}" destId="{19029B50-77F4-4247-9410-1EA66223BF20}" srcOrd="0" destOrd="0" presId="urn:microsoft.com/office/officeart/2018/2/layout/IconLabelList"/>
    <dgm:cxn modelId="{29D73F4B-29C1-42FA-9A4F-59C1421F0DE3}" type="presOf" srcId="{90DF7809-A56D-4F50-9B54-CD5F46D27841}" destId="{3A97249F-220C-4360-946D-D13BD15A78F4}" srcOrd="0" destOrd="0" presId="urn:microsoft.com/office/officeart/2018/2/layout/IconLabelList"/>
    <dgm:cxn modelId="{C886D751-AECC-479E-960D-9A60DB624C6B}" type="presOf" srcId="{C3072255-EE0B-42A6-A23F-40F3BA66A8A7}" destId="{92DCCDDD-0F35-4B43-A2C0-CD75C64A4B31}" srcOrd="0" destOrd="0" presId="urn:microsoft.com/office/officeart/2018/2/layout/IconLabelList"/>
    <dgm:cxn modelId="{8158718C-6CA6-472A-8CDB-201EAB93FC06}" type="presOf" srcId="{AE6FE091-E84C-4C53-90AD-94425EA9474F}" destId="{C9BB9179-E430-4235-BF31-FFB2FD36F532}" srcOrd="0" destOrd="0" presId="urn:microsoft.com/office/officeart/2018/2/layout/IconLabelList"/>
    <dgm:cxn modelId="{EAA6A39F-ECF5-46CE-B7C7-727F19EA7DCC}" srcId="{C3072255-EE0B-42A6-A23F-40F3BA66A8A7}" destId="{795523E8-463E-4612-A5BE-66FE01B98B65}" srcOrd="1" destOrd="0" parTransId="{425EAFE5-A853-4EBB-A20F-D869EDF902B9}" sibTransId="{D35D1B28-A264-4666-BC2F-6191FA39B754}"/>
    <dgm:cxn modelId="{AE5266E8-8865-47D7-9FED-8F156E8BD78C}" srcId="{C3072255-EE0B-42A6-A23F-40F3BA66A8A7}" destId="{AE6FE091-E84C-4C53-90AD-94425EA9474F}" srcOrd="2" destOrd="0" parTransId="{FFC10363-0CB2-4DDB-B305-9C5CE8ABFA8F}" sibTransId="{D0BD9C41-250D-4C16-BD4A-7BD3430BDC8C}"/>
    <dgm:cxn modelId="{1FE307FC-54FC-4770-A23E-AA5F663AC6CB}" srcId="{C3072255-EE0B-42A6-A23F-40F3BA66A8A7}" destId="{90DF7809-A56D-4F50-9B54-CD5F46D27841}" srcOrd="0" destOrd="0" parTransId="{C7208AD9-8A86-406F-B967-D6866240AC24}" sibTransId="{A726B4EC-5E4F-4EE1-BF6C-6EC7187B8DC0}"/>
    <dgm:cxn modelId="{1498A480-6770-41AF-BA87-FD3E58809944}" type="presParOf" srcId="{92DCCDDD-0F35-4B43-A2C0-CD75C64A4B31}" destId="{3EDCD660-E5DD-48EF-B5C8-A9CA45962945}" srcOrd="0" destOrd="0" presId="urn:microsoft.com/office/officeart/2018/2/layout/IconLabelList"/>
    <dgm:cxn modelId="{7F6BD3F9-4DAE-4D09-B685-E96D622B18C9}" type="presParOf" srcId="{3EDCD660-E5DD-48EF-B5C8-A9CA45962945}" destId="{17C04D16-EC60-4E62-97AB-6952B28875F0}" srcOrd="0" destOrd="0" presId="urn:microsoft.com/office/officeart/2018/2/layout/IconLabelList"/>
    <dgm:cxn modelId="{37AB8060-5CA6-450C-97D2-F5A42AED85C2}" type="presParOf" srcId="{3EDCD660-E5DD-48EF-B5C8-A9CA45962945}" destId="{E3A1B878-5913-417A-ACAB-FDFB055EAEF2}" srcOrd="1" destOrd="0" presId="urn:microsoft.com/office/officeart/2018/2/layout/IconLabelList"/>
    <dgm:cxn modelId="{F8D0DFCD-BD51-42E3-B75B-07ACDFE90832}" type="presParOf" srcId="{3EDCD660-E5DD-48EF-B5C8-A9CA45962945}" destId="{3A97249F-220C-4360-946D-D13BD15A78F4}" srcOrd="2" destOrd="0" presId="urn:microsoft.com/office/officeart/2018/2/layout/IconLabelList"/>
    <dgm:cxn modelId="{59503280-B5B3-4538-BB32-E849BDEBE0C0}" type="presParOf" srcId="{92DCCDDD-0F35-4B43-A2C0-CD75C64A4B31}" destId="{1450E553-2D4B-4C79-A7A3-2E1350DB1C71}" srcOrd="1" destOrd="0" presId="urn:microsoft.com/office/officeart/2018/2/layout/IconLabelList"/>
    <dgm:cxn modelId="{AE1E2273-4490-4D8C-BEBD-C3BCF4BB5811}" type="presParOf" srcId="{92DCCDDD-0F35-4B43-A2C0-CD75C64A4B31}" destId="{8B9EF8BE-E6F4-49E4-A573-D85D4A7C9ECD}" srcOrd="2" destOrd="0" presId="urn:microsoft.com/office/officeart/2018/2/layout/IconLabelList"/>
    <dgm:cxn modelId="{87F078B8-FFCD-4344-B540-D04ABC001772}" type="presParOf" srcId="{8B9EF8BE-E6F4-49E4-A573-D85D4A7C9ECD}" destId="{36E1A960-388A-46CA-B314-EDB1458A1D6A}" srcOrd="0" destOrd="0" presId="urn:microsoft.com/office/officeart/2018/2/layout/IconLabelList"/>
    <dgm:cxn modelId="{BBAD7069-41C5-4155-BA14-ED09325237CB}" type="presParOf" srcId="{8B9EF8BE-E6F4-49E4-A573-D85D4A7C9ECD}" destId="{45EAEF9E-0E45-4AB4-B345-72C8D4241F85}" srcOrd="1" destOrd="0" presId="urn:microsoft.com/office/officeart/2018/2/layout/IconLabelList"/>
    <dgm:cxn modelId="{D3C06235-64EA-4AF1-9B1F-DB688A4AC88C}" type="presParOf" srcId="{8B9EF8BE-E6F4-49E4-A573-D85D4A7C9ECD}" destId="{19029B50-77F4-4247-9410-1EA66223BF20}" srcOrd="2" destOrd="0" presId="urn:microsoft.com/office/officeart/2018/2/layout/IconLabelList"/>
    <dgm:cxn modelId="{2C58E949-CD71-49A4-985C-3198C489E477}" type="presParOf" srcId="{92DCCDDD-0F35-4B43-A2C0-CD75C64A4B31}" destId="{9C67781E-6705-4041-8AEC-9BC68C6AFFC0}" srcOrd="3" destOrd="0" presId="urn:microsoft.com/office/officeart/2018/2/layout/IconLabelList"/>
    <dgm:cxn modelId="{89DA3200-FDF9-40A9-8021-55B3E029E077}" type="presParOf" srcId="{92DCCDDD-0F35-4B43-A2C0-CD75C64A4B31}" destId="{0EC4213A-B267-43D9-A8C5-00C78205A846}" srcOrd="4" destOrd="0" presId="urn:microsoft.com/office/officeart/2018/2/layout/IconLabelList"/>
    <dgm:cxn modelId="{F87D12F7-E691-4FD5-98A4-9A00116834F8}" type="presParOf" srcId="{0EC4213A-B267-43D9-A8C5-00C78205A846}" destId="{D03CB2DE-598A-4DE8-A0F7-D7588200E0A6}" srcOrd="0" destOrd="0" presId="urn:microsoft.com/office/officeart/2018/2/layout/IconLabelList"/>
    <dgm:cxn modelId="{F11EDA58-C0AF-46D8-B530-CC359A53341E}" type="presParOf" srcId="{0EC4213A-B267-43D9-A8C5-00C78205A846}" destId="{AB6783DA-7182-436D-AB3B-68FDB4D37F8C}" srcOrd="1" destOrd="0" presId="urn:microsoft.com/office/officeart/2018/2/layout/IconLabelList"/>
    <dgm:cxn modelId="{219E99E6-C7C0-4406-9C89-75143442F0A8}" type="presParOf" srcId="{0EC4213A-B267-43D9-A8C5-00C78205A846}" destId="{C9BB9179-E430-4235-BF31-FFB2FD36F532}"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C6FDD2F9-A486-49DF-8824-E18FD095114B}" type="doc">
      <dgm:prSet loTypeId="urn:microsoft.com/office/officeart/2016/7/layout/LinearArrowProcessNumbered" loCatId="process" qsTypeId="urn:microsoft.com/office/officeart/2005/8/quickstyle/simple1" qsCatId="simple" csTypeId="urn:microsoft.com/office/officeart/2005/8/colors/accent1_2" csCatId="accent1"/>
      <dgm:spPr/>
      <dgm:t>
        <a:bodyPr/>
        <a:lstStyle/>
        <a:p>
          <a:endParaRPr lang="en-US"/>
        </a:p>
      </dgm:t>
    </dgm:pt>
    <dgm:pt modelId="{225173B4-831A-4282-B533-0EE75DCA975E}">
      <dgm:prSet custT="1"/>
      <dgm:spPr/>
      <dgm:t>
        <a:bodyPr/>
        <a:lstStyle/>
        <a:p>
          <a:r>
            <a:rPr lang="en-US" sz="1600" b="1" dirty="0"/>
            <a:t>Cost Reduction: Regular check-ups detect health issues early, reducing the need for expensive treatments and lowering overall healthcare costs.</a:t>
          </a:r>
        </a:p>
      </dgm:t>
    </dgm:pt>
    <dgm:pt modelId="{958CBD0A-CD22-458A-A257-564FE4E6C1E1}" type="parTrans" cxnId="{39923B09-9B43-49D3-8C4E-A0032160A550}">
      <dgm:prSet/>
      <dgm:spPr/>
      <dgm:t>
        <a:bodyPr/>
        <a:lstStyle/>
        <a:p>
          <a:endParaRPr lang="en-US" sz="2000"/>
        </a:p>
      </dgm:t>
    </dgm:pt>
    <dgm:pt modelId="{9FC4B1F8-298A-4144-B5B1-46F05A97B0FE}" type="sibTrans" cxnId="{39923B09-9B43-49D3-8C4E-A0032160A550}">
      <dgm:prSet phldrT="1" phldr="0" custT="1"/>
      <dgm:spPr/>
      <dgm:t>
        <a:bodyPr/>
        <a:lstStyle/>
        <a:p>
          <a:r>
            <a:rPr lang="en-US" sz="4400"/>
            <a:t>1</a:t>
          </a:r>
        </a:p>
      </dgm:t>
    </dgm:pt>
    <dgm:pt modelId="{BCA8F193-46B3-4AA2-B14F-433EF2AB1083}">
      <dgm:prSet custT="1"/>
      <dgm:spPr/>
      <dgm:t>
        <a:bodyPr/>
        <a:lstStyle/>
        <a:p>
          <a:r>
            <a:rPr lang="en-US" sz="1400" b="1" dirty="0"/>
            <a:t>Affordable Options: Price comparisons between private and government labs help individuals choose affordable options, cutting out-of-pocket expenses.</a:t>
          </a:r>
        </a:p>
      </dgm:t>
    </dgm:pt>
    <dgm:pt modelId="{8B3B8578-0F90-4D20-8038-8ABE53FE2782}" type="parTrans" cxnId="{45C80DF8-017B-4434-AE31-3A2C81F804AB}">
      <dgm:prSet/>
      <dgm:spPr/>
      <dgm:t>
        <a:bodyPr/>
        <a:lstStyle/>
        <a:p>
          <a:endParaRPr lang="en-US" sz="2000"/>
        </a:p>
      </dgm:t>
    </dgm:pt>
    <dgm:pt modelId="{689C2BAD-27D6-4ACD-8FD6-A5BC62321F81}" type="sibTrans" cxnId="{45C80DF8-017B-4434-AE31-3A2C81F804AB}">
      <dgm:prSet phldrT="2" phldr="0" custT="1"/>
      <dgm:spPr/>
      <dgm:t>
        <a:bodyPr/>
        <a:lstStyle/>
        <a:p>
          <a:r>
            <a:rPr lang="en-US" sz="4400"/>
            <a:t>2</a:t>
          </a:r>
        </a:p>
      </dgm:t>
    </dgm:pt>
    <dgm:pt modelId="{A794931A-5F40-43AC-B56F-1C05014332D6}">
      <dgm:prSet custT="1"/>
      <dgm:spPr/>
      <dgm:t>
        <a:bodyPr/>
        <a:lstStyle/>
        <a:p>
          <a:r>
            <a:rPr lang="en-US" sz="1400" b="1" dirty="0"/>
            <a:t>Better Resource Utilization: Early detection optimizes healthcare resources, reducing unnecessary hospitalizations.</a:t>
          </a:r>
        </a:p>
      </dgm:t>
    </dgm:pt>
    <dgm:pt modelId="{2CE9BDC9-BDC4-4B6E-856D-08FF2548E706}" type="parTrans" cxnId="{07C23D23-8E3A-4872-B6AA-7428FFF7356F}">
      <dgm:prSet/>
      <dgm:spPr/>
      <dgm:t>
        <a:bodyPr/>
        <a:lstStyle/>
        <a:p>
          <a:endParaRPr lang="en-US" sz="2000"/>
        </a:p>
      </dgm:t>
    </dgm:pt>
    <dgm:pt modelId="{446B20D1-8DAD-4383-A8AE-B3ED14A79180}" type="sibTrans" cxnId="{07C23D23-8E3A-4872-B6AA-7428FFF7356F}">
      <dgm:prSet phldrT="3" phldr="0" custT="1"/>
      <dgm:spPr/>
      <dgm:t>
        <a:bodyPr/>
        <a:lstStyle/>
        <a:p>
          <a:r>
            <a:rPr lang="en-US" sz="4400"/>
            <a:t>3</a:t>
          </a:r>
        </a:p>
      </dgm:t>
    </dgm:pt>
    <dgm:pt modelId="{EFDE37CA-995A-4608-BA0B-12DD5E9130DA}">
      <dgm:prSet custT="1"/>
      <dgm:spPr/>
      <dgm:t>
        <a:bodyPr/>
        <a:lstStyle/>
        <a:p>
          <a:r>
            <a:rPr lang="en-US" sz="1400" b="1"/>
            <a:t>Long-Term Savings: Early screenings prevent chronic diseases, saving long-term healthcare costs.</a:t>
          </a:r>
        </a:p>
      </dgm:t>
    </dgm:pt>
    <dgm:pt modelId="{532A1E7B-49B6-4316-93D3-8B8EFB44E7CF}" type="parTrans" cxnId="{75A339A7-B699-4A2E-99C6-607047D82828}">
      <dgm:prSet/>
      <dgm:spPr/>
      <dgm:t>
        <a:bodyPr/>
        <a:lstStyle/>
        <a:p>
          <a:endParaRPr lang="en-US" sz="2000"/>
        </a:p>
      </dgm:t>
    </dgm:pt>
    <dgm:pt modelId="{66225114-38B1-420B-8E3F-CD6188A5EBDB}" type="sibTrans" cxnId="{75A339A7-B699-4A2E-99C6-607047D82828}">
      <dgm:prSet phldrT="4" phldr="0" custT="1"/>
      <dgm:spPr/>
      <dgm:t>
        <a:bodyPr/>
        <a:lstStyle/>
        <a:p>
          <a:r>
            <a:rPr lang="en-US" sz="4400"/>
            <a:t>4</a:t>
          </a:r>
        </a:p>
      </dgm:t>
    </dgm:pt>
    <dgm:pt modelId="{4E382964-D916-42D3-B1A7-596484AE3A07}">
      <dgm:prSet custT="1"/>
      <dgm:spPr/>
      <dgm:t>
        <a:bodyPr/>
        <a:lstStyle/>
        <a:p>
          <a:r>
            <a:rPr lang="en-US" sz="1400" b="1"/>
            <a:t>Incentives to Lower Costs: Loyalty points and rewards for regular check-ups encourage participation and provide discounts, further reducing costs.</a:t>
          </a:r>
        </a:p>
      </dgm:t>
    </dgm:pt>
    <dgm:pt modelId="{55BECE21-7514-4B3B-8D0B-D55027938401}" type="parTrans" cxnId="{039F3C24-8D22-4902-8926-9D9096C69392}">
      <dgm:prSet/>
      <dgm:spPr/>
      <dgm:t>
        <a:bodyPr/>
        <a:lstStyle/>
        <a:p>
          <a:endParaRPr lang="en-US" sz="2000"/>
        </a:p>
      </dgm:t>
    </dgm:pt>
    <dgm:pt modelId="{16C77236-AB16-4540-880F-E66F177E9D16}" type="sibTrans" cxnId="{039F3C24-8D22-4902-8926-9D9096C69392}">
      <dgm:prSet phldrT="5" phldr="0" custT="1"/>
      <dgm:spPr/>
      <dgm:t>
        <a:bodyPr/>
        <a:lstStyle/>
        <a:p>
          <a:r>
            <a:rPr lang="en-US" sz="4400"/>
            <a:t>5</a:t>
          </a:r>
        </a:p>
      </dgm:t>
    </dgm:pt>
    <dgm:pt modelId="{B13A8E5C-EAEF-46DF-87BB-D2DC731CB9E7}" type="pres">
      <dgm:prSet presAssocID="{C6FDD2F9-A486-49DF-8824-E18FD095114B}" presName="linearFlow" presStyleCnt="0">
        <dgm:presLayoutVars>
          <dgm:dir/>
          <dgm:animLvl val="lvl"/>
          <dgm:resizeHandles val="exact"/>
        </dgm:presLayoutVars>
      </dgm:prSet>
      <dgm:spPr/>
    </dgm:pt>
    <dgm:pt modelId="{8EF6D545-CFC7-408B-9E74-587E5712F53B}" type="pres">
      <dgm:prSet presAssocID="{225173B4-831A-4282-B533-0EE75DCA975E}" presName="compositeNode" presStyleCnt="0"/>
      <dgm:spPr/>
    </dgm:pt>
    <dgm:pt modelId="{4088497B-8E76-4567-A155-4CA7A506C552}" type="pres">
      <dgm:prSet presAssocID="{225173B4-831A-4282-B533-0EE75DCA975E}" presName="parTx" presStyleLbl="node1" presStyleIdx="0" presStyleCnt="0">
        <dgm:presLayoutVars>
          <dgm:chMax val="0"/>
          <dgm:chPref val="0"/>
          <dgm:bulletEnabled val="1"/>
        </dgm:presLayoutVars>
      </dgm:prSet>
      <dgm:spPr/>
    </dgm:pt>
    <dgm:pt modelId="{497C403A-6230-486C-8E56-94537C291188}" type="pres">
      <dgm:prSet presAssocID="{225173B4-831A-4282-B533-0EE75DCA975E}" presName="parSh" presStyleCnt="0"/>
      <dgm:spPr/>
    </dgm:pt>
    <dgm:pt modelId="{89EF5140-5692-490B-A016-C78DE7E0BF90}" type="pres">
      <dgm:prSet presAssocID="{225173B4-831A-4282-B533-0EE75DCA975E}" presName="lineNode" presStyleLbl="alignAccFollowNode1" presStyleIdx="0" presStyleCnt="15"/>
      <dgm:spPr/>
    </dgm:pt>
    <dgm:pt modelId="{2169093F-7608-46F2-B5C0-AECCE466A8A3}" type="pres">
      <dgm:prSet presAssocID="{225173B4-831A-4282-B533-0EE75DCA975E}" presName="lineArrowNode" presStyleLbl="alignAccFollowNode1" presStyleIdx="1" presStyleCnt="15"/>
      <dgm:spPr/>
    </dgm:pt>
    <dgm:pt modelId="{6829CF5D-5A99-4E5F-97BA-5EABC20CDF83}" type="pres">
      <dgm:prSet presAssocID="{9FC4B1F8-298A-4144-B5B1-46F05A97B0FE}" presName="sibTransNodeCircle" presStyleLbl="alignNode1" presStyleIdx="0" presStyleCnt="5">
        <dgm:presLayoutVars>
          <dgm:chMax val="0"/>
          <dgm:bulletEnabled/>
        </dgm:presLayoutVars>
      </dgm:prSet>
      <dgm:spPr/>
    </dgm:pt>
    <dgm:pt modelId="{DC93F77B-1EDE-4D00-A9DA-324BFACBD263}" type="pres">
      <dgm:prSet presAssocID="{9FC4B1F8-298A-4144-B5B1-46F05A97B0FE}" presName="spacerBetweenCircleAndCallout" presStyleCnt="0">
        <dgm:presLayoutVars/>
      </dgm:prSet>
      <dgm:spPr/>
    </dgm:pt>
    <dgm:pt modelId="{72F52782-4E5B-4E36-9D6B-137826C7ACB0}" type="pres">
      <dgm:prSet presAssocID="{225173B4-831A-4282-B533-0EE75DCA975E}" presName="nodeText" presStyleLbl="alignAccFollowNode1" presStyleIdx="2" presStyleCnt="15">
        <dgm:presLayoutVars>
          <dgm:bulletEnabled val="1"/>
        </dgm:presLayoutVars>
      </dgm:prSet>
      <dgm:spPr/>
    </dgm:pt>
    <dgm:pt modelId="{57CF77F5-6565-481F-9F7F-A8CCB5715D48}" type="pres">
      <dgm:prSet presAssocID="{9FC4B1F8-298A-4144-B5B1-46F05A97B0FE}" presName="sibTransComposite" presStyleCnt="0"/>
      <dgm:spPr/>
    </dgm:pt>
    <dgm:pt modelId="{AE45262B-FDCE-47C3-8ADE-A0AEB0BFCDE6}" type="pres">
      <dgm:prSet presAssocID="{BCA8F193-46B3-4AA2-B14F-433EF2AB1083}" presName="compositeNode" presStyleCnt="0"/>
      <dgm:spPr/>
    </dgm:pt>
    <dgm:pt modelId="{58F8D665-1376-46F0-AA6D-6425B27DEB4B}" type="pres">
      <dgm:prSet presAssocID="{BCA8F193-46B3-4AA2-B14F-433EF2AB1083}" presName="parTx" presStyleLbl="node1" presStyleIdx="0" presStyleCnt="0">
        <dgm:presLayoutVars>
          <dgm:chMax val="0"/>
          <dgm:chPref val="0"/>
          <dgm:bulletEnabled val="1"/>
        </dgm:presLayoutVars>
      </dgm:prSet>
      <dgm:spPr/>
    </dgm:pt>
    <dgm:pt modelId="{A06B41DB-C46A-4D13-8703-754BD0A64BB1}" type="pres">
      <dgm:prSet presAssocID="{BCA8F193-46B3-4AA2-B14F-433EF2AB1083}" presName="parSh" presStyleCnt="0"/>
      <dgm:spPr/>
    </dgm:pt>
    <dgm:pt modelId="{FE34BACC-7B52-4936-9BA2-146E23936981}" type="pres">
      <dgm:prSet presAssocID="{BCA8F193-46B3-4AA2-B14F-433EF2AB1083}" presName="lineNode" presStyleLbl="alignAccFollowNode1" presStyleIdx="3" presStyleCnt="15"/>
      <dgm:spPr/>
    </dgm:pt>
    <dgm:pt modelId="{2F017A1D-BACB-40B6-8143-37B973FAF619}" type="pres">
      <dgm:prSet presAssocID="{BCA8F193-46B3-4AA2-B14F-433EF2AB1083}" presName="lineArrowNode" presStyleLbl="alignAccFollowNode1" presStyleIdx="4" presStyleCnt="15"/>
      <dgm:spPr/>
    </dgm:pt>
    <dgm:pt modelId="{9B280E74-C0BB-4E69-AB29-16F6B31B1019}" type="pres">
      <dgm:prSet presAssocID="{689C2BAD-27D6-4ACD-8FD6-A5BC62321F81}" presName="sibTransNodeCircle" presStyleLbl="alignNode1" presStyleIdx="1" presStyleCnt="5">
        <dgm:presLayoutVars>
          <dgm:chMax val="0"/>
          <dgm:bulletEnabled/>
        </dgm:presLayoutVars>
      </dgm:prSet>
      <dgm:spPr/>
    </dgm:pt>
    <dgm:pt modelId="{362D507B-65D8-4E70-84CB-58EE9208F0A9}" type="pres">
      <dgm:prSet presAssocID="{689C2BAD-27D6-4ACD-8FD6-A5BC62321F81}" presName="spacerBetweenCircleAndCallout" presStyleCnt="0">
        <dgm:presLayoutVars/>
      </dgm:prSet>
      <dgm:spPr/>
    </dgm:pt>
    <dgm:pt modelId="{2FAAD14D-29E6-4D16-B6FF-83C722C7A1DF}" type="pres">
      <dgm:prSet presAssocID="{BCA8F193-46B3-4AA2-B14F-433EF2AB1083}" presName="nodeText" presStyleLbl="alignAccFollowNode1" presStyleIdx="5" presStyleCnt="15">
        <dgm:presLayoutVars>
          <dgm:bulletEnabled val="1"/>
        </dgm:presLayoutVars>
      </dgm:prSet>
      <dgm:spPr/>
    </dgm:pt>
    <dgm:pt modelId="{175A056A-62B6-4DB0-932B-178CCF50E799}" type="pres">
      <dgm:prSet presAssocID="{689C2BAD-27D6-4ACD-8FD6-A5BC62321F81}" presName="sibTransComposite" presStyleCnt="0"/>
      <dgm:spPr/>
    </dgm:pt>
    <dgm:pt modelId="{F99D1E09-E851-4004-B505-9E140C8166A2}" type="pres">
      <dgm:prSet presAssocID="{A794931A-5F40-43AC-B56F-1C05014332D6}" presName="compositeNode" presStyleCnt="0"/>
      <dgm:spPr/>
    </dgm:pt>
    <dgm:pt modelId="{369296C1-1C21-4897-8374-3B2B56B3E7D7}" type="pres">
      <dgm:prSet presAssocID="{A794931A-5F40-43AC-B56F-1C05014332D6}" presName="parTx" presStyleLbl="node1" presStyleIdx="0" presStyleCnt="0">
        <dgm:presLayoutVars>
          <dgm:chMax val="0"/>
          <dgm:chPref val="0"/>
          <dgm:bulletEnabled val="1"/>
        </dgm:presLayoutVars>
      </dgm:prSet>
      <dgm:spPr/>
    </dgm:pt>
    <dgm:pt modelId="{61B00780-528B-46B7-9936-A6C9255A926B}" type="pres">
      <dgm:prSet presAssocID="{A794931A-5F40-43AC-B56F-1C05014332D6}" presName="parSh" presStyleCnt="0"/>
      <dgm:spPr/>
    </dgm:pt>
    <dgm:pt modelId="{22021C4C-BBD0-4DEB-9BB5-7647F74A31C7}" type="pres">
      <dgm:prSet presAssocID="{A794931A-5F40-43AC-B56F-1C05014332D6}" presName="lineNode" presStyleLbl="alignAccFollowNode1" presStyleIdx="6" presStyleCnt="15"/>
      <dgm:spPr/>
    </dgm:pt>
    <dgm:pt modelId="{990570CE-EA02-493F-A9D3-C532D6C133DC}" type="pres">
      <dgm:prSet presAssocID="{A794931A-5F40-43AC-B56F-1C05014332D6}" presName="lineArrowNode" presStyleLbl="alignAccFollowNode1" presStyleIdx="7" presStyleCnt="15"/>
      <dgm:spPr/>
    </dgm:pt>
    <dgm:pt modelId="{71808B1D-7086-49F2-8207-345DF6C7741E}" type="pres">
      <dgm:prSet presAssocID="{446B20D1-8DAD-4383-A8AE-B3ED14A79180}" presName="sibTransNodeCircle" presStyleLbl="alignNode1" presStyleIdx="2" presStyleCnt="5">
        <dgm:presLayoutVars>
          <dgm:chMax val="0"/>
          <dgm:bulletEnabled/>
        </dgm:presLayoutVars>
      </dgm:prSet>
      <dgm:spPr/>
    </dgm:pt>
    <dgm:pt modelId="{5A31777E-68C3-417C-A6AA-9D2BA59A03BF}" type="pres">
      <dgm:prSet presAssocID="{446B20D1-8DAD-4383-A8AE-B3ED14A79180}" presName="spacerBetweenCircleAndCallout" presStyleCnt="0">
        <dgm:presLayoutVars/>
      </dgm:prSet>
      <dgm:spPr/>
    </dgm:pt>
    <dgm:pt modelId="{10050A3F-5F9E-49B5-8AA4-456DEA6A6A93}" type="pres">
      <dgm:prSet presAssocID="{A794931A-5F40-43AC-B56F-1C05014332D6}" presName="nodeText" presStyleLbl="alignAccFollowNode1" presStyleIdx="8" presStyleCnt="15">
        <dgm:presLayoutVars>
          <dgm:bulletEnabled val="1"/>
        </dgm:presLayoutVars>
      </dgm:prSet>
      <dgm:spPr/>
    </dgm:pt>
    <dgm:pt modelId="{51174698-9698-448F-9B84-35FDF161AA02}" type="pres">
      <dgm:prSet presAssocID="{446B20D1-8DAD-4383-A8AE-B3ED14A79180}" presName="sibTransComposite" presStyleCnt="0"/>
      <dgm:spPr/>
    </dgm:pt>
    <dgm:pt modelId="{3D7AA982-FE38-4BF8-8472-7DAB214DBA24}" type="pres">
      <dgm:prSet presAssocID="{EFDE37CA-995A-4608-BA0B-12DD5E9130DA}" presName="compositeNode" presStyleCnt="0"/>
      <dgm:spPr/>
    </dgm:pt>
    <dgm:pt modelId="{99353009-345F-4BC8-9689-D9E730734150}" type="pres">
      <dgm:prSet presAssocID="{EFDE37CA-995A-4608-BA0B-12DD5E9130DA}" presName="parTx" presStyleLbl="node1" presStyleIdx="0" presStyleCnt="0">
        <dgm:presLayoutVars>
          <dgm:chMax val="0"/>
          <dgm:chPref val="0"/>
          <dgm:bulletEnabled val="1"/>
        </dgm:presLayoutVars>
      </dgm:prSet>
      <dgm:spPr/>
    </dgm:pt>
    <dgm:pt modelId="{77ECFA46-DBE4-45AC-82D1-DFDC494CAD31}" type="pres">
      <dgm:prSet presAssocID="{EFDE37CA-995A-4608-BA0B-12DD5E9130DA}" presName="parSh" presStyleCnt="0"/>
      <dgm:spPr/>
    </dgm:pt>
    <dgm:pt modelId="{05C87EB3-A21D-4EFA-8B94-50FDF209916A}" type="pres">
      <dgm:prSet presAssocID="{EFDE37CA-995A-4608-BA0B-12DD5E9130DA}" presName="lineNode" presStyleLbl="alignAccFollowNode1" presStyleIdx="9" presStyleCnt="15"/>
      <dgm:spPr/>
    </dgm:pt>
    <dgm:pt modelId="{B6697CF8-3B88-47BA-A6EF-E070F02E30BC}" type="pres">
      <dgm:prSet presAssocID="{EFDE37CA-995A-4608-BA0B-12DD5E9130DA}" presName="lineArrowNode" presStyleLbl="alignAccFollowNode1" presStyleIdx="10" presStyleCnt="15"/>
      <dgm:spPr/>
    </dgm:pt>
    <dgm:pt modelId="{6F7E4441-5F07-4C19-9428-743BE519A56B}" type="pres">
      <dgm:prSet presAssocID="{66225114-38B1-420B-8E3F-CD6188A5EBDB}" presName="sibTransNodeCircle" presStyleLbl="alignNode1" presStyleIdx="3" presStyleCnt="5">
        <dgm:presLayoutVars>
          <dgm:chMax val="0"/>
          <dgm:bulletEnabled/>
        </dgm:presLayoutVars>
      </dgm:prSet>
      <dgm:spPr/>
    </dgm:pt>
    <dgm:pt modelId="{18F6058D-A008-4622-B813-56DDBBC522D2}" type="pres">
      <dgm:prSet presAssocID="{66225114-38B1-420B-8E3F-CD6188A5EBDB}" presName="spacerBetweenCircleAndCallout" presStyleCnt="0">
        <dgm:presLayoutVars/>
      </dgm:prSet>
      <dgm:spPr/>
    </dgm:pt>
    <dgm:pt modelId="{2DDEE962-D332-456B-8EDB-3F8A9074B0B1}" type="pres">
      <dgm:prSet presAssocID="{EFDE37CA-995A-4608-BA0B-12DD5E9130DA}" presName="nodeText" presStyleLbl="alignAccFollowNode1" presStyleIdx="11" presStyleCnt="15">
        <dgm:presLayoutVars>
          <dgm:bulletEnabled val="1"/>
        </dgm:presLayoutVars>
      </dgm:prSet>
      <dgm:spPr/>
    </dgm:pt>
    <dgm:pt modelId="{82FDDA34-B5D2-4658-B354-A5851717EFF9}" type="pres">
      <dgm:prSet presAssocID="{66225114-38B1-420B-8E3F-CD6188A5EBDB}" presName="sibTransComposite" presStyleCnt="0"/>
      <dgm:spPr/>
    </dgm:pt>
    <dgm:pt modelId="{BB7C5B18-419A-4053-B9AD-1AD36FA7FADA}" type="pres">
      <dgm:prSet presAssocID="{4E382964-D916-42D3-B1A7-596484AE3A07}" presName="compositeNode" presStyleCnt="0"/>
      <dgm:spPr/>
    </dgm:pt>
    <dgm:pt modelId="{DE2FE5D4-E06D-48D9-8ABF-25FAAC905936}" type="pres">
      <dgm:prSet presAssocID="{4E382964-D916-42D3-B1A7-596484AE3A07}" presName="parTx" presStyleLbl="node1" presStyleIdx="0" presStyleCnt="0">
        <dgm:presLayoutVars>
          <dgm:chMax val="0"/>
          <dgm:chPref val="0"/>
          <dgm:bulletEnabled val="1"/>
        </dgm:presLayoutVars>
      </dgm:prSet>
      <dgm:spPr/>
    </dgm:pt>
    <dgm:pt modelId="{267892E2-9931-4052-BEA7-EBFE58862B6B}" type="pres">
      <dgm:prSet presAssocID="{4E382964-D916-42D3-B1A7-596484AE3A07}" presName="parSh" presStyleCnt="0"/>
      <dgm:spPr/>
    </dgm:pt>
    <dgm:pt modelId="{71537919-18D0-427D-8DDB-3E257C1AD9E9}" type="pres">
      <dgm:prSet presAssocID="{4E382964-D916-42D3-B1A7-596484AE3A07}" presName="lineNode" presStyleLbl="alignAccFollowNode1" presStyleIdx="12" presStyleCnt="15"/>
      <dgm:spPr/>
    </dgm:pt>
    <dgm:pt modelId="{8D7778E1-A2D1-42FF-814B-62CA3EBBD2E9}" type="pres">
      <dgm:prSet presAssocID="{4E382964-D916-42D3-B1A7-596484AE3A07}" presName="lineArrowNode" presStyleLbl="alignAccFollowNode1" presStyleIdx="13" presStyleCnt="15"/>
      <dgm:spPr/>
    </dgm:pt>
    <dgm:pt modelId="{B4CE2301-7A9D-4E9A-8247-EF89027ABC3E}" type="pres">
      <dgm:prSet presAssocID="{16C77236-AB16-4540-880F-E66F177E9D16}" presName="sibTransNodeCircle" presStyleLbl="alignNode1" presStyleIdx="4" presStyleCnt="5">
        <dgm:presLayoutVars>
          <dgm:chMax val="0"/>
          <dgm:bulletEnabled/>
        </dgm:presLayoutVars>
      </dgm:prSet>
      <dgm:spPr/>
    </dgm:pt>
    <dgm:pt modelId="{AE29B968-46F7-4081-9675-3291DEF518C1}" type="pres">
      <dgm:prSet presAssocID="{16C77236-AB16-4540-880F-E66F177E9D16}" presName="spacerBetweenCircleAndCallout" presStyleCnt="0">
        <dgm:presLayoutVars/>
      </dgm:prSet>
      <dgm:spPr/>
    </dgm:pt>
    <dgm:pt modelId="{57831A70-9F7A-4130-AC78-B8767882E188}" type="pres">
      <dgm:prSet presAssocID="{4E382964-D916-42D3-B1A7-596484AE3A07}" presName="nodeText" presStyleLbl="alignAccFollowNode1" presStyleIdx="14" presStyleCnt="15">
        <dgm:presLayoutVars>
          <dgm:bulletEnabled val="1"/>
        </dgm:presLayoutVars>
      </dgm:prSet>
      <dgm:spPr/>
    </dgm:pt>
  </dgm:ptLst>
  <dgm:cxnLst>
    <dgm:cxn modelId="{39923B09-9B43-49D3-8C4E-A0032160A550}" srcId="{C6FDD2F9-A486-49DF-8824-E18FD095114B}" destId="{225173B4-831A-4282-B533-0EE75DCA975E}" srcOrd="0" destOrd="0" parTransId="{958CBD0A-CD22-458A-A257-564FE4E6C1E1}" sibTransId="{9FC4B1F8-298A-4144-B5B1-46F05A97B0FE}"/>
    <dgm:cxn modelId="{6FD04010-BCC0-43EB-B207-7FB6FC5D881C}" type="presOf" srcId="{BCA8F193-46B3-4AA2-B14F-433EF2AB1083}" destId="{2FAAD14D-29E6-4D16-B6FF-83C722C7A1DF}" srcOrd="0" destOrd="0" presId="urn:microsoft.com/office/officeart/2016/7/layout/LinearArrowProcessNumbered"/>
    <dgm:cxn modelId="{07C23D23-8E3A-4872-B6AA-7428FFF7356F}" srcId="{C6FDD2F9-A486-49DF-8824-E18FD095114B}" destId="{A794931A-5F40-43AC-B56F-1C05014332D6}" srcOrd="2" destOrd="0" parTransId="{2CE9BDC9-BDC4-4B6E-856D-08FF2548E706}" sibTransId="{446B20D1-8DAD-4383-A8AE-B3ED14A79180}"/>
    <dgm:cxn modelId="{6BA56623-A978-4977-A1D2-8448776562C1}" type="presOf" srcId="{225173B4-831A-4282-B533-0EE75DCA975E}" destId="{72F52782-4E5B-4E36-9D6B-137826C7ACB0}" srcOrd="0" destOrd="0" presId="urn:microsoft.com/office/officeart/2016/7/layout/LinearArrowProcessNumbered"/>
    <dgm:cxn modelId="{039F3C24-8D22-4902-8926-9D9096C69392}" srcId="{C6FDD2F9-A486-49DF-8824-E18FD095114B}" destId="{4E382964-D916-42D3-B1A7-596484AE3A07}" srcOrd="4" destOrd="0" parTransId="{55BECE21-7514-4B3B-8D0B-D55027938401}" sibTransId="{16C77236-AB16-4540-880F-E66F177E9D16}"/>
    <dgm:cxn modelId="{DF156229-7456-466A-BF28-FE8057EFF7C8}" type="presOf" srcId="{A794931A-5F40-43AC-B56F-1C05014332D6}" destId="{10050A3F-5F9E-49B5-8AA4-456DEA6A6A93}" srcOrd="0" destOrd="0" presId="urn:microsoft.com/office/officeart/2016/7/layout/LinearArrowProcessNumbered"/>
    <dgm:cxn modelId="{1DED9934-175F-4904-B57F-D7958A343D42}" type="presOf" srcId="{16C77236-AB16-4540-880F-E66F177E9D16}" destId="{B4CE2301-7A9D-4E9A-8247-EF89027ABC3E}" srcOrd="0" destOrd="0" presId="urn:microsoft.com/office/officeart/2016/7/layout/LinearArrowProcessNumbered"/>
    <dgm:cxn modelId="{5C2D998B-D360-4892-8D95-66AC9E7A4D83}" type="presOf" srcId="{EFDE37CA-995A-4608-BA0B-12DD5E9130DA}" destId="{2DDEE962-D332-456B-8EDB-3F8A9074B0B1}" srcOrd="0" destOrd="0" presId="urn:microsoft.com/office/officeart/2016/7/layout/LinearArrowProcessNumbered"/>
    <dgm:cxn modelId="{75A339A7-B699-4A2E-99C6-607047D82828}" srcId="{C6FDD2F9-A486-49DF-8824-E18FD095114B}" destId="{EFDE37CA-995A-4608-BA0B-12DD5E9130DA}" srcOrd="3" destOrd="0" parTransId="{532A1E7B-49B6-4316-93D3-8B8EFB44E7CF}" sibTransId="{66225114-38B1-420B-8E3F-CD6188A5EBDB}"/>
    <dgm:cxn modelId="{0EA961AF-0979-4DF8-9534-4AC5386B7D84}" type="presOf" srcId="{4E382964-D916-42D3-B1A7-596484AE3A07}" destId="{57831A70-9F7A-4130-AC78-B8767882E188}" srcOrd="0" destOrd="0" presId="urn:microsoft.com/office/officeart/2016/7/layout/LinearArrowProcessNumbered"/>
    <dgm:cxn modelId="{0D46ECBB-A075-4227-9258-2E8A12B5E2C6}" type="presOf" srcId="{9FC4B1F8-298A-4144-B5B1-46F05A97B0FE}" destId="{6829CF5D-5A99-4E5F-97BA-5EABC20CDF83}" srcOrd="0" destOrd="0" presId="urn:microsoft.com/office/officeart/2016/7/layout/LinearArrowProcessNumbered"/>
    <dgm:cxn modelId="{47EE1AC8-2D3A-465E-B245-6F1FD9339B4D}" type="presOf" srcId="{689C2BAD-27D6-4ACD-8FD6-A5BC62321F81}" destId="{9B280E74-C0BB-4E69-AB29-16F6B31B1019}" srcOrd="0" destOrd="0" presId="urn:microsoft.com/office/officeart/2016/7/layout/LinearArrowProcessNumbered"/>
    <dgm:cxn modelId="{DFA332D7-F658-488D-BCB7-D27349098E01}" type="presOf" srcId="{446B20D1-8DAD-4383-A8AE-B3ED14A79180}" destId="{71808B1D-7086-49F2-8207-345DF6C7741E}" srcOrd="0" destOrd="0" presId="urn:microsoft.com/office/officeart/2016/7/layout/LinearArrowProcessNumbered"/>
    <dgm:cxn modelId="{7F75B5F4-7B99-452B-9403-4B8E807416D2}" type="presOf" srcId="{C6FDD2F9-A486-49DF-8824-E18FD095114B}" destId="{B13A8E5C-EAEF-46DF-87BB-D2DC731CB9E7}" srcOrd="0" destOrd="0" presId="urn:microsoft.com/office/officeart/2016/7/layout/LinearArrowProcessNumbered"/>
    <dgm:cxn modelId="{C9452CF7-486A-4DFF-A016-396C77FFF66F}" type="presOf" srcId="{66225114-38B1-420B-8E3F-CD6188A5EBDB}" destId="{6F7E4441-5F07-4C19-9428-743BE519A56B}" srcOrd="0" destOrd="0" presId="urn:microsoft.com/office/officeart/2016/7/layout/LinearArrowProcessNumbered"/>
    <dgm:cxn modelId="{45C80DF8-017B-4434-AE31-3A2C81F804AB}" srcId="{C6FDD2F9-A486-49DF-8824-E18FD095114B}" destId="{BCA8F193-46B3-4AA2-B14F-433EF2AB1083}" srcOrd="1" destOrd="0" parTransId="{8B3B8578-0F90-4D20-8038-8ABE53FE2782}" sibTransId="{689C2BAD-27D6-4ACD-8FD6-A5BC62321F81}"/>
    <dgm:cxn modelId="{BD4ED8EA-A1F8-4E4E-B13E-DAA75B3D1945}" type="presParOf" srcId="{B13A8E5C-EAEF-46DF-87BB-D2DC731CB9E7}" destId="{8EF6D545-CFC7-408B-9E74-587E5712F53B}" srcOrd="0" destOrd="0" presId="urn:microsoft.com/office/officeart/2016/7/layout/LinearArrowProcessNumbered"/>
    <dgm:cxn modelId="{B40F6150-CB37-40E8-8120-9AC506B707BD}" type="presParOf" srcId="{8EF6D545-CFC7-408B-9E74-587E5712F53B}" destId="{4088497B-8E76-4567-A155-4CA7A506C552}" srcOrd="0" destOrd="0" presId="urn:microsoft.com/office/officeart/2016/7/layout/LinearArrowProcessNumbered"/>
    <dgm:cxn modelId="{D500F251-EDA8-443D-BD1D-87610556EA85}" type="presParOf" srcId="{8EF6D545-CFC7-408B-9E74-587E5712F53B}" destId="{497C403A-6230-486C-8E56-94537C291188}" srcOrd="1" destOrd="0" presId="urn:microsoft.com/office/officeart/2016/7/layout/LinearArrowProcessNumbered"/>
    <dgm:cxn modelId="{14D3F133-09A9-4DF9-BDDB-902DE2FC0A25}" type="presParOf" srcId="{497C403A-6230-486C-8E56-94537C291188}" destId="{89EF5140-5692-490B-A016-C78DE7E0BF90}" srcOrd="0" destOrd="0" presId="urn:microsoft.com/office/officeart/2016/7/layout/LinearArrowProcessNumbered"/>
    <dgm:cxn modelId="{BC62776E-B09F-4481-B840-9ECBF2C7B22A}" type="presParOf" srcId="{497C403A-6230-486C-8E56-94537C291188}" destId="{2169093F-7608-46F2-B5C0-AECCE466A8A3}" srcOrd="1" destOrd="0" presId="urn:microsoft.com/office/officeart/2016/7/layout/LinearArrowProcessNumbered"/>
    <dgm:cxn modelId="{2A709571-9DC1-4D5A-B9CE-AF6BE504BAC7}" type="presParOf" srcId="{497C403A-6230-486C-8E56-94537C291188}" destId="{6829CF5D-5A99-4E5F-97BA-5EABC20CDF83}" srcOrd="2" destOrd="0" presId="urn:microsoft.com/office/officeart/2016/7/layout/LinearArrowProcessNumbered"/>
    <dgm:cxn modelId="{CDEE05AD-6D5C-42EB-8755-ABE9A2C13FD4}" type="presParOf" srcId="{497C403A-6230-486C-8E56-94537C291188}" destId="{DC93F77B-1EDE-4D00-A9DA-324BFACBD263}" srcOrd="3" destOrd="0" presId="urn:microsoft.com/office/officeart/2016/7/layout/LinearArrowProcessNumbered"/>
    <dgm:cxn modelId="{FA23C1B3-BAAF-4BC9-A450-FB86AC9D58B7}" type="presParOf" srcId="{8EF6D545-CFC7-408B-9E74-587E5712F53B}" destId="{72F52782-4E5B-4E36-9D6B-137826C7ACB0}" srcOrd="2" destOrd="0" presId="urn:microsoft.com/office/officeart/2016/7/layout/LinearArrowProcessNumbered"/>
    <dgm:cxn modelId="{53431154-1C3B-43EF-B4D7-4E6B07B30AAD}" type="presParOf" srcId="{B13A8E5C-EAEF-46DF-87BB-D2DC731CB9E7}" destId="{57CF77F5-6565-481F-9F7F-A8CCB5715D48}" srcOrd="1" destOrd="0" presId="urn:microsoft.com/office/officeart/2016/7/layout/LinearArrowProcessNumbered"/>
    <dgm:cxn modelId="{6321B68A-FF8E-4AB8-90FF-5C5744ED7D15}" type="presParOf" srcId="{B13A8E5C-EAEF-46DF-87BB-D2DC731CB9E7}" destId="{AE45262B-FDCE-47C3-8ADE-A0AEB0BFCDE6}" srcOrd="2" destOrd="0" presId="urn:microsoft.com/office/officeart/2016/7/layout/LinearArrowProcessNumbered"/>
    <dgm:cxn modelId="{FA70FC30-808F-4280-9536-D6643B313727}" type="presParOf" srcId="{AE45262B-FDCE-47C3-8ADE-A0AEB0BFCDE6}" destId="{58F8D665-1376-46F0-AA6D-6425B27DEB4B}" srcOrd="0" destOrd="0" presId="urn:microsoft.com/office/officeart/2016/7/layout/LinearArrowProcessNumbered"/>
    <dgm:cxn modelId="{C3BD4A7E-00AA-4F8E-B495-1AB54556379B}" type="presParOf" srcId="{AE45262B-FDCE-47C3-8ADE-A0AEB0BFCDE6}" destId="{A06B41DB-C46A-4D13-8703-754BD0A64BB1}" srcOrd="1" destOrd="0" presId="urn:microsoft.com/office/officeart/2016/7/layout/LinearArrowProcessNumbered"/>
    <dgm:cxn modelId="{F105C74C-727C-418B-BD37-8AD65E8783A8}" type="presParOf" srcId="{A06B41DB-C46A-4D13-8703-754BD0A64BB1}" destId="{FE34BACC-7B52-4936-9BA2-146E23936981}" srcOrd="0" destOrd="0" presId="urn:microsoft.com/office/officeart/2016/7/layout/LinearArrowProcessNumbered"/>
    <dgm:cxn modelId="{E7052576-FB4B-4B5F-AEDC-1C62F6282009}" type="presParOf" srcId="{A06B41DB-C46A-4D13-8703-754BD0A64BB1}" destId="{2F017A1D-BACB-40B6-8143-37B973FAF619}" srcOrd="1" destOrd="0" presId="urn:microsoft.com/office/officeart/2016/7/layout/LinearArrowProcessNumbered"/>
    <dgm:cxn modelId="{B62302B3-970A-4E4A-BF77-B9AFC5D84AC3}" type="presParOf" srcId="{A06B41DB-C46A-4D13-8703-754BD0A64BB1}" destId="{9B280E74-C0BB-4E69-AB29-16F6B31B1019}" srcOrd="2" destOrd="0" presId="urn:microsoft.com/office/officeart/2016/7/layout/LinearArrowProcessNumbered"/>
    <dgm:cxn modelId="{940330F3-1F74-45FB-8D46-AEBA0A701882}" type="presParOf" srcId="{A06B41DB-C46A-4D13-8703-754BD0A64BB1}" destId="{362D507B-65D8-4E70-84CB-58EE9208F0A9}" srcOrd="3" destOrd="0" presId="urn:microsoft.com/office/officeart/2016/7/layout/LinearArrowProcessNumbered"/>
    <dgm:cxn modelId="{7424E7DA-179D-4AA6-93A8-F8771F94B890}" type="presParOf" srcId="{AE45262B-FDCE-47C3-8ADE-A0AEB0BFCDE6}" destId="{2FAAD14D-29E6-4D16-B6FF-83C722C7A1DF}" srcOrd="2" destOrd="0" presId="urn:microsoft.com/office/officeart/2016/7/layout/LinearArrowProcessNumbered"/>
    <dgm:cxn modelId="{1F15BAF1-A649-49B2-9AF9-6902B269B2B5}" type="presParOf" srcId="{B13A8E5C-EAEF-46DF-87BB-D2DC731CB9E7}" destId="{175A056A-62B6-4DB0-932B-178CCF50E799}" srcOrd="3" destOrd="0" presId="urn:microsoft.com/office/officeart/2016/7/layout/LinearArrowProcessNumbered"/>
    <dgm:cxn modelId="{08E17FB7-857C-412C-843A-57186E4509DC}" type="presParOf" srcId="{B13A8E5C-EAEF-46DF-87BB-D2DC731CB9E7}" destId="{F99D1E09-E851-4004-B505-9E140C8166A2}" srcOrd="4" destOrd="0" presId="urn:microsoft.com/office/officeart/2016/7/layout/LinearArrowProcessNumbered"/>
    <dgm:cxn modelId="{3E9CC839-7A2C-47C5-945C-CC17DA40498D}" type="presParOf" srcId="{F99D1E09-E851-4004-B505-9E140C8166A2}" destId="{369296C1-1C21-4897-8374-3B2B56B3E7D7}" srcOrd="0" destOrd="0" presId="urn:microsoft.com/office/officeart/2016/7/layout/LinearArrowProcessNumbered"/>
    <dgm:cxn modelId="{D5B80833-3ED7-44F2-85C2-53E8295F6997}" type="presParOf" srcId="{F99D1E09-E851-4004-B505-9E140C8166A2}" destId="{61B00780-528B-46B7-9936-A6C9255A926B}" srcOrd="1" destOrd="0" presId="urn:microsoft.com/office/officeart/2016/7/layout/LinearArrowProcessNumbered"/>
    <dgm:cxn modelId="{55DC0A04-BA75-46A2-B201-FC0E073EF369}" type="presParOf" srcId="{61B00780-528B-46B7-9936-A6C9255A926B}" destId="{22021C4C-BBD0-4DEB-9BB5-7647F74A31C7}" srcOrd="0" destOrd="0" presId="urn:microsoft.com/office/officeart/2016/7/layout/LinearArrowProcessNumbered"/>
    <dgm:cxn modelId="{D043793B-1F01-4A2E-8023-6A51317734CC}" type="presParOf" srcId="{61B00780-528B-46B7-9936-A6C9255A926B}" destId="{990570CE-EA02-493F-A9D3-C532D6C133DC}" srcOrd="1" destOrd="0" presId="urn:microsoft.com/office/officeart/2016/7/layout/LinearArrowProcessNumbered"/>
    <dgm:cxn modelId="{29B8D76B-9416-4AD3-9215-FA496409A03E}" type="presParOf" srcId="{61B00780-528B-46B7-9936-A6C9255A926B}" destId="{71808B1D-7086-49F2-8207-345DF6C7741E}" srcOrd="2" destOrd="0" presId="urn:microsoft.com/office/officeart/2016/7/layout/LinearArrowProcessNumbered"/>
    <dgm:cxn modelId="{5DB6FF55-1F85-45B2-9696-1A317C75BAC9}" type="presParOf" srcId="{61B00780-528B-46B7-9936-A6C9255A926B}" destId="{5A31777E-68C3-417C-A6AA-9D2BA59A03BF}" srcOrd="3" destOrd="0" presId="urn:microsoft.com/office/officeart/2016/7/layout/LinearArrowProcessNumbered"/>
    <dgm:cxn modelId="{E2233CDD-2077-4F04-8AAA-7D7B101126C2}" type="presParOf" srcId="{F99D1E09-E851-4004-B505-9E140C8166A2}" destId="{10050A3F-5F9E-49B5-8AA4-456DEA6A6A93}" srcOrd="2" destOrd="0" presId="urn:microsoft.com/office/officeart/2016/7/layout/LinearArrowProcessNumbered"/>
    <dgm:cxn modelId="{640A49D7-B4C2-444E-BD20-8E3445AFB4D7}" type="presParOf" srcId="{B13A8E5C-EAEF-46DF-87BB-D2DC731CB9E7}" destId="{51174698-9698-448F-9B84-35FDF161AA02}" srcOrd="5" destOrd="0" presId="urn:microsoft.com/office/officeart/2016/7/layout/LinearArrowProcessNumbered"/>
    <dgm:cxn modelId="{0959ADAF-89D4-4CBA-A974-E28AE20599C9}" type="presParOf" srcId="{B13A8E5C-EAEF-46DF-87BB-D2DC731CB9E7}" destId="{3D7AA982-FE38-4BF8-8472-7DAB214DBA24}" srcOrd="6" destOrd="0" presId="urn:microsoft.com/office/officeart/2016/7/layout/LinearArrowProcessNumbered"/>
    <dgm:cxn modelId="{3348C9F1-CBFC-44E8-B8D2-3909F60CF322}" type="presParOf" srcId="{3D7AA982-FE38-4BF8-8472-7DAB214DBA24}" destId="{99353009-345F-4BC8-9689-D9E730734150}" srcOrd="0" destOrd="0" presId="urn:microsoft.com/office/officeart/2016/7/layout/LinearArrowProcessNumbered"/>
    <dgm:cxn modelId="{71018E5F-803C-405C-815E-A38B599F503A}" type="presParOf" srcId="{3D7AA982-FE38-4BF8-8472-7DAB214DBA24}" destId="{77ECFA46-DBE4-45AC-82D1-DFDC494CAD31}" srcOrd="1" destOrd="0" presId="urn:microsoft.com/office/officeart/2016/7/layout/LinearArrowProcessNumbered"/>
    <dgm:cxn modelId="{CFFCEFEA-9FA9-4602-99E5-173C93FEADC5}" type="presParOf" srcId="{77ECFA46-DBE4-45AC-82D1-DFDC494CAD31}" destId="{05C87EB3-A21D-4EFA-8B94-50FDF209916A}" srcOrd="0" destOrd="0" presId="urn:microsoft.com/office/officeart/2016/7/layout/LinearArrowProcessNumbered"/>
    <dgm:cxn modelId="{6A963DFF-3999-4E59-A930-71BF93E69878}" type="presParOf" srcId="{77ECFA46-DBE4-45AC-82D1-DFDC494CAD31}" destId="{B6697CF8-3B88-47BA-A6EF-E070F02E30BC}" srcOrd="1" destOrd="0" presId="urn:microsoft.com/office/officeart/2016/7/layout/LinearArrowProcessNumbered"/>
    <dgm:cxn modelId="{4384B912-DCE0-4374-B63A-1E2AA07A3F92}" type="presParOf" srcId="{77ECFA46-DBE4-45AC-82D1-DFDC494CAD31}" destId="{6F7E4441-5F07-4C19-9428-743BE519A56B}" srcOrd="2" destOrd="0" presId="urn:microsoft.com/office/officeart/2016/7/layout/LinearArrowProcessNumbered"/>
    <dgm:cxn modelId="{322F8EFC-A04C-4096-BE76-F2285F063644}" type="presParOf" srcId="{77ECFA46-DBE4-45AC-82D1-DFDC494CAD31}" destId="{18F6058D-A008-4622-B813-56DDBBC522D2}" srcOrd="3" destOrd="0" presId="urn:microsoft.com/office/officeart/2016/7/layout/LinearArrowProcessNumbered"/>
    <dgm:cxn modelId="{690D6238-776A-407E-A0D4-390FA7FB4BA3}" type="presParOf" srcId="{3D7AA982-FE38-4BF8-8472-7DAB214DBA24}" destId="{2DDEE962-D332-456B-8EDB-3F8A9074B0B1}" srcOrd="2" destOrd="0" presId="urn:microsoft.com/office/officeart/2016/7/layout/LinearArrowProcessNumbered"/>
    <dgm:cxn modelId="{C48FC4AC-EB56-4934-9428-40EFB951A9DB}" type="presParOf" srcId="{B13A8E5C-EAEF-46DF-87BB-D2DC731CB9E7}" destId="{82FDDA34-B5D2-4658-B354-A5851717EFF9}" srcOrd="7" destOrd="0" presId="urn:microsoft.com/office/officeart/2016/7/layout/LinearArrowProcessNumbered"/>
    <dgm:cxn modelId="{55DD90FE-BE95-4F7D-92A5-14B4B69D2F2D}" type="presParOf" srcId="{B13A8E5C-EAEF-46DF-87BB-D2DC731CB9E7}" destId="{BB7C5B18-419A-4053-B9AD-1AD36FA7FADA}" srcOrd="8" destOrd="0" presId="urn:microsoft.com/office/officeart/2016/7/layout/LinearArrowProcessNumbered"/>
    <dgm:cxn modelId="{97C0FDC9-2A86-47F4-926F-178C458ED4CA}" type="presParOf" srcId="{BB7C5B18-419A-4053-B9AD-1AD36FA7FADA}" destId="{DE2FE5D4-E06D-48D9-8ABF-25FAAC905936}" srcOrd="0" destOrd="0" presId="urn:microsoft.com/office/officeart/2016/7/layout/LinearArrowProcessNumbered"/>
    <dgm:cxn modelId="{AFC2CD19-10BF-46C1-96DE-D0C47805C31E}" type="presParOf" srcId="{BB7C5B18-419A-4053-B9AD-1AD36FA7FADA}" destId="{267892E2-9931-4052-BEA7-EBFE58862B6B}" srcOrd="1" destOrd="0" presId="urn:microsoft.com/office/officeart/2016/7/layout/LinearArrowProcessNumbered"/>
    <dgm:cxn modelId="{D284BC0F-56B3-448B-AFBA-D24C6379F3C0}" type="presParOf" srcId="{267892E2-9931-4052-BEA7-EBFE58862B6B}" destId="{71537919-18D0-427D-8DDB-3E257C1AD9E9}" srcOrd="0" destOrd="0" presId="urn:microsoft.com/office/officeart/2016/7/layout/LinearArrowProcessNumbered"/>
    <dgm:cxn modelId="{FE133C9E-6C8C-4C2B-AD1C-AB2C4C0FB515}" type="presParOf" srcId="{267892E2-9931-4052-BEA7-EBFE58862B6B}" destId="{8D7778E1-A2D1-42FF-814B-62CA3EBBD2E9}" srcOrd="1" destOrd="0" presId="urn:microsoft.com/office/officeart/2016/7/layout/LinearArrowProcessNumbered"/>
    <dgm:cxn modelId="{29F1425F-3208-4650-B116-95C7B1F344BB}" type="presParOf" srcId="{267892E2-9931-4052-BEA7-EBFE58862B6B}" destId="{B4CE2301-7A9D-4E9A-8247-EF89027ABC3E}" srcOrd="2" destOrd="0" presId="urn:microsoft.com/office/officeart/2016/7/layout/LinearArrowProcessNumbered"/>
    <dgm:cxn modelId="{383EAB6B-9638-408F-BC09-88410C837B4F}" type="presParOf" srcId="{267892E2-9931-4052-BEA7-EBFE58862B6B}" destId="{AE29B968-46F7-4081-9675-3291DEF518C1}" srcOrd="3" destOrd="0" presId="urn:microsoft.com/office/officeart/2016/7/layout/LinearArrowProcessNumbered"/>
    <dgm:cxn modelId="{71052A1D-73C8-454C-99FF-1BAA420759EA}" type="presParOf" srcId="{BB7C5B18-419A-4053-B9AD-1AD36FA7FADA}" destId="{57831A70-9F7A-4130-AC78-B8767882E188}" srcOrd="2" destOrd="0" presId="urn:microsoft.com/office/officeart/2016/7/layout/LinearArrow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C1D23-843B-4AB0-9883-FEA68F5EF6D1}">
      <dsp:nvSpPr>
        <dsp:cNvPr id="0" name=""/>
        <dsp:cNvSpPr/>
      </dsp:nvSpPr>
      <dsp:spPr>
        <a:xfrm>
          <a:off x="821" y="179348"/>
          <a:ext cx="3327201" cy="3992641"/>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800100">
            <a:lnSpc>
              <a:spcPct val="90000"/>
            </a:lnSpc>
            <a:spcBef>
              <a:spcPct val="0"/>
            </a:spcBef>
            <a:spcAft>
              <a:spcPct val="35000"/>
            </a:spcAft>
            <a:buNone/>
          </a:pPr>
          <a:r>
            <a:rPr lang="en-US" sz="1800" b="1" kern="1200" dirty="0"/>
            <a:t>Non-Communicable Diseases (NCDs)</a:t>
          </a:r>
          <a:r>
            <a:rPr lang="en-US" sz="1800" kern="1200" dirty="0"/>
            <a:t> account for nearly 63% of all deaths in India as of 2023, including cardiovascular diseases (27%), cancers (9%), and chronic respiratory diseases (11%).</a:t>
          </a:r>
        </a:p>
      </dsp:txBody>
      <dsp:txXfrm>
        <a:off x="821" y="1776404"/>
        <a:ext cx="3327201" cy="2395585"/>
      </dsp:txXfrm>
    </dsp:sp>
    <dsp:sp modelId="{2F0ABB35-50CC-4F5B-AB4A-8FE67E32F90C}">
      <dsp:nvSpPr>
        <dsp:cNvPr id="0" name=""/>
        <dsp:cNvSpPr/>
      </dsp:nvSpPr>
      <dsp:spPr>
        <a:xfrm>
          <a:off x="821" y="179348"/>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p>
      </dsp:txBody>
      <dsp:txXfrm>
        <a:off x="821" y="179348"/>
        <a:ext cx="3327201" cy="1597056"/>
      </dsp:txXfrm>
    </dsp:sp>
    <dsp:sp modelId="{5BFCCC1B-B973-4CEB-B0E2-00C09A2F866F}">
      <dsp:nvSpPr>
        <dsp:cNvPr id="0" name=""/>
        <dsp:cNvSpPr/>
      </dsp:nvSpPr>
      <dsp:spPr>
        <a:xfrm>
          <a:off x="3594199" y="179348"/>
          <a:ext cx="3327201" cy="3992641"/>
        </a:xfrm>
        <a:prstGeom prst="rect">
          <a:avLst/>
        </a:prstGeom>
        <a:solidFill>
          <a:schemeClr val="accent2">
            <a:hueOff val="2837564"/>
            <a:satOff val="7688"/>
            <a:lumOff val="-6079"/>
            <a:alphaOff val="0"/>
          </a:schemeClr>
        </a:solidFill>
        <a:ln w="19050" cap="flat" cmpd="sng" algn="ctr">
          <a:solidFill>
            <a:schemeClr val="accent2">
              <a:hueOff val="2837564"/>
              <a:satOff val="7688"/>
              <a:lumOff val="-607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800100">
            <a:lnSpc>
              <a:spcPct val="90000"/>
            </a:lnSpc>
            <a:spcBef>
              <a:spcPct val="0"/>
            </a:spcBef>
            <a:spcAft>
              <a:spcPct val="35000"/>
            </a:spcAft>
            <a:buNone/>
          </a:pPr>
          <a:r>
            <a:rPr lang="en-US" sz="1800" kern="1200" dirty="0"/>
            <a:t>Around 25–30% of deaths in India are linked to conditions that could have been mitigated with regular health check-ups.</a:t>
          </a:r>
        </a:p>
      </dsp:txBody>
      <dsp:txXfrm>
        <a:off x="3594199" y="1776404"/>
        <a:ext cx="3327201" cy="2395585"/>
      </dsp:txXfrm>
    </dsp:sp>
    <dsp:sp modelId="{A01500D9-6939-4F8B-AD57-054FB847A041}">
      <dsp:nvSpPr>
        <dsp:cNvPr id="0" name=""/>
        <dsp:cNvSpPr/>
      </dsp:nvSpPr>
      <dsp:spPr>
        <a:xfrm>
          <a:off x="3594199" y="179348"/>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94199" y="179348"/>
        <a:ext cx="3327201" cy="1597056"/>
      </dsp:txXfrm>
    </dsp:sp>
    <dsp:sp modelId="{783165F0-AB7F-4B9A-85DF-1A3B4235E263}">
      <dsp:nvSpPr>
        <dsp:cNvPr id="0" name=""/>
        <dsp:cNvSpPr/>
      </dsp:nvSpPr>
      <dsp:spPr>
        <a:xfrm>
          <a:off x="7187576" y="179348"/>
          <a:ext cx="3327201" cy="3992641"/>
        </a:xfrm>
        <a:prstGeom prst="rect">
          <a:avLst/>
        </a:prstGeom>
        <a:solidFill>
          <a:schemeClr val="accent2">
            <a:hueOff val="5675128"/>
            <a:satOff val="15375"/>
            <a:lumOff val="-12157"/>
            <a:alphaOff val="0"/>
          </a:schemeClr>
        </a:solidFill>
        <a:ln w="19050" cap="flat" cmpd="sng" algn="ctr">
          <a:solidFill>
            <a:schemeClr val="accent2">
              <a:hueOff val="5675128"/>
              <a:satOff val="15375"/>
              <a:lumOff val="-1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8654" tIns="0" rIns="328654" bIns="330200" numCol="1" spcCol="1270" anchor="t" anchorCtr="0">
          <a:noAutofit/>
        </a:bodyPr>
        <a:lstStyle/>
        <a:p>
          <a:pPr marL="0" lvl="0" indent="0" algn="l" defTabSz="800100">
            <a:lnSpc>
              <a:spcPct val="90000"/>
            </a:lnSpc>
            <a:spcBef>
              <a:spcPct val="0"/>
            </a:spcBef>
            <a:spcAft>
              <a:spcPct val="35000"/>
            </a:spcAft>
            <a:buNone/>
          </a:pPr>
          <a:r>
            <a:rPr lang="en-US" sz="1800" kern="1200" dirty="0"/>
            <a:t>As of 2023, about 55% of healthcare expenses in India are out-of-pocket, making preventive check-ups unaffordable for many.</a:t>
          </a:r>
        </a:p>
      </dsp:txBody>
      <dsp:txXfrm>
        <a:off x="7187576" y="1776404"/>
        <a:ext cx="3327201" cy="2395585"/>
      </dsp:txXfrm>
    </dsp:sp>
    <dsp:sp modelId="{543C9F99-F6C5-4886-9696-678714E9C802}">
      <dsp:nvSpPr>
        <dsp:cNvPr id="0" name=""/>
        <dsp:cNvSpPr/>
      </dsp:nvSpPr>
      <dsp:spPr>
        <a:xfrm>
          <a:off x="7187576" y="179348"/>
          <a:ext cx="3327201" cy="1597056"/>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8654" tIns="165100" rIns="328654"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187576" y="179348"/>
        <a:ext cx="3327201" cy="15970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5E263-2876-476E-AC69-F109852B6C35}">
      <dsp:nvSpPr>
        <dsp:cNvPr id="0" name=""/>
        <dsp:cNvSpPr/>
      </dsp:nvSpPr>
      <dsp:spPr>
        <a:xfrm>
          <a:off x="0" y="531"/>
          <a:ext cx="10515600" cy="1242935"/>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36E4C47-4922-4D05-A372-310C82551F47}">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91586A6E-A413-4094-A426-10CD1D34E627}">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b="0" i="0" kern="1200" baseline="0">
              <a:solidFill>
                <a:schemeClr val="bg1"/>
              </a:solidFill>
            </a:rPr>
            <a:t>To analyze the impact of cost, income, and awareness on participation in preventive health check-ups.</a:t>
          </a:r>
          <a:endParaRPr lang="en-US" sz="2500" kern="1200">
            <a:solidFill>
              <a:schemeClr val="bg1"/>
            </a:solidFill>
          </a:endParaRPr>
        </a:p>
      </dsp:txBody>
      <dsp:txXfrm>
        <a:off x="1435590" y="531"/>
        <a:ext cx="9080009" cy="1242935"/>
      </dsp:txXfrm>
    </dsp:sp>
    <dsp:sp modelId="{334EFF3F-E802-403B-BCA3-98AA52B708EC}">
      <dsp:nvSpPr>
        <dsp:cNvPr id="0" name=""/>
        <dsp:cNvSpPr/>
      </dsp:nvSpPr>
      <dsp:spPr>
        <a:xfrm>
          <a:off x="0" y="1554201"/>
          <a:ext cx="10515600" cy="1242935"/>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373FD00-9869-48B6-A602-D54486DA0033}">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D72DE00B-EAC0-49B9-A937-82E63F030EF2}">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b="0" i="0" kern="1200" baseline="0">
              <a:solidFill>
                <a:schemeClr val="bg1"/>
              </a:solidFill>
            </a:rPr>
            <a:t>To identify barriers faced by different groups in accessing regular health screenings.</a:t>
          </a:r>
          <a:endParaRPr lang="en-US" sz="2500" kern="1200">
            <a:solidFill>
              <a:schemeClr val="bg1"/>
            </a:solidFill>
          </a:endParaRPr>
        </a:p>
      </dsp:txBody>
      <dsp:txXfrm>
        <a:off x="1435590" y="1554201"/>
        <a:ext cx="9080009" cy="1242935"/>
      </dsp:txXfrm>
    </dsp:sp>
    <dsp:sp modelId="{B69B7934-974C-4E24-854D-AD71F047BEE6}">
      <dsp:nvSpPr>
        <dsp:cNvPr id="0" name=""/>
        <dsp:cNvSpPr/>
      </dsp:nvSpPr>
      <dsp:spPr>
        <a:xfrm>
          <a:off x="0" y="3107870"/>
          <a:ext cx="10515600" cy="1242935"/>
        </a:xfrm>
        <a:prstGeom prst="roundRect">
          <a:avLst>
            <a:gd name="adj" fmla="val 10000"/>
          </a:avLst>
        </a:prstGeom>
        <a:solidFill>
          <a:schemeClr val="accent6">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D240420E-A828-47E9-A06C-A63A4F09BCD4}">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F7EEAEB7-26D7-4982-A86B-6D037BF4FDCF}">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b="0" i="0" kern="1200" baseline="0">
              <a:solidFill>
                <a:schemeClr val="bg1"/>
              </a:solidFill>
            </a:rPr>
            <a:t>To propose practical solutions for making preventive healthcare more affordable and accessible. </a:t>
          </a:r>
          <a:endParaRPr lang="en-US" sz="2500" kern="1200">
            <a:solidFill>
              <a:schemeClr val="bg1"/>
            </a:solidFill>
          </a:endParaRPr>
        </a:p>
      </dsp:txBody>
      <dsp:txXfrm>
        <a:off x="1435590" y="3107870"/>
        <a:ext cx="9080009" cy="12429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C22181-6550-446B-B783-77C3CEB88DC1}">
      <dsp:nvSpPr>
        <dsp:cNvPr id="0" name=""/>
        <dsp:cNvSpPr/>
      </dsp:nvSpPr>
      <dsp:spPr>
        <a:xfrm rot="16200000">
          <a:off x="2735847" y="-2732860"/>
          <a:ext cx="646331" cy="6112051"/>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1600" tIns="0" rIns="101600" bIns="0" numCol="1" spcCol="1270" anchor="ctr" anchorCtr="0">
          <a:noAutofit/>
        </a:bodyPr>
        <a:lstStyle/>
        <a:p>
          <a:pPr marL="0" lvl="0" indent="0" algn="ctr" defTabSz="711200">
            <a:lnSpc>
              <a:spcPct val="90000"/>
            </a:lnSpc>
            <a:spcBef>
              <a:spcPct val="0"/>
            </a:spcBef>
            <a:spcAft>
              <a:spcPct val="35000"/>
            </a:spcAft>
            <a:buNone/>
          </a:pPr>
          <a:r>
            <a:rPr lang="en-US" sz="1600" b="1" kern="1200" dirty="0"/>
            <a:t>42% of people are unaware of the cost, indicating a need for greater awareness.</a:t>
          </a:r>
          <a:endParaRPr lang="en-US" sz="1600" kern="1200" dirty="0"/>
        </a:p>
      </dsp:txBody>
      <dsp:txXfrm rot="5400000">
        <a:off x="2987" y="129266"/>
        <a:ext cx="6112051" cy="38779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D7F784-9A96-456C-9A41-AB16131ADFA3}">
      <dsp:nvSpPr>
        <dsp:cNvPr id="0" name=""/>
        <dsp:cNvSpPr/>
      </dsp:nvSpPr>
      <dsp:spPr>
        <a:xfrm>
          <a:off x="0" y="106638"/>
          <a:ext cx="5520814" cy="121680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Higher-income individuals (above ₹8,00,000) tend to spend more on health checkups, while lower-income groups prefer lower-cost options, indicating cost sensitivity based on income.</a:t>
          </a:r>
          <a:endParaRPr lang="en-US" sz="1600" kern="1200" dirty="0"/>
        </a:p>
      </dsp:txBody>
      <dsp:txXfrm>
        <a:off x="59399" y="166037"/>
        <a:ext cx="5402016" cy="10980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1CFC80-0BE7-4E37-9852-6E0A7E5DAA9A}">
      <dsp:nvSpPr>
        <dsp:cNvPr id="0" name=""/>
        <dsp:cNvSpPr/>
      </dsp:nvSpPr>
      <dsp:spPr>
        <a:xfrm rot="16200000">
          <a:off x="2726063" y="-2726063"/>
          <a:ext cx="646331" cy="6098458"/>
        </a:xfrm>
        <a:prstGeom prst="flowChartManualOperation">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2550" tIns="0" rIns="85328" bIns="0" numCol="1" spcCol="1270" anchor="ctr" anchorCtr="0">
          <a:noAutofit/>
        </a:bodyPr>
        <a:lstStyle/>
        <a:p>
          <a:pPr marL="0" lvl="0" indent="0" algn="ctr" defTabSz="577850">
            <a:lnSpc>
              <a:spcPct val="90000"/>
            </a:lnSpc>
            <a:spcBef>
              <a:spcPct val="0"/>
            </a:spcBef>
            <a:spcAft>
              <a:spcPct val="35000"/>
            </a:spcAft>
            <a:buNone/>
          </a:pPr>
          <a:r>
            <a:rPr lang="en-US" sz="1300" b="1" kern="1200"/>
            <a:t>Cost and time both impact health screenings, with cost having a slightly higher influence at mid-range levels.</a:t>
          </a:r>
          <a:endParaRPr lang="en-US" sz="1300" kern="1200"/>
        </a:p>
      </dsp:txBody>
      <dsp:txXfrm rot="5400000">
        <a:off x="0" y="129266"/>
        <a:ext cx="6098458" cy="3877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B9C378A-2B5D-4D72-A87A-A973D3C2DFC1}">
      <dsp:nvSpPr>
        <dsp:cNvPr id="0" name=""/>
        <dsp:cNvSpPr/>
      </dsp:nvSpPr>
      <dsp:spPr>
        <a:xfrm>
          <a:off x="0" y="0"/>
          <a:ext cx="5683045" cy="11419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b="1" kern="1200" dirty="0"/>
            <a:t>The graph shows that cost, time, and lack of awareness are key barriers to regular health checkups. Addressing these through affordable care, flexible schedules, and awareness campaigns can improve health outcomes.</a:t>
          </a:r>
          <a:endParaRPr lang="en-US" sz="1600" kern="1200" dirty="0"/>
        </a:p>
      </dsp:txBody>
      <dsp:txXfrm>
        <a:off x="55744" y="55744"/>
        <a:ext cx="5571557" cy="10304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C04D16-EC60-4E62-97AB-6952B28875F0}">
      <dsp:nvSpPr>
        <dsp:cNvPr id="0" name=""/>
        <dsp:cNvSpPr/>
      </dsp:nvSpPr>
      <dsp:spPr>
        <a:xfrm>
          <a:off x="1113231" y="586931"/>
          <a:ext cx="1493307" cy="149330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97249F-220C-4360-946D-D13BD15A78F4}">
      <dsp:nvSpPr>
        <dsp:cNvPr id="0" name=""/>
        <dsp:cNvSpPr/>
      </dsp:nvSpPr>
      <dsp:spPr>
        <a:xfrm>
          <a:off x="200654" y="2478882"/>
          <a:ext cx="3318461"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pPr>
          <a:r>
            <a:rPr lang="en-US" sz="1600" b="1" kern="1200" dirty="0"/>
            <a:t>Registration: </a:t>
          </a:r>
          <a:r>
            <a:rPr lang="en-US" sz="1600" kern="1200" dirty="0"/>
            <a:t>Users can easily register and access the app's services.</a:t>
          </a:r>
        </a:p>
      </dsp:txBody>
      <dsp:txXfrm>
        <a:off x="200654" y="2478882"/>
        <a:ext cx="3318461" cy="765000"/>
      </dsp:txXfrm>
    </dsp:sp>
    <dsp:sp modelId="{36E1A960-388A-46CA-B314-EDB1458A1D6A}">
      <dsp:nvSpPr>
        <dsp:cNvPr id="0" name=""/>
        <dsp:cNvSpPr/>
      </dsp:nvSpPr>
      <dsp:spPr>
        <a:xfrm>
          <a:off x="5012424" y="586931"/>
          <a:ext cx="1493307" cy="149330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029B50-77F4-4247-9410-1EA66223BF20}">
      <dsp:nvSpPr>
        <dsp:cNvPr id="0" name=""/>
        <dsp:cNvSpPr/>
      </dsp:nvSpPr>
      <dsp:spPr>
        <a:xfrm>
          <a:off x="4099847" y="2478882"/>
          <a:ext cx="3318461"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1" kern="1200" dirty="0"/>
            <a:t>AI-Driven Report Analysis</a:t>
          </a:r>
          <a:r>
            <a:rPr lang="en-US" sz="1500" kern="1200" dirty="0"/>
            <a:t>: AI analyzes health reports, providing personalized insights and recommendations.</a:t>
          </a:r>
        </a:p>
      </dsp:txBody>
      <dsp:txXfrm>
        <a:off x="4099847" y="2478882"/>
        <a:ext cx="3318461" cy="765000"/>
      </dsp:txXfrm>
    </dsp:sp>
    <dsp:sp modelId="{D03CB2DE-598A-4DE8-A0F7-D7588200E0A6}">
      <dsp:nvSpPr>
        <dsp:cNvPr id="0" name=""/>
        <dsp:cNvSpPr/>
      </dsp:nvSpPr>
      <dsp:spPr>
        <a:xfrm>
          <a:off x="8911616" y="586931"/>
          <a:ext cx="1493307" cy="149330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9BB9179-E430-4235-BF31-FFB2FD36F532}">
      <dsp:nvSpPr>
        <dsp:cNvPr id="0" name=""/>
        <dsp:cNvSpPr/>
      </dsp:nvSpPr>
      <dsp:spPr>
        <a:xfrm>
          <a:off x="7999039" y="2478882"/>
          <a:ext cx="3318461" cy="76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1" kern="1200" dirty="0"/>
            <a:t>Health Check-Up Reminders</a:t>
          </a:r>
          <a:r>
            <a:rPr lang="en-US" sz="1500" kern="1200" dirty="0"/>
            <a:t>: Regular reminders ensure users stay on track with their check-ups.</a:t>
          </a:r>
        </a:p>
      </dsp:txBody>
      <dsp:txXfrm>
        <a:off x="7999039" y="2478882"/>
        <a:ext cx="3318461" cy="7650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EF5140-5692-490B-A016-C78DE7E0BF90}">
      <dsp:nvSpPr>
        <dsp:cNvPr id="0" name=""/>
        <dsp:cNvSpPr/>
      </dsp:nvSpPr>
      <dsp:spPr>
        <a:xfrm>
          <a:off x="1120668" y="533875"/>
          <a:ext cx="891090" cy="7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69093F-7608-46F2-B5C0-AECCE466A8A3}">
      <dsp:nvSpPr>
        <dsp:cNvPr id="0" name=""/>
        <dsp:cNvSpPr/>
      </dsp:nvSpPr>
      <dsp:spPr>
        <a:xfrm>
          <a:off x="2065223" y="458986"/>
          <a:ext cx="102475" cy="192663"/>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29CF5D-5A99-4E5F-97BA-5EABC20CDF83}">
      <dsp:nvSpPr>
        <dsp:cNvPr id="0" name=""/>
        <dsp:cNvSpPr/>
      </dsp:nvSpPr>
      <dsp:spPr>
        <a:xfrm>
          <a:off x="556905" y="81534"/>
          <a:ext cx="904753" cy="90475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09" tIns="35109" rIns="35109" bIns="35109" numCol="1" spcCol="1270" anchor="ctr" anchorCtr="0">
          <a:noAutofit/>
        </a:bodyPr>
        <a:lstStyle/>
        <a:p>
          <a:pPr marL="0" lvl="0" indent="0" algn="ctr" defTabSz="1955800">
            <a:lnSpc>
              <a:spcPct val="90000"/>
            </a:lnSpc>
            <a:spcBef>
              <a:spcPct val="0"/>
            </a:spcBef>
            <a:spcAft>
              <a:spcPct val="35000"/>
            </a:spcAft>
            <a:buNone/>
          </a:pPr>
          <a:r>
            <a:rPr lang="en-US" sz="4400" kern="1200"/>
            <a:t>1</a:t>
          </a:r>
        </a:p>
      </dsp:txBody>
      <dsp:txXfrm>
        <a:off x="689403" y="214032"/>
        <a:ext cx="639757" cy="639757"/>
      </dsp:txXfrm>
    </dsp:sp>
    <dsp:sp modelId="{72F52782-4E5B-4E36-9D6B-137826C7ACB0}">
      <dsp:nvSpPr>
        <dsp:cNvPr id="0" name=""/>
        <dsp:cNvSpPr/>
      </dsp:nvSpPr>
      <dsp:spPr>
        <a:xfrm>
          <a:off x="6805" y="1151887"/>
          <a:ext cx="2004953" cy="276412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153" tIns="165100" rIns="158153" bIns="165100" numCol="1" spcCol="1270" anchor="t" anchorCtr="0">
          <a:noAutofit/>
        </a:bodyPr>
        <a:lstStyle/>
        <a:p>
          <a:pPr marL="0" lvl="0" indent="0" algn="l" defTabSz="711200">
            <a:lnSpc>
              <a:spcPct val="90000"/>
            </a:lnSpc>
            <a:spcBef>
              <a:spcPct val="0"/>
            </a:spcBef>
            <a:spcAft>
              <a:spcPct val="35000"/>
            </a:spcAft>
            <a:buNone/>
          </a:pPr>
          <a:r>
            <a:rPr lang="en-US" sz="1600" b="1" kern="1200" dirty="0"/>
            <a:t>Cost Reduction: Regular check-ups detect health issues early, reducing the need for expensive treatments and lowering overall healthcare costs.</a:t>
          </a:r>
        </a:p>
      </dsp:txBody>
      <dsp:txXfrm>
        <a:off x="6805" y="1552878"/>
        <a:ext cx="2004953" cy="2363134"/>
      </dsp:txXfrm>
    </dsp:sp>
    <dsp:sp modelId="{FE34BACC-7B52-4936-9BA2-146E23936981}">
      <dsp:nvSpPr>
        <dsp:cNvPr id="0" name=""/>
        <dsp:cNvSpPr/>
      </dsp:nvSpPr>
      <dsp:spPr>
        <a:xfrm>
          <a:off x="2234531" y="533875"/>
          <a:ext cx="2004953"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F017A1D-BACB-40B6-8143-37B973FAF619}">
      <dsp:nvSpPr>
        <dsp:cNvPr id="0" name=""/>
        <dsp:cNvSpPr/>
      </dsp:nvSpPr>
      <dsp:spPr>
        <a:xfrm>
          <a:off x="4292949" y="458986"/>
          <a:ext cx="102475" cy="192663"/>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B280E74-C0BB-4E69-AB29-16F6B31B1019}">
      <dsp:nvSpPr>
        <dsp:cNvPr id="0" name=""/>
        <dsp:cNvSpPr/>
      </dsp:nvSpPr>
      <dsp:spPr>
        <a:xfrm>
          <a:off x="2784630" y="81534"/>
          <a:ext cx="904753" cy="90475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09" tIns="35109" rIns="35109" bIns="35109" numCol="1" spcCol="1270" anchor="ctr" anchorCtr="0">
          <a:noAutofit/>
        </a:bodyPr>
        <a:lstStyle/>
        <a:p>
          <a:pPr marL="0" lvl="0" indent="0" algn="ctr" defTabSz="1955800">
            <a:lnSpc>
              <a:spcPct val="90000"/>
            </a:lnSpc>
            <a:spcBef>
              <a:spcPct val="0"/>
            </a:spcBef>
            <a:spcAft>
              <a:spcPct val="35000"/>
            </a:spcAft>
            <a:buNone/>
          </a:pPr>
          <a:r>
            <a:rPr lang="en-US" sz="4400" kern="1200"/>
            <a:t>2</a:t>
          </a:r>
        </a:p>
      </dsp:txBody>
      <dsp:txXfrm>
        <a:off x="2917128" y="214032"/>
        <a:ext cx="639757" cy="639757"/>
      </dsp:txXfrm>
    </dsp:sp>
    <dsp:sp modelId="{2FAAD14D-29E6-4D16-B6FF-83C722C7A1DF}">
      <dsp:nvSpPr>
        <dsp:cNvPr id="0" name=""/>
        <dsp:cNvSpPr/>
      </dsp:nvSpPr>
      <dsp:spPr>
        <a:xfrm>
          <a:off x="2234531" y="1151887"/>
          <a:ext cx="2004953" cy="276412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153" tIns="165100" rIns="158153" bIns="165100" numCol="1" spcCol="1270" anchor="t" anchorCtr="0">
          <a:noAutofit/>
        </a:bodyPr>
        <a:lstStyle/>
        <a:p>
          <a:pPr marL="0" lvl="0" indent="0" algn="l" defTabSz="622300">
            <a:lnSpc>
              <a:spcPct val="90000"/>
            </a:lnSpc>
            <a:spcBef>
              <a:spcPct val="0"/>
            </a:spcBef>
            <a:spcAft>
              <a:spcPct val="35000"/>
            </a:spcAft>
            <a:buNone/>
          </a:pPr>
          <a:r>
            <a:rPr lang="en-US" sz="1400" b="1" kern="1200" dirty="0"/>
            <a:t>Affordable Options: Price comparisons between private and government labs help individuals choose affordable options, cutting out-of-pocket expenses.</a:t>
          </a:r>
        </a:p>
      </dsp:txBody>
      <dsp:txXfrm>
        <a:off x="2234531" y="1552878"/>
        <a:ext cx="2004953" cy="2363134"/>
      </dsp:txXfrm>
    </dsp:sp>
    <dsp:sp modelId="{22021C4C-BBD0-4DEB-9BB5-7647F74A31C7}">
      <dsp:nvSpPr>
        <dsp:cNvPr id="0" name=""/>
        <dsp:cNvSpPr/>
      </dsp:nvSpPr>
      <dsp:spPr>
        <a:xfrm>
          <a:off x="4462256" y="533875"/>
          <a:ext cx="2004953"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0570CE-EA02-493F-A9D3-C532D6C133DC}">
      <dsp:nvSpPr>
        <dsp:cNvPr id="0" name=""/>
        <dsp:cNvSpPr/>
      </dsp:nvSpPr>
      <dsp:spPr>
        <a:xfrm>
          <a:off x="6520675" y="458986"/>
          <a:ext cx="102475" cy="192663"/>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808B1D-7086-49F2-8207-345DF6C7741E}">
      <dsp:nvSpPr>
        <dsp:cNvPr id="0" name=""/>
        <dsp:cNvSpPr/>
      </dsp:nvSpPr>
      <dsp:spPr>
        <a:xfrm>
          <a:off x="5012356" y="81534"/>
          <a:ext cx="904753" cy="90475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09" tIns="35109" rIns="35109" bIns="35109" numCol="1" spcCol="1270" anchor="ctr" anchorCtr="0">
          <a:noAutofit/>
        </a:bodyPr>
        <a:lstStyle/>
        <a:p>
          <a:pPr marL="0" lvl="0" indent="0" algn="ctr" defTabSz="1955800">
            <a:lnSpc>
              <a:spcPct val="90000"/>
            </a:lnSpc>
            <a:spcBef>
              <a:spcPct val="0"/>
            </a:spcBef>
            <a:spcAft>
              <a:spcPct val="35000"/>
            </a:spcAft>
            <a:buNone/>
          </a:pPr>
          <a:r>
            <a:rPr lang="en-US" sz="4400" kern="1200"/>
            <a:t>3</a:t>
          </a:r>
        </a:p>
      </dsp:txBody>
      <dsp:txXfrm>
        <a:off x="5144854" y="214032"/>
        <a:ext cx="639757" cy="639757"/>
      </dsp:txXfrm>
    </dsp:sp>
    <dsp:sp modelId="{10050A3F-5F9E-49B5-8AA4-456DEA6A6A93}">
      <dsp:nvSpPr>
        <dsp:cNvPr id="0" name=""/>
        <dsp:cNvSpPr/>
      </dsp:nvSpPr>
      <dsp:spPr>
        <a:xfrm>
          <a:off x="4462256" y="1151887"/>
          <a:ext cx="2004953" cy="276412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153" tIns="165100" rIns="158153" bIns="165100" numCol="1" spcCol="1270" anchor="t" anchorCtr="0">
          <a:noAutofit/>
        </a:bodyPr>
        <a:lstStyle/>
        <a:p>
          <a:pPr marL="0" lvl="0" indent="0" algn="l" defTabSz="622300">
            <a:lnSpc>
              <a:spcPct val="90000"/>
            </a:lnSpc>
            <a:spcBef>
              <a:spcPct val="0"/>
            </a:spcBef>
            <a:spcAft>
              <a:spcPct val="35000"/>
            </a:spcAft>
            <a:buNone/>
          </a:pPr>
          <a:r>
            <a:rPr lang="en-US" sz="1400" b="1" kern="1200" dirty="0"/>
            <a:t>Better Resource Utilization: Early detection optimizes healthcare resources, reducing unnecessary hospitalizations.</a:t>
          </a:r>
        </a:p>
      </dsp:txBody>
      <dsp:txXfrm>
        <a:off x="4462256" y="1552878"/>
        <a:ext cx="2004953" cy="2363134"/>
      </dsp:txXfrm>
    </dsp:sp>
    <dsp:sp modelId="{05C87EB3-A21D-4EFA-8B94-50FDF209916A}">
      <dsp:nvSpPr>
        <dsp:cNvPr id="0" name=""/>
        <dsp:cNvSpPr/>
      </dsp:nvSpPr>
      <dsp:spPr>
        <a:xfrm>
          <a:off x="6689982" y="533875"/>
          <a:ext cx="2004953"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6697CF8-3B88-47BA-A6EF-E070F02E30BC}">
      <dsp:nvSpPr>
        <dsp:cNvPr id="0" name=""/>
        <dsp:cNvSpPr/>
      </dsp:nvSpPr>
      <dsp:spPr>
        <a:xfrm>
          <a:off x="8748400" y="458986"/>
          <a:ext cx="102475" cy="192663"/>
        </a:xfrm>
        <a:prstGeom prst="chevron">
          <a:avLst>
            <a:gd name="adj" fmla="val 9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7E4441-5F07-4C19-9428-743BE519A56B}">
      <dsp:nvSpPr>
        <dsp:cNvPr id="0" name=""/>
        <dsp:cNvSpPr/>
      </dsp:nvSpPr>
      <dsp:spPr>
        <a:xfrm>
          <a:off x="7240082" y="81534"/>
          <a:ext cx="904753" cy="90475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09" tIns="35109" rIns="35109" bIns="35109" numCol="1" spcCol="1270" anchor="ctr" anchorCtr="0">
          <a:noAutofit/>
        </a:bodyPr>
        <a:lstStyle/>
        <a:p>
          <a:pPr marL="0" lvl="0" indent="0" algn="ctr" defTabSz="1955800">
            <a:lnSpc>
              <a:spcPct val="90000"/>
            </a:lnSpc>
            <a:spcBef>
              <a:spcPct val="0"/>
            </a:spcBef>
            <a:spcAft>
              <a:spcPct val="35000"/>
            </a:spcAft>
            <a:buNone/>
          </a:pPr>
          <a:r>
            <a:rPr lang="en-US" sz="4400" kern="1200"/>
            <a:t>4</a:t>
          </a:r>
        </a:p>
      </dsp:txBody>
      <dsp:txXfrm>
        <a:off x="7372580" y="214032"/>
        <a:ext cx="639757" cy="639757"/>
      </dsp:txXfrm>
    </dsp:sp>
    <dsp:sp modelId="{2DDEE962-D332-456B-8EDB-3F8A9074B0B1}">
      <dsp:nvSpPr>
        <dsp:cNvPr id="0" name=""/>
        <dsp:cNvSpPr/>
      </dsp:nvSpPr>
      <dsp:spPr>
        <a:xfrm>
          <a:off x="6689982" y="1151887"/>
          <a:ext cx="2004953" cy="276412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153" tIns="165100" rIns="158153" bIns="165100" numCol="1" spcCol="1270" anchor="t" anchorCtr="0">
          <a:noAutofit/>
        </a:bodyPr>
        <a:lstStyle/>
        <a:p>
          <a:pPr marL="0" lvl="0" indent="0" algn="l" defTabSz="622300">
            <a:lnSpc>
              <a:spcPct val="90000"/>
            </a:lnSpc>
            <a:spcBef>
              <a:spcPct val="0"/>
            </a:spcBef>
            <a:spcAft>
              <a:spcPct val="35000"/>
            </a:spcAft>
            <a:buNone/>
          </a:pPr>
          <a:r>
            <a:rPr lang="en-US" sz="1400" b="1" kern="1200"/>
            <a:t>Long-Term Savings: Early screenings prevent chronic diseases, saving long-term healthcare costs.</a:t>
          </a:r>
        </a:p>
      </dsp:txBody>
      <dsp:txXfrm>
        <a:off x="6689982" y="1552878"/>
        <a:ext cx="2004953" cy="2363134"/>
      </dsp:txXfrm>
    </dsp:sp>
    <dsp:sp modelId="{71537919-18D0-427D-8DDB-3E257C1AD9E9}">
      <dsp:nvSpPr>
        <dsp:cNvPr id="0" name=""/>
        <dsp:cNvSpPr/>
      </dsp:nvSpPr>
      <dsp:spPr>
        <a:xfrm>
          <a:off x="8917707" y="533874"/>
          <a:ext cx="1002476" cy="72"/>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CE2301-7A9D-4E9A-8247-EF89027ABC3E}">
      <dsp:nvSpPr>
        <dsp:cNvPr id="0" name=""/>
        <dsp:cNvSpPr/>
      </dsp:nvSpPr>
      <dsp:spPr>
        <a:xfrm>
          <a:off x="9467807" y="81534"/>
          <a:ext cx="904753" cy="904753"/>
        </a:xfrm>
        <a:prstGeom prst="ellips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5109" tIns="35109" rIns="35109" bIns="35109" numCol="1" spcCol="1270" anchor="ctr" anchorCtr="0">
          <a:noAutofit/>
        </a:bodyPr>
        <a:lstStyle/>
        <a:p>
          <a:pPr marL="0" lvl="0" indent="0" algn="ctr" defTabSz="1955800">
            <a:lnSpc>
              <a:spcPct val="90000"/>
            </a:lnSpc>
            <a:spcBef>
              <a:spcPct val="0"/>
            </a:spcBef>
            <a:spcAft>
              <a:spcPct val="35000"/>
            </a:spcAft>
            <a:buNone/>
          </a:pPr>
          <a:r>
            <a:rPr lang="en-US" sz="4400" kern="1200"/>
            <a:t>5</a:t>
          </a:r>
        </a:p>
      </dsp:txBody>
      <dsp:txXfrm>
        <a:off x="9600305" y="214032"/>
        <a:ext cx="639757" cy="639757"/>
      </dsp:txXfrm>
    </dsp:sp>
    <dsp:sp modelId="{57831A70-9F7A-4130-AC78-B8767882E188}">
      <dsp:nvSpPr>
        <dsp:cNvPr id="0" name=""/>
        <dsp:cNvSpPr/>
      </dsp:nvSpPr>
      <dsp:spPr>
        <a:xfrm>
          <a:off x="8917707" y="1151887"/>
          <a:ext cx="2004953" cy="2764125"/>
        </a:xfrm>
        <a:prstGeom prst="upArrowCallout">
          <a:avLst>
            <a:gd name="adj1" fmla="val 50000"/>
            <a:gd name="adj2" fmla="val 20000"/>
            <a:gd name="adj3" fmla="val 20000"/>
            <a:gd name="adj4" fmla="val 100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8153" tIns="165100" rIns="158153" bIns="165100" numCol="1" spcCol="1270" anchor="t" anchorCtr="0">
          <a:noAutofit/>
        </a:bodyPr>
        <a:lstStyle/>
        <a:p>
          <a:pPr marL="0" lvl="0" indent="0" algn="l" defTabSz="622300">
            <a:lnSpc>
              <a:spcPct val="90000"/>
            </a:lnSpc>
            <a:spcBef>
              <a:spcPct val="0"/>
            </a:spcBef>
            <a:spcAft>
              <a:spcPct val="35000"/>
            </a:spcAft>
            <a:buNone/>
          </a:pPr>
          <a:r>
            <a:rPr lang="en-US" sz="1400" b="1" kern="1200"/>
            <a:t>Incentives to Lower Costs: Loyalty points and rewards for regular check-ups encourage participation and provide discounts, further reducing costs.</a:t>
          </a:r>
        </a:p>
      </dsp:txBody>
      <dsp:txXfrm>
        <a:off x="8917707" y="1552878"/>
        <a:ext cx="2004953" cy="2363134"/>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8.xml><?xml version="1.0" encoding="utf-8"?>
<dgm:layoutDef xmlns:dgm="http://schemas.openxmlformats.org/drawingml/2006/diagram" xmlns:a="http://schemas.openxmlformats.org/drawingml/2006/main" uniqueId="urn:microsoft.com/office/officeart/2016/7/layout/LinearArrowProcessNumbered">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C7FF7DD-B49C-A031-619A-9048940800D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2CE8CFD-D4C6-A9B0-253D-8A43A5FAAC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2542E95-86C6-4C6F-9270-F50C32D8E13D}" type="datetimeFigureOut">
              <a:rPr lang="en-US" smtClean="0"/>
              <a:t>09-Dec-24</a:t>
            </a:fld>
            <a:endParaRPr lang="en-US"/>
          </a:p>
        </p:txBody>
      </p:sp>
      <p:sp>
        <p:nvSpPr>
          <p:cNvPr id="4" name="Footer Placeholder 3">
            <a:extLst>
              <a:ext uri="{FF2B5EF4-FFF2-40B4-BE49-F238E27FC236}">
                <a16:creationId xmlns:a16="http://schemas.microsoft.com/office/drawing/2014/main" id="{8A3A714A-43A5-5FB7-AFA7-63A1F0924A7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6B627BC-9BB3-A5DB-14BD-3A6606A62C2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1E66A62-E462-464F-B152-C266E6B9BF37}" type="slidenum">
              <a:rPr lang="en-US" smtClean="0"/>
              <a:t>‹#›</a:t>
            </a:fld>
            <a:endParaRPr lang="en-US"/>
          </a:p>
        </p:txBody>
      </p:sp>
    </p:spTree>
    <p:extLst>
      <p:ext uri="{BB962C8B-B14F-4D97-AF65-F5344CB8AC3E}">
        <p14:creationId xmlns:p14="http://schemas.microsoft.com/office/powerpoint/2010/main" val="56982156"/>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953F75-F524-4870-8A02-21AF0F7C2B15}" type="datetimeFigureOut">
              <a:rPr lang="en-US" smtClean="0"/>
              <a:t>09-Dec-24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048149-04C0-4123-8440-1D078CB4F4DA}" type="slidenum">
              <a:rPr lang="en-US" smtClean="0"/>
              <a:t>‹#›</a:t>
            </a:fld>
            <a:endParaRPr lang="en-US"/>
          </a:p>
        </p:txBody>
      </p:sp>
    </p:spTree>
    <p:extLst>
      <p:ext uri="{BB962C8B-B14F-4D97-AF65-F5344CB8AC3E}">
        <p14:creationId xmlns:p14="http://schemas.microsoft.com/office/powerpoint/2010/main" val="1371102536"/>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9C048149-04C0-4123-8440-1D078CB4F4DA}" type="slidenum">
              <a:rPr lang="en-US" smtClean="0"/>
              <a:t>4</a:t>
            </a:fld>
            <a:endParaRPr lang="en-US"/>
          </a:p>
        </p:txBody>
      </p:sp>
    </p:spTree>
    <p:extLst>
      <p:ext uri="{BB962C8B-B14F-4D97-AF65-F5344CB8AC3E}">
        <p14:creationId xmlns:p14="http://schemas.microsoft.com/office/powerpoint/2010/main" val="39281731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Slide Number Placeholder 4"/>
          <p:cNvSpPr>
            <a:spLocks noGrp="1"/>
          </p:cNvSpPr>
          <p:nvPr>
            <p:ph type="sldNum" sz="quarter" idx="5"/>
          </p:nvPr>
        </p:nvSpPr>
        <p:spPr/>
        <p:txBody>
          <a:bodyPr/>
          <a:lstStyle/>
          <a:p>
            <a:fld id="{9C048149-04C0-4123-8440-1D078CB4F4DA}" type="slidenum">
              <a:rPr lang="en-US" smtClean="0"/>
              <a:t>6</a:t>
            </a:fld>
            <a:endParaRPr lang="en-US"/>
          </a:p>
        </p:txBody>
      </p:sp>
    </p:spTree>
    <p:extLst>
      <p:ext uri="{BB962C8B-B14F-4D97-AF65-F5344CB8AC3E}">
        <p14:creationId xmlns:p14="http://schemas.microsoft.com/office/powerpoint/2010/main" val="1865302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07064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98987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146398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080311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644734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876932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535389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0297889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19651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719415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1359437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Placeholder 7">
            <a:extLst>
              <a:ext uri="{FF2B5EF4-FFF2-40B4-BE49-F238E27FC236}">
                <a16:creationId xmlns:a16="http://schemas.microsoft.com/office/drawing/2014/main" id="{B4518BE7-8E38-1FFF-F462-32F558F20217}"/>
              </a:ext>
            </a:extLst>
          </p:cNvPr>
          <p:cNvSpPr>
            <a:spLocks noGrp="1"/>
          </p:cNvSpPr>
          <p:nvPr>
            <p:ph sz="quarter" idx="10"/>
          </p:nvPr>
        </p:nvSpPr>
        <p:spPr>
          <a:xfrm>
            <a:off x="11026775" y="136525"/>
            <a:ext cx="1011238" cy="6413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45474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700247983"/>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jpeg"/><Relationship Id="rId7"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diagramColors" Target="../diagrams/colors4.xml"/><Relationship Id="rId3" Type="http://schemas.openxmlformats.org/officeDocument/2006/relationships/chart" Target="../charts/chart1.xml"/><Relationship Id="rId7" Type="http://schemas.openxmlformats.org/officeDocument/2006/relationships/diagramQuickStyle" Target="../diagrams/quickStyle3.xml"/><Relationship Id="rId12" Type="http://schemas.openxmlformats.org/officeDocument/2006/relationships/diagramQuickStyle" Target="../diagrams/quickStyle4.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Layout" Target="../diagrams/layout3.xml"/><Relationship Id="rId11" Type="http://schemas.openxmlformats.org/officeDocument/2006/relationships/diagramLayout" Target="../diagrams/layout4.xml"/><Relationship Id="rId5" Type="http://schemas.openxmlformats.org/officeDocument/2006/relationships/diagramData" Target="../diagrams/data3.xml"/><Relationship Id="rId10" Type="http://schemas.openxmlformats.org/officeDocument/2006/relationships/diagramData" Target="../diagrams/data4.xml"/><Relationship Id="rId4" Type="http://schemas.openxmlformats.org/officeDocument/2006/relationships/chart" Target="../charts/chart2.xml"/><Relationship Id="rId9" Type="http://schemas.microsoft.com/office/2007/relationships/diagramDrawing" Target="../diagrams/drawing3.xml"/><Relationship Id="rId14" Type="http://schemas.microsoft.com/office/2007/relationships/diagramDrawing" Target="../diagrams/drawing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3" Type="http://schemas.openxmlformats.org/officeDocument/2006/relationships/chart" Target="../charts/chart4.xml"/><Relationship Id="rId7" Type="http://schemas.openxmlformats.org/officeDocument/2006/relationships/diagramColors" Target="../diagrams/colors5.xml"/><Relationship Id="rId12" Type="http://schemas.openxmlformats.org/officeDocument/2006/relationships/diagramColors" Target="../diagrams/colors6.xml"/><Relationship Id="rId2" Type="http://schemas.openxmlformats.org/officeDocument/2006/relationships/chart" Target="../charts/chart3.xml"/><Relationship Id="rId1" Type="http://schemas.openxmlformats.org/officeDocument/2006/relationships/slideLayout" Target="../slideLayouts/slideLayout12.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5" name="Picture 4" descr="A scale with a clock and a medical kit on it&#10;&#10;Description automatically generated">
            <a:extLst>
              <a:ext uri="{FF2B5EF4-FFF2-40B4-BE49-F238E27FC236}">
                <a16:creationId xmlns:a16="http://schemas.microsoft.com/office/drawing/2014/main" id="{EABB8C2B-5C55-E906-58A1-EDBCF513D158}"/>
              </a:ext>
            </a:extLst>
          </p:cNvPr>
          <p:cNvPicPr>
            <a:picLocks noChangeAspect="1"/>
          </p:cNvPicPr>
          <p:nvPr/>
        </p:nvPicPr>
        <p:blipFill>
          <a:blip r:embed="rId2">
            <a:alphaModFix amt="50000"/>
          </a:blip>
          <a:srcRect t="881"/>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dirty="0">
                <a:solidFill>
                  <a:srgbClr val="FFFFFF"/>
                </a:solidFill>
              </a:rPr>
              <a:t>Breaking Barriers: Making Preventive Healthcare Affordable</a:t>
            </a:r>
          </a:p>
        </p:txBody>
      </p:sp>
      <p:sp>
        <p:nvSpPr>
          <p:cNvPr id="3" name="Subtitle 2">
            <a:extLst>
              <a:ext uri="{FF2B5EF4-FFF2-40B4-BE49-F238E27FC236}">
                <a16:creationId xmlns:a16="http://schemas.microsoft.com/office/drawing/2014/main" id="{653C48E6-DBAB-63BA-914D-0D1716B53EC5}"/>
              </a:ext>
            </a:extLst>
          </p:cNvPr>
          <p:cNvSpPr>
            <a:spLocks noGrp="1"/>
          </p:cNvSpPr>
          <p:nvPr>
            <p:ph type="subTitle" idx="1"/>
          </p:nvPr>
        </p:nvSpPr>
        <p:spPr>
          <a:xfrm>
            <a:off x="1524000" y="0"/>
            <a:ext cx="9144000" cy="1197213"/>
          </a:xfrm>
        </p:spPr>
        <p:txBody>
          <a:bodyPr/>
          <a:lstStyle/>
          <a:p>
            <a:r>
              <a:rPr lang="en-US" b="1" dirty="0"/>
              <a:t>AAVISHKAR</a:t>
            </a:r>
          </a:p>
          <a:p>
            <a:r>
              <a:rPr lang="en-US" b="1" dirty="0"/>
              <a:t>Inter-Collegiate/Institute/Department Research Convention</a:t>
            </a:r>
          </a:p>
          <a:p>
            <a:endParaRPr lang="en-US" b="1" dirty="0"/>
          </a:p>
        </p:txBody>
      </p:sp>
      <p:sp>
        <p:nvSpPr>
          <p:cNvPr id="4" name="TextBox 3">
            <a:extLst>
              <a:ext uri="{FF2B5EF4-FFF2-40B4-BE49-F238E27FC236}">
                <a16:creationId xmlns:a16="http://schemas.microsoft.com/office/drawing/2014/main" id="{92814726-92E9-ED1F-6821-079516245BFF}"/>
              </a:ext>
            </a:extLst>
          </p:cNvPr>
          <p:cNvSpPr txBox="1"/>
          <p:nvPr/>
        </p:nvSpPr>
        <p:spPr>
          <a:xfrm>
            <a:off x="10510684" y="827881"/>
            <a:ext cx="1463777" cy="369332"/>
          </a:xfrm>
          <a:prstGeom prst="rect">
            <a:avLst/>
          </a:prstGeom>
          <a:noFill/>
        </p:spPr>
        <p:txBody>
          <a:bodyPr wrap="square">
            <a:spAutoFit/>
          </a:bodyPr>
          <a:lstStyle/>
          <a:p>
            <a:r>
              <a:rPr lang="en-US" b="1" dirty="0"/>
              <a:t>Level : UG</a:t>
            </a:r>
          </a:p>
        </p:txBody>
      </p:sp>
      <p:sp>
        <p:nvSpPr>
          <p:cNvPr id="6" name="TextBox 5">
            <a:extLst>
              <a:ext uri="{FF2B5EF4-FFF2-40B4-BE49-F238E27FC236}">
                <a16:creationId xmlns:a16="http://schemas.microsoft.com/office/drawing/2014/main" id="{F3CE00F6-FF99-5A35-08E0-222D69A0D5CA}"/>
              </a:ext>
            </a:extLst>
          </p:cNvPr>
          <p:cNvSpPr txBox="1"/>
          <p:nvPr/>
        </p:nvSpPr>
        <p:spPr>
          <a:xfrm>
            <a:off x="217539" y="827881"/>
            <a:ext cx="1508023" cy="369332"/>
          </a:xfrm>
          <a:prstGeom prst="rect">
            <a:avLst/>
          </a:prstGeom>
          <a:noFill/>
        </p:spPr>
        <p:txBody>
          <a:bodyPr wrap="square">
            <a:spAutoFit/>
          </a:bodyPr>
          <a:lstStyle/>
          <a:p>
            <a:r>
              <a:rPr lang="en-US" b="1" dirty="0"/>
              <a:t>Category:</a:t>
            </a:r>
          </a:p>
        </p:txBody>
      </p:sp>
      <p:sp>
        <p:nvSpPr>
          <p:cNvPr id="7" name="TextBox 6">
            <a:extLst>
              <a:ext uri="{FF2B5EF4-FFF2-40B4-BE49-F238E27FC236}">
                <a16:creationId xmlns:a16="http://schemas.microsoft.com/office/drawing/2014/main" id="{8271850D-53E8-1EA2-2DFD-4BB142DE762E}"/>
              </a:ext>
            </a:extLst>
          </p:cNvPr>
          <p:cNvSpPr txBox="1"/>
          <p:nvPr/>
        </p:nvSpPr>
        <p:spPr>
          <a:xfrm>
            <a:off x="5533717" y="5891670"/>
            <a:ext cx="1124565" cy="369332"/>
          </a:xfrm>
          <a:prstGeom prst="rect">
            <a:avLst/>
          </a:prstGeom>
          <a:noFill/>
        </p:spPr>
        <p:txBody>
          <a:bodyPr wrap="square">
            <a:spAutoFit/>
          </a:bodyPr>
          <a:lstStyle/>
          <a:p>
            <a:r>
              <a:rPr lang="en-US" b="1" dirty="0"/>
              <a:t>Slot No:</a:t>
            </a: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97156-32B2-7615-10EA-C0AC468D2288}"/>
              </a:ext>
            </a:extLst>
          </p:cNvPr>
          <p:cNvSpPr>
            <a:spLocks noGrp="1"/>
          </p:cNvSpPr>
          <p:nvPr>
            <p:ph type="title"/>
          </p:nvPr>
        </p:nvSpPr>
        <p:spPr>
          <a:xfrm>
            <a:off x="711470" y="-300138"/>
            <a:ext cx="5251316" cy="1807305"/>
          </a:xfrm>
        </p:spPr>
        <p:txBody>
          <a:bodyPr vert="horz" lIns="91440" tIns="45720" rIns="91440" bIns="45720" rtlCol="0">
            <a:normAutofit/>
          </a:bodyPr>
          <a:lstStyle/>
          <a:p>
            <a:r>
              <a:rPr lang="en-US" b="1" kern="1200" dirty="0">
                <a:latin typeface="+mj-lt"/>
                <a:ea typeface="+mj-ea"/>
                <a:cs typeface="+mj-cs"/>
              </a:rPr>
              <a:t>Abstract</a:t>
            </a:r>
            <a:endParaRPr lang="en-US" kern="1200" dirty="0">
              <a:latin typeface="+mj-lt"/>
              <a:ea typeface="+mj-ea"/>
              <a:cs typeface="+mj-cs"/>
            </a:endParaRPr>
          </a:p>
        </p:txBody>
      </p:sp>
      <p:sp>
        <p:nvSpPr>
          <p:cNvPr id="49" name="Content Placeholder 2">
            <a:extLst>
              <a:ext uri="{FF2B5EF4-FFF2-40B4-BE49-F238E27FC236}">
                <a16:creationId xmlns:a16="http://schemas.microsoft.com/office/drawing/2014/main" id="{6B18DFF8-C72A-17D8-EA36-9811CFB2F4AE}"/>
              </a:ext>
            </a:extLst>
          </p:cNvPr>
          <p:cNvSpPr>
            <a:spLocks noGrp="1"/>
          </p:cNvSpPr>
          <p:nvPr>
            <p:ph idx="1"/>
          </p:nvPr>
        </p:nvSpPr>
        <p:spPr>
          <a:xfrm>
            <a:off x="355736" y="1507167"/>
            <a:ext cx="5962784" cy="5350833"/>
          </a:xfrm>
        </p:spPr>
        <p:txBody>
          <a:bodyPr vert="horz" lIns="91440" tIns="45720" rIns="91440" bIns="45720" rtlCol="0">
            <a:noAutofit/>
          </a:bodyPr>
          <a:lstStyle/>
          <a:p>
            <a:pPr marL="457200" indent="-457200">
              <a:buFont typeface="+mj-lt"/>
              <a:buAutoNum type="arabicPeriod"/>
            </a:pPr>
            <a:r>
              <a:rPr lang="en-US" sz="2000" dirty="0"/>
              <a:t>This study examines factors affecting participation in preventive health screenings, including cost, income, awareness, and time constraints.</a:t>
            </a:r>
          </a:p>
          <a:p>
            <a:pPr marL="457200" indent="-457200">
              <a:buFont typeface="+mj-lt"/>
              <a:buAutoNum type="arabicPeriod"/>
            </a:pPr>
            <a:endParaRPr lang="en-US" sz="2000" dirty="0"/>
          </a:p>
          <a:p>
            <a:pPr marL="457200" indent="-457200">
              <a:buFont typeface="+mj-lt"/>
              <a:buAutoNum type="arabicPeriod"/>
            </a:pPr>
            <a:r>
              <a:rPr lang="en-US" sz="2000" dirty="0"/>
              <a:t> Results reveal that high costs and low-income levels significantly reduce screening frequency, while reducing costs increases participation. </a:t>
            </a:r>
          </a:p>
          <a:p>
            <a:pPr marL="457200" indent="-457200">
              <a:buFont typeface="+mj-lt"/>
              <a:buAutoNum type="arabicPeriod"/>
            </a:pPr>
            <a:endParaRPr lang="en-US" sz="2000" dirty="0"/>
          </a:p>
          <a:p>
            <a:pPr marL="457200" indent="-457200">
              <a:buFont typeface="+mj-lt"/>
              <a:buAutoNum type="arabicPeriod"/>
            </a:pPr>
            <a:r>
              <a:rPr lang="en-US" sz="2000" dirty="0"/>
              <a:t>A moderate positive correlation between income and screening frequency was found. Incentives like tax benefits or insurance discounts were identified as motivators. </a:t>
            </a:r>
          </a:p>
          <a:p>
            <a:pPr marL="457200" indent="-457200">
              <a:buFont typeface="+mj-lt"/>
              <a:buAutoNum type="arabicPeriod"/>
            </a:pPr>
            <a:endParaRPr lang="en-US" sz="2000" dirty="0"/>
          </a:p>
          <a:p>
            <a:pPr marL="457200" indent="-457200">
              <a:buFont typeface="+mj-lt"/>
              <a:buAutoNum type="arabicPeriod"/>
            </a:pPr>
            <a:r>
              <a:rPr lang="en-US" sz="2000" dirty="0"/>
              <a:t>These findings highlight the need for affordable and accessible preventive healthcare solutions.</a:t>
            </a:r>
          </a:p>
        </p:txBody>
      </p:sp>
      <p:pic>
        <p:nvPicPr>
          <p:cNvPr id="50" name="Picture 49" descr="3D Hologram from iPad">
            <a:extLst>
              <a:ext uri="{FF2B5EF4-FFF2-40B4-BE49-F238E27FC236}">
                <a16:creationId xmlns:a16="http://schemas.microsoft.com/office/drawing/2014/main" id="{0A71AD3B-C551-7078-C934-D9F77C4531CA}"/>
              </a:ext>
            </a:extLst>
          </p:cNvPr>
          <p:cNvPicPr>
            <a:picLocks noChangeAspect="1"/>
          </p:cNvPicPr>
          <p:nvPr/>
        </p:nvPicPr>
        <p:blipFill>
          <a:blip r:embed="rId2"/>
          <a:srcRect l="12329" r="29633"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TextBox 3">
            <a:extLst>
              <a:ext uri="{FF2B5EF4-FFF2-40B4-BE49-F238E27FC236}">
                <a16:creationId xmlns:a16="http://schemas.microsoft.com/office/drawing/2014/main" id="{179F7E6D-36BE-392C-31F6-5EBCDEF52FAB}"/>
              </a:ext>
            </a:extLst>
          </p:cNvPr>
          <p:cNvSpPr txBox="1"/>
          <p:nvPr/>
        </p:nvSpPr>
        <p:spPr>
          <a:xfrm>
            <a:off x="8391832" y="1179871"/>
            <a:ext cx="693174" cy="369332"/>
          </a:xfrm>
          <a:prstGeom prst="rect">
            <a:avLst/>
          </a:prstGeom>
          <a:noFill/>
        </p:spPr>
        <p:txBody>
          <a:bodyPr wrap="square" rtlCol="0">
            <a:spAutoFit/>
          </a:bodyPr>
          <a:lstStyle/>
          <a:p>
            <a:endParaRPr lang="en-US" dirty="0"/>
          </a:p>
        </p:txBody>
      </p:sp>
      <p:sp>
        <p:nvSpPr>
          <p:cNvPr id="5" name="TextBox 4">
            <a:extLst>
              <a:ext uri="{FF2B5EF4-FFF2-40B4-BE49-F238E27FC236}">
                <a16:creationId xmlns:a16="http://schemas.microsoft.com/office/drawing/2014/main" id="{39E33A4F-8908-D729-EAC0-732BC2AEA741}"/>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2</a:t>
            </a:r>
          </a:p>
        </p:txBody>
      </p:sp>
    </p:spTree>
    <p:extLst>
      <p:ext uri="{BB962C8B-B14F-4D97-AF65-F5344CB8AC3E}">
        <p14:creationId xmlns:p14="http://schemas.microsoft.com/office/powerpoint/2010/main" val="93215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E71D228D-8FB8-2BE3-816C-54007B7148E6}"/>
              </a:ext>
            </a:extLst>
          </p:cNvPr>
          <p:cNvPicPr>
            <a:picLocks noChangeAspect="1"/>
          </p:cNvPicPr>
          <p:nvPr/>
        </p:nvPicPr>
        <p:blipFill>
          <a:blip r:embed="rId2">
            <a:alphaModFix amt="35000"/>
          </a:blip>
          <a:srcRect t="15413"/>
          <a:stretch/>
        </p:blipFill>
        <p:spPr>
          <a:xfrm>
            <a:off x="20" y="10"/>
            <a:ext cx="12191980" cy="6857990"/>
          </a:xfrm>
          <a:prstGeom prst="rect">
            <a:avLst/>
          </a:prstGeom>
        </p:spPr>
      </p:pic>
      <p:sp>
        <p:nvSpPr>
          <p:cNvPr id="2" name="Title 1">
            <a:extLst>
              <a:ext uri="{FF2B5EF4-FFF2-40B4-BE49-F238E27FC236}">
                <a16:creationId xmlns:a16="http://schemas.microsoft.com/office/drawing/2014/main" id="{2DD559C1-E869-3E8B-EAFD-8E993A5795F9}"/>
              </a:ext>
            </a:extLst>
          </p:cNvPr>
          <p:cNvSpPr>
            <a:spLocks noGrp="1"/>
          </p:cNvSpPr>
          <p:nvPr>
            <p:ph type="title"/>
          </p:nvPr>
        </p:nvSpPr>
        <p:spPr/>
        <p:txBody>
          <a:bodyPr>
            <a:normAutofit/>
          </a:bodyPr>
          <a:lstStyle/>
          <a:p>
            <a:r>
              <a:rPr lang="en-US" dirty="0">
                <a:solidFill>
                  <a:srgbClr val="FFFFFF"/>
                </a:solidFill>
              </a:rPr>
              <a:t>INTRODUCTION</a:t>
            </a:r>
          </a:p>
        </p:txBody>
      </p:sp>
      <p:graphicFrame>
        <p:nvGraphicFramePr>
          <p:cNvPr id="9" name="Content Placeholder 2">
            <a:extLst>
              <a:ext uri="{FF2B5EF4-FFF2-40B4-BE49-F238E27FC236}">
                <a16:creationId xmlns:a16="http://schemas.microsoft.com/office/drawing/2014/main" id="{0F5CCF2A-BFB8-0B8F-6575-EAE13289FDD6}"/>
              </a:ext>
            </a:extLst>
          </p:cNvPr>
          <p:cNvGraphicFramePr>
            <a:graphicFrameLocks noGrp="1"/>
          </p:cNvGraphicFramePr>
          <p:nvPr>
            <p:ph idx="1"/>
            <p:extLst>
              <p:ext uri="{D42A27DB-BD31-4B8C-83A1-F6EECF244321}">
                <p14:modId xmlns:p14="http://schemas.microsoft.com/office/powerpoint/2010/main" val="28216556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EDD4E4C0-C1AE-694A-D81F-A0577E589C02}"/>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3</a:t>
            </a:r>
          </a:p>
        </p:txBody>
      </p:sp>
    </p:spTree>
    <p:extLst>
      <p:ext uri="{BB962C8B-B14F-4D97-AF65-F5344CB8AC3E}">
        <p14:creationId xmlns:p14="http://schemas.microsoft.com/office/powerpoint/2010/main" val="303023449"/>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8" name="Picture 27" descr="An image of a stethoscope within a blue background">
            <a:extLst>
              <a:ext uri="{FF2B5EF4-FFF2-40B4-BE49-F238E27FC236}">
                <a16:creationId xmlns:a16="http://schemas.microsoft.com/office/drawing/2014/main" id="{93FCB555-BF23-EB50-89A5-8D9890F396AA}"/>
              </a:ext>
            </a:extLst>
          </p:cNvPr>
          <p:cNvPicPr>
            <a:picLocks noChangeAspect="1"/>
          </p:cNvPicPr>
          <p:nvPr/>
        </p:nvPicPr>
        <p:blipFill>
          <a:blip r:embed="rId3">
            <a:duotone>
              <a:schemeClr val="bg2">
                <a:shade val="45000"/>
                <a:satMod val="135000"/>
              </a:schemeClr>
              <a:prstClr val="white"/>
            </a:duotone>
          </a:blip>
          <a:srcRect l="9091" t="28481"/>
          <a:stretch/>
        </p:blipFill>
        <p:spPr>
          <a:xfrm>
            <a:off x="20" y="10"/>
            <a:ext cx="12191980" cy="6857990"/>
          </a:xfrm>
          <a:prstGeom prst="rect">
            <a:avLst/>
          </a:prstGeom>
        </p:spPr>
      </p:pic>
      <p:sp>
        <p:nvSpPr>
          <p:cNvPr id="2" name="Title 1">
            <a:extLst>
              <a:ext uri="{FF2B5EF4-FFF2-40B4-BE49-F238E27FC236}">
                <a16:creationId xmlns:a16="http://schemas.microsoft.com/office/drawing/2014/main" id="{74CFC823-7E8A-32EB-DF00-BCB8A0F8C152}"/>
              </a:ext>
            </a:extLst>
          </p:cNvPr>
          <p:cNvSpPr>
            <a:spLocks noGrp="1"/>
          </p:cNvSpPr>
          <p:nvPr>
            <p:ph type="title"/>
          </p:nvPr>
        </p:nvSpPr>
        <p:spPr/>
        <p:txBody>
          <a:bodyPr>
            <a:normAutofit/>
          </a:bodyPr>
          <a:lstStyle/>
          <a:p>
            <a:r>
              <a:rPr lang="en-US" b="1" dirty="0">
                <a:solidFill>
                  <a:schemeClr val="bg1"/>
                </a:solidFill>
              </a:rPr>
              <a:t>OBJECTIVES</a:t>
            </a:r>
          </a:p>
        </p:txBody>
      </p:sp>
      <p:graphicFrame>
        <p:nvGraphicFramePr>
          <p:cNvPr id="30" name="Rectangle 1">
            <a:extLst>
              <a:ext uri="{FF2B5EF4-FFF2-40B4-BE49-F238E27FC236}">
                <a16:creationId xmlns:a16="http://schemas.microsoft.com/office/drawing/2014/main" id="{0B84E29E-6777-4AAF-5165-896482955625}"/>
              </a:ext>
            </a:extLst>
          </p:cNvPr>
          <p:cNvGraphicFramePr>
            <a:graphicFrameLocks noGrp="1"/>
          </p:cNvGraphicFramePr>
          <p:nvPr>
            <p:ph idx="1"/>
            <p:extLst>
              <p:ext uri="{D42A27DB-BD31-4B8C-83A1-F6EECF244321}">
                <p14:modId xmlns:p14="http://schemas.microsoft.com/office/powerpoint/2010/main" val="79796851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TextBox 2">
            <a:extLst>
              <a:ext uri="{FF2B5EF4-FFF2-40B4-BE49-F238E27FC236}">
                <a16:creationId xmlns:a16="http://schemas.microsoft.com/office/drawing/2014/main" id="{6C989312-5955-3C35-3719-4536D0671038}"/>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4</a:t>
            </a:r>
          </a:p>
        </p:txBody>
      </p:sp>
    </p:spTree>
    <p:extLst>
      <p:ext uri="{BB962C8B-B14F-4D97-AF65-F5344CB8AC3E}">
        <p14:creationId xmlns:p14="http://schemas.microsoft.com/office/powerpoint/2010/main" val="2163953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35" name="Rectangle 2934">
            <a:extLst>
              <a:ext uri="{FF2B5EF4-FFF2-40B4-BE49-F238E27FC236}">
                <a16:creationId xmlns:a16="http://schemas.microsoft.com/office/drawing/2014/main" id="{8F90786E-B72D-4C32-BDCE-A170B0078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937" name="Rectangle 2936">
            <a:extLst>
              <a:ext uri="{FF2B5EF4-FFF2-40B4-BE49-F238E27FC236}">
                <a16:creationId xmlns:a16="http://schemas.microsoft.com/office/drawing/2014/main" id="{5E46F2E7-848F-4A6C-A098-4764FDEA7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2923" name="Picture 2922" descr="A blue and yellow triangle pattern&#10;&#10;Description automatically generated">
            <a:extLst>
              <a:ext uri="{FF2B5EF4-FFF2-40B4-BE49-F238E27FC236}">
                <a16:creationId xmlns:a16="http://schemas.microsoft.com/office/drawing/2014/main" id="{EC853602-47E4-661A-286F-73ABA561BC56}"/>
              </a:ext>
            </a:extLst>
          </p:cNvPr>
          <p:cNvPicPr>
            <a:picLocks noChangeAspect="1"/>
          </p:cNvPicPr>
          <p:nvPr/>
        </p:nvPicPr>
        <p:blipFill>
          <a:blip r:embed="rId2">
            <a:alphaModFix amt="60000"/>
          </a:blip>
          <a:srcRect t="15730"/>
          <a:stretch/>
        </p:blipFill>
        <p:spPr>
          <a:xfrm>
            <a:off x="-1" y="10"/>
            <a:ext cx="12192001" cy="6857990"/>
          </a:xfrm>
          <a:prstGeom prst="rect">
            <a:avLst/>
          </a:prstGeom>
        </p:spPr>
      </p:pic>
      <p:sp>
        <p:nvSpPr>
          <p:cNvPr id="2" name="Title 1">
            <a:extLst>
              <a:ext uri="{FF2B5EF4-FFF2-40B4-BE49-F238E27FC236}">
                <a16:creationId xmlns:a16="http://schemas.microsoft.com/office/drawing/2014/main" id="{9F547535-421F-B7F7-B71C-1C7413EDBDB5}"/>
              </a:ext>
            </a:extLst>
          </p:cNvPr>
          <p:cNvSpPr>
            <a:spLocks noGrp="1"/>
          </p:cNvSpPr>
          <p:nvPr>
            <p:ph type="title"/>
          </p:nvPr>
        </p:nvSpPr>
        <p:spPr>
          <a:xfrm>
            <a:off x="629989" y="576513"/>
            <a:ext cx="5155261" cy="4072044"/>
          </a:xfrm>
        </p:spPr>
        <p:txBody>
          <a:bodyPr vert="horz" lIns="91440" tIns="45720" rIns="91440" bIns="45720" rtlCol="0" anchor="t">
            <a:normAutofit/>
          </a:bodyPr>
          <a:lstStyle/>
          <a:p>
            <a:r>
              <a:rPr lang="en-US" b="1" dirty="0">
                <a:solidFill>
                  <a:srgbClr val="FFFFFF"/>
                </a:solidFill>
              </a:rPr>
              <a:t>METHODOLOGY</a:t>
            </a:r>
          </a:p>
        </p:txBody>
      </p:sp>
      <p:sp>
        <p:nvSpPr>
          <p:cNvPr id="14" name="TextBox 13">
            <a:extLst>
              <a:ext uri="{FF2B5EF4-FFF2-40B4-BE49-F238E27FC236}">
                <a16:creationId xmlns:a16="http://schemas.microsoft.com/office/drawing/2014/main" id="{7D4B35AC-E0F5-D50A-F19F-3D7749DD5DF3}"/>
              </a:ext>
            </a:extLst>
          </p:cNvPr>
          <p:cNvSpPr txBox="1"/>
          <p:nvPr/>
        </p:nvSpPr>
        <p:spPr>
          <a:xfrm>
            <a:off x="629989" y="1812321"/>
            <a:ext cx="10922877" cy="3940957"/>
          </a:xfrm>
          <a:prstGeom prst="rect">
            <a:avLst/>
          </a:prstGeom>
        </p:spPr>
        <p:txBody>
          <a:bodyPr vert="horz" lIns="91440" tIns="45720" rIns="91440" bIns="45720" numCol="2" rtlCol="0">
            <a:noAutofit/>
          </a:bodyPr>
          <a:lstStyle/>
          <a:p>
            <a:pPr indent="-228600" defTabSz="914400">
              <a:lnSpc>
                <a:spcPct val="90000"/>
              </a:lnSpc>
              <a:spcAft>
                <a:spcPts val="600"/>
              </a:spcAft>
              <a:buFont typeface="Arial" panose="020B0604020202020204" pitchFamily="34" charset="0"/>
              <a:buChar char="•"/>
            </a:pPr>
            <a:r>
              <a:rPr lang="en-US" sz="2200" b="1" dirty="0">
                <a:solidFill>
                  <a:srgbClr val="FFFFFF"/>
                </a:solidFill>
                <a:effectLst/>
              </a:rPr>
              <a:t>Sampling Method</a:t>
            </a:r>
            <a:r>
              <a:rPr lang="en-US" sz="2200" dirty="0">
                <a:solidFill>
                  <a:srgbClr val="FFFFFF"/>
                </a:solidFill>
                <a:effectLst/>
              </a:rPr>
              <a:t>:</a:t>
            </a:r>
            <a:endParaRPr lang="en-US" sz="2200" dirty="0">
              <a:solidFill>
                <a:srgbClr val="FFFFFF"/>
              </a:solidFill>
            </a:endParaRPr>
          </a:p>
          <a:p>
            <a:pPr defTabSz="914400">
              <a:lnSpc>
                <a:spcPct val="90000"/>
              </a:lnSpc>
              <a:spcAft>
                <a:spcPts val="600"/>
              </a:spcAft>
            </a:pPr>
            <a:r>
              <a:rPr lang="en-US" sz="2200" dirty="0">
                <a:solidFill>
                  <a:srgbClr val="FFFFFF"/>
                </a:solidFill>
                <a:effectLst/>
              </a:rPr>
              <a:t>A randomized stratified sampling technique was used with a total sample size of 370 participants, ensuring balanced representation across age groups, with 50 individuals from each group.</a:t>
            </a:r>
            <a:endParaRPr lang="en-US" sz="2200" dirty="0">
              <a:solidFill>
                <a:srgbClr val="FFFFFF"/>
              </a:solidFill>
            </a:endParaRPr>
          </a:p>
          <a:p>
            <a:pPr defTabSz="914400">
              <a:lnSpc>
                <a:spcPct val="90000"/>
              </a:lnSpc>
              <a:spcAft>
                <a:spcPts val="600"/>
              </a:spcAft>
            </a:pPr>
            <a:endParaRPr lang="en-US" sz="2200" dirty="0">
              <a:solidFill>
                <a:srgbClr val="FFFFFF"/>
              </a:solidFill>
            </a:endParaRPr>
          </a:p>
          <a:p>
            <a:pPr indent="-228600" defTabSz="914400">
              <a:lnSpc>
                <a:spcPct val="90000"/>
              </a:lnSpc>
              <a:spcAft>
                <a:spcPts val="600"/>
              </a:spcAft>
              <a:buFont typeface="Arial" panose="020B0604020202020204" pitchFamily="34" charset="0"/>
              <a:buChar char="•"/>
            </a:pPr>
            <a:r>
              <a:rPr lang="en-US" sz="2200" b="1" dirty="0">
                <a:solidFill>
                  <a:srgbClr val="FFFFFF"/>
                </a:solidFill>
                <a:effectLst/>
              </a:rPr>
              <a:t>Data Collection</a:t>
            </a:r>
            <a:r>
              <a:rPr lang="en-US" sz="2200" dirty="0">
                <a:solidFill>
                  <a:srgbClr val="FFFFFF"/>
                </a:solidFill>
                <a:effectLst/>
              </a:rPr>
              <a:t>:</a:t>
            </a:r>
            <a:endParaRPr lang="en-US" sz="2200" dirty="0">
              <a:solidFill>
                <a:srgbClr val="FFFFFF"/>
              </a:solidFill>
            </a:endParaRPr>
          </a:p>
          <a:p>
            <a:pPr defTabSz="914400">
              <a:lnSpc>
                <a:spcPct val="90000"/>
              </a:lnSpc>
              <a:spcAft>
                <a:spcPts val="600"/>
              </a:spcAft>
            </a:pPr>
            <a:r>
              <a:rPr lang="en-US" sz="2200" dirty="0">
                <a:solidFill>
                  <a:srgbClr val="FFFFFF"/>
                </a:solidFill>
                <a:effectLst/>
              </a:rPr>
              <a:t>Data was collected using a semi-structured questionnaire, distributed both online via Google Forms and offline to include higher age groups and underserved populations. The survey focused on factors like cost, income, and barriers to health screenings.</a:t>
            </a:r>
            <a:endParaRPr lang="en-US" sz="2200" dirty="0">
              <a:solidFill>
                <a:srgbClr val="FFFFFF"/>
              </a:solidFill>
            </a:endParaRPr>
          </a:p>
          <a:p>
            <a:pPr indent="-228600" defTabSz="914400">
              <a:lnSpc>
                <a:spcPct val="90000"/>
              </a:lnSpc>
              <a:spcAft>
                <a:spcPts val="600"/>
              </a:spcAft>
              <a:buFont typeface="Arial" panose="020B0604020202020204" pitchFamily="34" charset="0"/>
              <a:buChar char="•"/>
            </a:pPr>
            <a:endParaRPr lang="en-US" sz="2200" dirty="0">
              <a:solidFill>
                <a:srgbClr val="FFFFFF"/>
              </a:solidFill>
              <a:effectLst/>
            </a:endParaRPr>
          </a:p>
          <a:p>
            <a:pPr indent="-228600" defTabSz="914400">
              <a:lnSpc>
                <a:spcPct val="90000"/>
              </a:lnSpc>
              <a:spcAft>
                <a:spcPts val="600"/>
              </a:spcAft>
              <a:buFont typeface="Arial" panose="020B0604020202020204" pitchFamily="34" charset="0"/>
              <a:buChar char="•"/>
            </a:pPr>
            <a:endParaRPr lang="en-US" sz="2200" dirty="0">
              <a:solidFill>
                <a:srgbClr val="FFFFFF"/>
              </a:solidFill>
            </a:endParaRPr>
          </a:p>
          <a:p>
            <a:pPr defTabSz="914400">
              <a:lnSpc>
                <a:spcPct val="90000"/>
              </a:lnSpc>
              <a:spcAft>
                <a:spcPts val="600"/>
              </a:spcAft>
            </a:pPr>
            <a:endParaRPr lang="en-US" sz="2200" dirty="0">
              <a:solidFill>
                <a:srgbClr val="FFFFFF"/>
              </a:solidFill>
            </a:endParaRPr>
          </a:p>
          <a:p>
            <a:pPr indent="-228600" defTabSz="914400">
              <a:lnSpc>
                <a:spcPct val="90000"/>
              </a:lnSpc>
              <a:spcAft>
                <a:spcPts val="600"/>
              </a:spcAft>
              <a:buFont typeface="Arial" panose="020B0604020202020204" pitchFamily="34" charset="0"/>
              <a:buChar char="•"/>
            </a:pPr>
            <a:r>
              <a:rPr lang="en-US" sz="2200" b="1" dirty="0">
                <a:solidFill>
                  <a:srgbClr val="FFFFFF"/>
                </a:solidFill>
                <a:effectLst/>
              </a:rPr>
              <a:t>Statistical Analysis</a:t>
            </a:r>
            <a:r>
              <a:rPr lang="en-US" sz="2200" dirty="0">
                <a:solidFill>
                  <a:srgbClr val="FFFFFF"/>
                </a:solidFill>
                <a:effectLst/>
              </a:rPr>
              <a:t>:</a:t>
            </a:r>
            <a:endParaRPr lang="en-US" sz="2200" dirty="0">
              <a:solidFill>
                <a:srgbClr val="FFFFFF"/>
              </a:solidFill>
            </a:endParaRPr>
          </a:p>
          <a:p>
            <a:pPr defTabSz="914400">
              <a:lnSpc>
                <a:spcPct val="90000"/>
              </a:lnSpc>
              <a:spcAft>
                <a:spcPts val="600"/>
              </a:spcAft>
            </a:pPr>
            <a:r>
              <a:rPr lang="en-US" sz="2200" dirty="0">
                <a:solidFill>
                  <a:srgbClr val="FFFFFF"/>
                </a:solidFill>
                <a:effectLst/>
              </a:rPr>
              <a:t>Chi-squared tests, proportion tests, and correlation analysis were performed to study the relationships between cost, income, and participation frequency.</a:t>
            </a:r>
            <a:endParaRPr lang="en-US" sz="2200" dirty="0">
              <a:solidFill>
                <a:srgbClr val="FFFFFF"/>
              </a:solidFill>
            </a:endParaRPr>
          </a:p>
          <a:p>
            <a:pPr defTabSz="914400">
              <a:lnSpc>
                <a:spcPct val="90000"/>
              </a:lnSpc>
              <a:spcAft>
                <a:spcPts val="600"/>
              </a:spcAft>
            </a:pPr>
            <a:br>
              <a:rPr lang="en-US" sz="2200" dirty="0">
                <a:solidFill>
                  <a:srgbClr val="FFFFFF"/>
                </a:solidFill>
              </a:rPr>
            </a:br>
            <a:endParaRPr lang="en-US" sz="2200" b="1" dirty="0">
              <a:solidFill>
                <a:srgbClr val="FFFFFF"/>
              </a:solidFill>
            </a:endParaRPr>
          </a:p>
          <a:p>
            <a:pPr indent="-228600" defTabSz="914400">
              <a:lnSpc>
                <a:spcPct val="90000"/>
              </a:lnSpc>
              <a:spcAft>
                <a:spcPts val="600"/>
              </a:spcAft>
              <a:buFont typeface="Arial" panose="020B0604020202020204" pitchFamily="34" charset="0"/>
              <a:buChar char="•"/>
            </a:pPr>
            <a:r>
              <a:rPr lang="en-US" sz="2200" b="1" dirty="0">
                <a:solidFill>
                  <a:srgbClr val="FFFFFF"/>
                </a:solidFill>
                <a:effectLst/>
              </a:rPr>
              <a:t>Proposed Solutions</a:t>
            </a:r>
            <a:r>
              <a:rPr lang="en-US" sz="2200" dirty="0">
                <a:solidFill>
                  <a:srgbClr val="FFFFFF"/>
                </a:solidFill>
                <a:effectLst/>
              </a:rPr>
              <a:t>:</a:t>
            </a:r>
            <a:endParaRPr lang="en-US" sz="2200" dirty="0">
              <a:solidFill>
                <a:srgbClr val="FFFFFF"/>
              </a:solidFill>
            </a:endParaRPr>
          </a:p>
          <a:p>
            <a:pPr defTabSz="914400">
              <a:lnSpc>
                <a:spcPct val="90000"/>
              </a:lnSpc>
              <a:spcAft>
                <a:spcPts val="600"/>
              </a:spcAft>
            </a:pPr>
            <a:r>
              <a:rPr lang="en-US" sz="2200" dirty="0">
                <a:solidFill>
                  <a:srgbClr val="FFFFFF"/>
                </a:solidFill>
                <a:effectLst/>
              </a:rPr>
              <a:t>Based on the findings, solutions like mandatory check-ups, incentives, and an app-based system were proposed to improve participation and accessibility in preventive healthcare.</a:t>
            </a:r>
            <a:endParaRPr lang="en-US" sz="2200" dirty="0">
              <a:solidFill>
                <a:srgbClr val="FFFFFF"/>
              </a:solidFill>
            </a:endParaRPr>
          </a:p>
          <a:p>
            <a:pPr defTabSz="914400">
              <a:lnSpc>
                <a:spcPct val="90000"/>
              </a:lnSpc>
              <a:spcAft>
                <a:spcPts val="600"/>
              </a:spcAft>
            </a:pPr>
            <a:br>
              <a:rPr lang="en-US" sz="2200" dirty="0">
                <a:solidFill>
                  <a:srgbClr val="FFFFFF"/>
                </a:solidFill>
              </a:rPr>
            </a:br>
            <a:endParaRPr lang="en-US" sz="2200" dirty="0">
              <a:solidFill>
                <a:srgbClr val="FFFFFF"/>
              </a:solidFill>
            </a:endParaRPr>
          </a:p>
          <a:p>
            <a:pPr indent="-228600" defTabSz="914400">
              <a:lnSpc>
                <a:spcPct val="90000"/>
              </a:lnSpc>
              <a:spcAft>
                <a:spcPts val="600"/>
              </a:spcAft>
              <a:buFont typeface="Arial" panose="020B0604020202020204" pitchFamily="34" charset="0"/>
              <a:buChar char="•"/>
            </a:pPr>
            <a:endParaRPr lang="en-US" sz="2200" dirty="0">
              <a:solidFill>
                <a:srgbClr val="FFFFFF"/>
              </a:solidFill>
            </a:endParaRPr>
          </a:p>
        </p:txBody>
      </p:sp>
      <p:sp>
        <p:nvSpPr>
          <p:cNvPr id="16" name="TextBox 15">
            <a:extLst>
              <a:ext uri="{FF2B5EF4-FFF2-40B4-BE49-F238E27FC236}">
                <a16:creationId xmlns:a16="http://schemas.microsoft.com/office/drawing/2014/main" id="{634048B9-9F73-BDA7-F7C8-01177B807DDA}"/>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5</a:t>
            </a:r>
          </a:p>
        </p:txBody>
      </p:sp>
    </p:spTree>
    <p:extLst>
      <p:ext uri="{BB962C8B-B14F-4D97-AF65-F5344CB8AC3E}">
        <p14:creationId xmlns:p14="http://schemas.microsoft.com/office/powerpoint/2010/main" val="3214157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CC524649-FE25-1E32-2B1C-57BBCF9D38B2}"/>
              </a:ext>
            </a:extLst>
          </p:cNvPr>
          <p:cNvGraphicFramePr>
            <a:graphicFrameLocks/>
          </p:cNvGraphicFramePr>
          <p:nvPr>
            <p:extLst>
              <p:ext uri="{D42A27DB-BD31-4B8C-83A1-F6EECF244321}">
                <p14:modId xmlns:p14="http://schemas.microsoft.com/office/powerpoint/2010/main" val="2765262172"/>
              </p:ext>
            </p:extLst>
          </p:nvPr>
        </p:nvGraphicFramePr>
        <p:xfrm>
          <a:off x="284718" y="239731"/>
          <a:ext cx="4571999" cy="29164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946EE76D-E496-5FE8-9D06-A77EFF559D6A}"/>
              </a:ext>
            </a:extLst>
          </p:cNvPr>
          <p:cNvGraphicFramePr>
            <a:graphicFrameLocks/>
          </p:cNvGraphicFramePr>
          <p:nvPr>
            <p:extLst>
              <p:ext uri="{D42A27DB-BD31-4B8C-83A1-F6EECF244321}">
                <p14:modId xmlns:p14="http://schemas.microsoft.com/office/powerpoint/2010/main" val="865943946"/>
              </p:ext>
            </p:extLst>
          </p:nvPr>
        </p:nvGraphicFramePr>
        <p:xfrm>
          <a:off x="5632323" y="2582091"/>
          <a:ext cx="6294024" cy="3710461"/>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 name="Diagram 9">
            <a:extLst>
              <a:ext uri="{FF2B5EF4-FFF2-40B4-BE49-F238E27FC236}">
                <a16:creationId xmlns:a16="http://schemas.microsoft.com/office/drawing/2014/main" id="{0BE5F895-1797-B4DA-A1F8-AB7124A6C085}"/>
              </a:ext>
            </a:extLst>
          </p:cNvPr>
          <p:cNvGraphicFramePr/>
          <p:nvPr>
            <p:extLst>
              <p:ext uri="{D42A27DB-BD31-4B8C-83A1-F6EECF244321}">
                <p14:modId xmlns:p14="http://schemas.microsoft.com/office/powerpoint/2010/main" val="14330084"/>
              </p:ext>
            </p:extLst>
          </p:nvPr>
        </p:nvGraphicFramePr>
        <p:xfrm>
          <a:off x="5061659" y="965001"/>
          <a:ext cx="6118026" cy="64633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12" name="Diagram 11">
            <a:extLst>
              <a:ext uri="{FF2B5EF4-FFF2-40B4-BE49-F238E27FC236}">
                <a16:creationId xmlns:a16="http://schemas.microsoft.com/office/drawing/2014/main" id="{EC2EAEFE-E23A-B685-AD2A-E8E4DAC19DD4}"/>
              </a:ext>
            </a:extLst>
          </p:cNvPr>
          <p:cNvGraphicFramePr/>
          <p:nvPr>
            <p:extLst>
              <p:ext uri="{D42A27DB-BD31-4B8C-83A1-F6EECF244321}">
                <p14:modId xmlns:p14="http://schemas.microsoft.com/office/powerpoint/2010/main" val="103382319"/>
              </p:ext>
            </p:extLst>
          </p:nvPr>
        </p:nvGraphicFramePr>
        <p:xfrm>
          <a:off x="0" y="4437321"/>
          <a:ext cx="5520814" cy="1323439"/>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2" name="TextBox 1">
            <a:extLst>
              <a:ext uri="{FF2B5EF4-FFF2-40B4-BE49-F238E27FC236}">
                <a16:creationId xmlns:a16="http://schemas.microsoft.com/office/drawing/2014/main" id="{8C75E418-5C6A-768D-1453-DA1B1A587D75}"/>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6</a:t>
            </a:r>
          </a:p>
        </p:txBody>
      </p:sp>
    </p:spTree>
    <p:extLst>
      <p:ext uri="{BB962C8B-B14F-4D97-AF65-F5344CB8AC3E}">
        <p14:creationId xmlns:p14="http://schemas.microsoft.com/office/powerpoint/2010/main" val="1337303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 name="Chart 1">
            <a:extLst>
              <a:ext uri="{FF2B5EF4-FFF2-40B4-BE49-F238E27FC236}">
                <a16:creationId xmlns:a16="http://schemas.microsoft.com/office/drawing/2014/main" id="{68A96559-C621-0919-F357-44AEE9873BF7}"/>
              </a:ext>
            </a:extLst>
          </p:cNvPr>
          <p:cNvGraphicFramePr>
            <a:graphicFrameLocks/>
          </p:cNvGraphicFramePr>
          <p:nvPr>
            <p:extLst>
              <p:ext uri="{D42A27DB-BD31-4B8C-83A1-F6EECF244321}">
                <p14:modId xmlns:p14="http://schemas.microsoft.com/office/powerpoint/2010/main" val="4085688088"/>
              </p:ext>
            </p:extLst>
          </p:nvPr>
        </p:nvGraphicFramePr>
        <p:xfrm>
          <a:off x="247036" y="233261"/>
          <a:ext cx="5118917" cy="354283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00AF8260-F235-7B9B-1FF1-859F0D93175B}"/>
              </a:ext>
            </a:extLst>
          </p:cNvPr>
          <p:cNvGraphicFramePr>
            <a:graphicFrameLocks/>
          </p:cNvGraphicFramePr>
          <p:nvPr>
            <p:extLst>
              <p:ext uri="{D42A27DB-BD31-4B8C-83A1-F6EECF244321}">
                <p14:modId xmlns:p14="http://schemas.microsoft.com/office/powerpoint/2010/main" val="1393684512"/>
              </p:ext>
            </p:extLst>
          </p:nvPr>
        </p:nvGraphicFramePr>
        <p:xfrm>
          <a:off x="5680587" y="2890684"/>
          <a:ext cx="6264377" cy="369447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Diagram 5">
            <a:extLst>
              <a:ext uri="{FF2B5EF4-FFF2-40B4-BE49-F238E27FC236}">
                <a16:creationId xmlns:a16="http://schemas.microsoft.com/office/drawing/2014/main" id="{7FE8F959-C6E3-A847-E6C4-5D72A3EB4474}"/>
              </a:ext>
            </a:extLst>
          </p:cNvPr>
          <p:cNvGraphicFramePr/>
          <p:nvPr>
            <p:extLst>
              <p:ext uri="{D42A27DB-BD31-4B8C-83A1-F6EECF244321}">
                <p14:modId xmlns:p14="http://schemas.microsoft.com/office/powerpoint/2010/main" val="3676906034"/>
              </p:ext>
            </p:extLst>
          </p:nvPr>
        </p:nvGraphicFramePr>
        <p:xfrm>
          <a:off x="5763546" y="1358347"/>
          <a:ext cx="6098458" cy="6463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 name="Diagram 2">
            <a:extLst>
              <a:ext uri="{FF2B5EF4-FFF2-40B4-BE49-F238E27FC236}">
                <a16:creationId xmlns:a16="http://schemas.microsoft.com/office/drawing/2014/main" id="{53CD6F01-0C49-3FE2-EC54-A1E51C0CBCA1}"/>
              </a:ext>
            </a:extLst>
          </p:cNvPr>
          <p:cNvGraphicFramePr/>
          <p:nvPr>
            <p:extLst>
              <p:ext uri="{D42A27DB-BD31-4B8C-83A1-F6EECF244321}">
                <p14:modId xmlns:p14="http://schemas.microsoft.com/office/powerpoint/2010/main" val="2902510493"/>
              </p:ext>
            </p:extLst>
          </p:nvPr>
        </p:nvGraphicFramePr>
        <p:xfrm>
          <a:off x="-2458" y="4853321"/>
          <a:ext cx="5683045" cy="120032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TextBox 4">
            <a:extLst>
              <a:ext uri="{FF2B5EF4-FFF2-40B4-BE49-F238E27FC236}">
                <a16:creationId xmlns:a16="http://schemas.microsoft.com/office/drawing/2014/main" id="{4F23682D-7435-6386-93B2-671C30F7C5E5}"/>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7</a:t>
            </a:r>
          </a:p>
        </p:txBody>
      </p:sp>
    </p:spTree>
    <p:extLst>
      <p:ext uri="{BB962C8B-B14F-4D97-AF65-F5344CB8AC3E}">
        <p14:creationId xmlns:p14="http://schemas.microsoft.com/office/powerpoint/2010/main" val="3944296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9CD361D6-FB68-0A38-697A-6B0142120998}"/>
              </a:ext>
            </a:extLst>
          </p:cNvPr>
          <p:cNvSpPr txBox="1"/>
          <p:nvPr/>
        </p:nvSpPr>
        <p:spPr>
          <a:xfrm>
            <a:off x="815960" y="1228397"/>
            <a:ext cx="10560079" cy="4401205"/>
          </a:xfrm>
          <a:prstGeom prst="rect">
            <a:avLst/>
          </a:prstGeom>
          <a:noFill/>
        </p:spPr>
        <p:txBody>
          <a:bodyPr wrap="square">
            <a:spAutoFit/>
          </a:bodyPr>
          <a:lstStyle/>
          <a:p>
            <a:r>
              <a:rPr lang="en-US" sz="2000" dirty="0"/>
              <a:t>We wanted to see if lowering the cost of full-body checkups would encourage more people to participate in health screenings.</a:t>
            </a:r>
          </a:p>
          <a:p>
            <a:endParaRPr lang="en-US" sz="2000" dirty="0"/>
          </a:p>
          <a:p>
            <a:br>
              <a:rPr lang="en-US" sz="2000" dirty="0"/>
            </a:br>
            <a:r>
              <a:rPr lang="en-US" sz="2000" b="1" dirty="0"/>
              <a:t>What we tested :</a:t>
            </a:r>
            <a:r>
              <a:rPr lang="en-US" sz="2000" dirty="0"/>
              <a:t> More than 50% would participate after lowering costs.</a:t>
            </a:r>
          </a:p>
          <a:p>
            <a:endParaRPr lang="en-US" sz="2000" dirty="0"/>
          </a:p>
          <a:p>
            <a:r>
              <a:rPr lang="en-US" sz="2000" b="1" dirty="0"/>
              <a:t>What we found:</a:t>
            </a:r>
          </a:p>
          <a:p>
            <a:r>
              <a:rPr lang="en-US" sz="2000" dirty="0"/>
              <a:t>The p-value of 0.000003554 from the 1-sample proportion test is much smaller than 0.05, indicating the result is statistically significant.</a:t>
            </a:r>
          </a:p>
          <a:p>
            <a:r>
              <a:rPr lang="en-US" sz="2000" dirty="0"/>
              <a:t>This shows strong evidence that reducing costs increases the number of people willing to participate in health screenings.</a:t>
            </a:r>
            <a:br>
              <a:rPr lang="en-US" sz="2000" b="1" dirty="0"/>
            </a:br>
            <a:endParaRPr lang="en-US" sz="2000" dirty="0"/>
          </a:p>
          <a:p>
            <a:r>
              <a:rPr lang="en-US" sz="2000" b="1" dirty="0"/>
              <a:t>Conclusion:</a:t>
            </a:r>
            <a:r>
              <a:rPr lang="en-US" sz="2000" dirty="0"/>
              <a:t> Reducing the cost of checkups significantly increases participation in health screenings, with more than half of the population willing to participate.</a:t>
            </a:r>
          </a:p>
        </p:txBody>
      </p:sp>
      <p:sp>
        <p:nvSpPr>
          <p:cNvPr id="12" name="TextBox 11">
            <a:extLst>
              <a:ext uri="{FF2B5EF4-FFF2-40B4-BE49-F238E27FC236}">
                <a16:creationId xmlns:a16="http://schemas.microsoft.com/office/drawing/2014/main" id="{3CECFDA1-716F-295E-1398-CB7D982076EE}"/>
              </a:ext>
            </a:extLst>
          </p:cNvPr>
          <p:cNvSpPr txBox="1"/>
          <p:nvPr/>
        </p:nvSpPr>
        <p:spPr>
          <a:xfrm>
            <a:off x="3046771" y="362922"/>
            <a:ext cx="6098458" cy="58477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gn="ctr"/>
            <a:r>
              <a:rPr lang="en-US" sz="3200" b="1" dirty="0"/>
              <a:t>Hypothesis Results</a:t>
            </a:r>
          </a:p>
        </p:txBody>
      </p:sp>
      <p:sp>
        <p:nvSpPr>
          <p:cNvPr id="2" name="TextBox 1">
            <a:extLst>
              <a:ext uri="{FF2B5EF4-FFF2-40B4-BE49-F238E27FC236}">
                <a16:creationId xmlns:a16="http://schemas.microsoft.com/office/drawing/2014/main" id="{639A4FCF-7E3C-A1E5-D183-2F0BEA350AC4}"/>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8</a:t>
            </a:r>
          </a:p>
        </p:txBody>
      </p:sp>
    </p:spTree>
    <p:extLst>
      <p:ext uri="{BB962C8B-B14F-4D97-AF65-F5344CB8AC3E}">
        <p14:creationId xmlns:p14="http://schemas.microsoft.com/office/powerpoint/2010/main" val="3925719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459230-13AC-96BE-A70E-0CAFBA75358D}"/>
              </a:ext>
            </a:extLst>
          </p:cNvPr>
          <p:cNvSpPr txBox="1"/>
          <p:nvPr/>
        </p:nvSpPr>
        <p:spPr>
          <a:xfrm>
            <a:off x="662722" y="1382286"/>
            <a:ext cx="10866556" cy="4093428"/>
          </a:xfrm>
          <a:prstGeom prst="rect">
            <a:avLst/>
          </a:prstGeom>
          <a:noFill/>
        </p:spPr>
        <p:txBody>
          <a:bodyPr wrap="square">
            <a:spAutoFit/>
          </a:bodyPr>
          <a:lstStyle/>
          <a:p>
            <a:r>
              <a:rPr lang="en-US" sz="2000" dirty="0"/>
              <a:t>We wanted to check if the cost of full-body checkups impacts how often people go for preventive health screenings.</a:t>
            </a:r>
          </a:p>
          <a:p>
            <a:endParaRPr lang="en-US" sz="2000" dirty="0"/>
          </a:p>
          <a:p>
            <a:br>
              <a:rPr lang="en-US" sz="2000" dirty="0"/>
            </a:br>
            <a:r>
              <a:rPr lang="en-US" sz="2000" b="1" dirty="0"/>
              <a:t>What we tested :</a:t>
            </a:r>
            <a:r>
              <a:rPr lang="en-US" sz="2000" dirty="0"/>
              <a:t> High costs discourage people from getting regular health checkups.</a:t>
            </a:r>
          </a:p>
          <a:p>
            <a:endParaRPr lang="en-US" sz="2000" dirty="0"/>
          </a:p>
          <a:p>
            <a:r>
              <a:rPr lang="en-US" sz="2000" b="1" dirty="0"/>
              <a:t>What we found:</a:t>
            </a:r>
            <a:endParaRPr lang="en-US" sz="2000" dirty="0"/>
          </a:p>
          <a:p>
            <a:r>
              <a:rPr lang="en-US" sz="2000" dirty="0"/>
              <a:t>The </a:t>
            </a:r>
            <a:r>
              <a:rPr lang="en-US" sz="2000" b="1" dirty="0"/>
              <a:t>chi-squared test</a:t>
            </a:r>
            <a:r>
              <a:rPr lang="en-US" sz="2000" dirty="0"/>
              <a:t> showed a strong link between the cost of checkups and how often people get screened. The p-value of 0.0091 is much smaller than the usual cutoff of 0.05, indicating the result is statistically significant.</a:t>
            </a:r>
          </a:p>
          <a:p>
            <a:endParaRPr lang="en-US" sz="2000" dirty="0"/>
          </a:p>
          <a:p>
            <a:r>
              <a:rPr lang="en-US" sz="2000" b="1" dirty="0"/>
              <a:t>Conclusion:</a:t>
            </a:r>
            <a:r>
              <a:rPr lang="en-US" sz="2000" dirty="0"/>
              <a:t> High costs significantly reduce how often people go for preventive health screenings. Reducing the cost may encourage more frequent participation.</a:t>
            </a:r>
          </a:p>
        </p:txBody>
      </p:sp>
      <p:sp>
        <p:nvSpPr>
          <p:cNvPr id="10" name="TextBox 9">
            <a:extLst>
              <a:ext uri="{FF2B5EF4-FFF2-40B4-BE49-F238E27FC236}">
                <a16:creationId xmlns:a16="http://schemas.microsoft.com/office/drawing/2014/main" id="{83269403-4266-2CC5-C301-72D21EF4D4B3}"/>
              </a:ext>
            </a:extLst>
          </p:cNvPr>
          <p:cNvSpPr txBox="1"/>
          <p:nvPr/>
        </p:nvSpPr>
        <p:spPr>
          <a:xfrm>
            <a:off x="3046771" y="295171"/>
            <a:ext cx="6098458" cy="58477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gn="ctr"/>
            <a:r>
              <a:rPr lang="en-US" sz="3200" b="1" dirty="0"/>
              <a:t>Hypothesis Results</a:t>
            </a:r>
          </a:p>
        </p:txBody>
      </p:sp>
      <p:sp>
        <p:nvSpPr>
          <p:cNvPr id="2" name="TextBox 1">
            <a:extLst>
              <a:ext uri="{FF2B5EF4-FFF2-40B4-BE49-F238E27FC236}">
                <a16:creationId xmlns:a16="http://schemas.microsoft.com/office/drawing/2014/main" id="{A5D872FD-D8FA-185C-65CA-0D4FF6878DC7}"/>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9</a:t>
            </a:r>
          </a:p>
        </p:txBody>
      </p:sp>
    </p:spTree>
    <p:extLst>
      <p:ext uri="{BB962C8B-B14F-4D97-AF65-F5344CB8AC3E}">
        <p14:creationId xmlns:p14="http://schemas.microsoft.com/office/powerpoint/2010/main" val="1404070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78C5E5E-93F1-668A-178E-C632C33A0789}"/>
              </a:ext>
            </a:extLst>
          </p:cNvPr>
          <p:cNvSpPr txBox="1"/>
          <p:nvPr/>
        </p:nvSpPr>
        <p:spPr>
          <a:xfrm>
            <a:off x="631977" y="1382286"/>
            <a:ext cx="10928046" cy="4093428"/>
          </a:xfrm>
          <a:prstGeom prst="rect">
            <a:avLst/>
          </a:prstGeom>
          <a:noFill/>
        </p:spPr>
        <p:txBody>
          <a:bodyPr wrap="square">
            <a:spAutoFit/>
          </a:bodyPr>
          <a:lstStyle/>
          <a:p>
            <a:r>
              <a:rPr lang="en-US" sz="2000" dirty="0"/>
              <a:t>We wanted to see if income levels influence how often people go for preventive health screenings.</a:t>
            </a:r>
          </a:p>
          <a:p>
            <a:endParaRPr lang="en-US" sz="2000" dirty="0"/>
          </a:p>
          <a:p>
            <a:r>
              <a:rPr lang="en-US" sz="2000" b="1" dirty="0"/>
              <a:t>What we tested :</a:t>
            </a:r>
            <a:r>
              <a:rPr lang="en-US" sz="2000" dirty="0"/>
              <a:t> Income levels do impact the frequency of health screenings.</a:t>
            </a:r>
          </a:p>
          <a:p>
            <a:endParaRPr lang="en-US" sz="2000" dirty="0"/>
          </a:p>
          <a:p>
            <a:r>
              <a:rPr lang="en-US" sz="2000" b="1" dirty="0"/>
              <a:t>What we found:</a:t>
            </a:r>
            <a:endParaRPr lang="en-US" sz="2000" dirty="0"/>
          </a:p>
          <a:p>
            <a:endParaRPr lang="en-US" sz="2000" dirty="0"/>
          </a:p>
          <a:p>
            <a:r>
              <a:rPr lang="en-US" sz="2000" dirty="0"/>
              <a:t>The </a:t>
            </a:r>
            <a:r>
              <a:rPr lang="en-US" sz="2000" b="1" dirty="0"/>
              <a:t>Pearson correlation test</a:t>
            </a:r>
            <a:r>
              <a:rPr lang="en-US" sz="2000" dirty="0"/>
              <a:t> showed a moderate positive correlation between income and health screening frequency (correlation = 0.298)</a:t>
            </a:r>
          </a:p>
          <a:p>
            <a:r>
              <a:rPr lang="en-US" sz="2000" dirty="0"/>
              <a:t>The p-value of 1.554e-06 is much smaller than 0.05, indicating the result is statistically significant.</a:t>
            </a:r>
          </a:p>
          <a:p>
            <a:endParaRPr lang="en-US" sz="2000" dirty="0"/>
          </a:p>
          <a:p>
            <a:r>
              <a:rPr lang="en-US" sz="2000" b="1" dirty="0"/>
              <a:t>Conclusion:</a:t>
            </a:r>
            <a:r>
              <a:rPr lang="en-US" sz="2000" dirty="0"/>
              <a:t> There is a significant link between income levels and how often people go for preventive health screenings. Higher income is associated with a greater likelihood of regular screenings.</a:t>
            </a:r>
          </a:p>
        </p:txBody>
      </p:sp>
      <p:sp>
        <p:nvSpPr>
          <p:cNvPr id="9" name="TextBox 8">
            <a:extLst>
              <a:ext uri="{FF2B5EF4-FFF2-40B4-BE49-F238E27FC236}">
                <a16:creationId xmlns:a16="http://schemas.microsoft.com/office/drawing/2014/main" id="{53391C78-F6C2-3EA8-E6A2-B5394ED616CC}"/>
              </a:ext>
            </a:extLst>
          </p:cNvPr>
          <p:cNvSpPr txBox="1"/>
          <p:nvPr/>
        </p:nvSpPr>
        <p:spPr>
          <a:xfrm>
            <a:off x="3152468" y="345742"/>
            <a:ext cx="6098458" cy="584775"/>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wrap="square">
            <a:spAutoFit/>
          </a:bodyPr>
          <a:lstStyle/>
          <a:p>
            <a:pPr algn="ctr"/>
            <a:r>
              <a:rPr lang="en-US" sz="3200" b="1" dirty="0"/>
              <a:t>Hypothesis Results</a:t>
            </a:r>
          </a:p>
        </p:txBody>
      </p:sp>
      <p:sp>
        <p:nvSpPr>
          <p:cNvPr id="2" name="TextBox 1">
            <a:extLst>
              <a:ext uri="{FF2B5EF4-FFF2-40B4-BE49-F238E27FC236}">
                <a16:creationId xmlns:a16="http://schemas.microsoft.com/office/drawing/2014/main" id="{C35B29BE-6846-3F10-EAE3-06771CA14A77}"/>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10</a:t>
            </a:r>
          </a:p>
        </p:txBody>
      </p:sp>
    </p:spTree>
    <p:extLst>
      <p:ext uri="{BB962C8B-B14F-4D97-AF65-F5344CB8AC3E}">
        <p14:creationId xmlns:p14="http://schemas.microsoft.com/office/powerpoint/2010/main" val="37360437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9C5F190-BED6-B356-2A56-E4DE2525C3DB}"/>
              </a:ext>
            </a:extLst>
          </p:cNvPr>
          <p:cNvSpPr>
            <a:spLocks noGrp="1"/>
          </p:cNvSpPr>
          <p:nvPr>
            <p:ph type="title"/>
          </p:nvPr>
        </p:nvSpPr>
        <p:spPr>
          <a:xfrm>
            <a:off x="481882" y="279618"/>
            <a:ext cx="3394587" cy="734021"/>
          </a:xfrm>
        </p:spPr>
        <p:style>
          <a:lnRef idx="1">
            <a:schemeClr val="accent2"/>
          </a:lnRef>
          <a:fillRef idx="3">
            <a:schemeClr val="accent2"/>
          </a:fillRef>
          <a:effectRef idx="2">
            <a:schemeClr val="accent2"/>
          </a:effectRef>
          <a:fontRef idx="minor">
            <a:schemeClr val="lt1"/>
          </a:fontRef>
        </p:style>
        <p:txBody>
          <a:bodyPr/>
          <a:lstStyle/>
          <a:p>
            <a:r>
              <a:rPr lang="en-US" dirty="0"/>
              <a:t>SOLUTIONS</a:t>
            </a:r>
          </a:p>
        </p:txBody>
      </p:sp>
      <p:graphicFrame>
        <p:nvGraphicFramePr>
          <p:cNvPr id="18" name="Content Placeholder 2">
            <a:extLst>
              <a:ext uri="{FF2B5EF4-FFF2-40B4-BE49-F238E27FC236}">
                <a16:creationId xmlns:a16="http://schemas.microsoft.com/office/drawing/2014/main" id="{61C5961D-0C06-1A13-4717-39946145DBD4}"/>
              </a:ext>
            </a:extLst>
          </p:cNvPr>
          <p:cNvGraphicFramePr>
            <a:graphicFrameLocks noGrp="1"/>
          </p:cNvGraphicFramePr>
          <p:nvPr>
            <p:ph idx="1"/>
            <p:extLst>
              <p:ext uri="{D42A27DB-BD31-4B8C-83A1-F6EECF244321}">
                <p14:modId xmlns:p14="http://schemas.microsoft.com/office/powerpoint/2010/main" val="3163654325"/>
              </p:ext>
            </p:extLst>
          </p:nvPr>
        </p:nvGraphicFramePr>
        <p:xfrm>
          <a:off x="285917" y="2267252"/>
          <a:ext cx="11518156" cy="383081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5" name="TextBox 14">
            <a:extLst>
              <a:ext uri="{FF2B5EF4-FFF2-40B4-BE49-F238E27FC236}">
                <a16:creationId xmlns:a16="http://schemas.microsoft.com/office/drawing/2014/main" id="{72CB54B3-A401-428A-518C-CC96E8D862C7}"/>
              </a:ext>
            </a:extLst>
          </p:cNvPr>
          <p:cNvSpPr txBox="1"/>
          <p:nvPr/>
        </p:nvSpPr>
        <p:spPr>
          <a:xfrm>
            <a:off x="481882" y="1317280"/>
            <a:ext cx="10723740" cy="646331"/>
          </a:xfrm>
          <a:prstGeom prst="rect">
            <a:avLst/>
          </a:prstGeom>
          <a:noFill/>
        </p:spPr>
        <p:txBody>
          <a:bodyPr wrap="square">
            <a:spAutoFit/>
          </a:bodyPr>
          <a:lstStyle/>
          <a:p>
            <a:pPr algn="ctr"/>
            <a:r>
              <a:rPr lang="en-US" sz="1800" b="1" dirty="0"/>
              <a:t>The app offers a comprehensive healthcare platform with features designed to improve access to preventive health check-ups and make them more affordable and accessible:</a:t>
            </a:r>
          </a:p>
        </p:txBody>
      </p:sp>
      <p:sp>
        <p:nvSpPr>
          <p:cNvPr id="2" name="TextBox 1">
            <a:extLst>
              <a:ext uri="{FF2B5EF4-FFF2-40B4-BE49-F238E27FC236}">
                <a16:creationId xmlns:a16="http://schemas.microsoft.com/office/drawing/2014/main" id="{1881739A-1B10-D3E9-5AB4-6F3BF4831C0B}"/>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11</a:t>
            </a:r>
          </a:p>
        </p:txBody>
      </p:sp>
    </p:spTree>
    <p:extLst>
      <p:ext uri="{BB962C8B-B14F-4D97-AF65-F5344CB8AC3E}">
        <p14:creationId xmlns:p14="http://schemas.microsoft.com/office/powerpoint/2010/main" val="3546839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511AA-44C2-53C0-21D6-E56491EAEDB9}"/>
              </a:ext>
            </a:extLst>
          </p:cNvPr>
          <p:cNvSpPr>
            <a:spLocks noGrp="1"/>
          </p:cNvSpPr>
          <p:nvPr>
            <p:ph type="title"/>
          </p:nvPr>
        </p:nvSpPr>
        <p:spPr>
          <a:xfrm>
            <a:off x="307258" y="145586"/>
            <a:ext cx="10515600" cy="1140365"/>
          </a:xfrm>
        </p:spPr>
        <p:txBody>
          <a:bodyPr/>
          <a:lstStyle/>
          <a:p>
            <a:r>
              <a:rPr lang="en-US" dirty="0"/>
              <a:t>Features</a:t>
            </a:r>
          </a:p>
        </p:txBody>
      </p:sp>
      <p:sp>
        <p:nvSpPr>
          <p:cNvPr id="6" name="TextBox 5">
            <a:extLst>
              <a:ext uri="{FF2B5EF4-FFF2-40B4-BE49-F238E27FC236}">
                <a16:creationId xmlns:a16="http://schemas.microsoft.com/office/drawing/2014/main" id="{9C492388-90EA-90F9-F498-FEA873BB3C1A}"/>
              </a:ext>
            </a:extLst>
          </p:cNvPr>
          <p:cNvSpPr txBox="1"/>
          <p:nvPr/>
        </p:nvSpPr>
        <p:spPr>
          <a:xfrm>
            <a:off x="307258" y="1193619"/>
            <a:ext cx="2615824" cy="461665"/>
          </a:xfrm>
          <a:prstGeom prst="rect">
            <a:avLst/>
          </a:prstGeom>
          <a:noFill/>
        </p:spPr>
        <p:txBody>
          <a:bodyPr wrap="square">
            <a:spAutoFit/>
          </a:bodyPr>
          <a:lstStyle/>
          <a:p>
            <a:pPr lvl="0"/>
            <a:r>
              <a:rPr lang="en-US" sz="2400" b="1" dirty="0"/>
              <a:t>Registration</a:t>
            </a:r>
            <a:endParaRPr lang="en-US" sz="2400" dirty="0"/>
          </a:p>
        </p:txBody>
      </p:sp>
      <p:pic>
        <p:nvPicPr>
          <p:cNvPr id="8" name="Picture 7">
            <a:extLst>
              <a:ext uri="{FF2B5EF4-FFF2-40B4-BE49-F238E27FC236}">
                <a16:creationId xmlns:a16="http://schemas.microsoft.com/office/drawing/2014/main" id="{AB2DCD92-0ECF-21B7-2572-5FEA8EE5A9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84023" y="4045265"/>
            <a:ext cx="6070325" cy="2667149"/>
          </a:xfrm>
          <a:prstGeom prst="rect">
            <a:avLst/>
          </a:prstGeom>
        </p:spPr>
      </p:pic>
      <p:pic>
        <p:nvPicPr>
          <p:cNvPr id="12" name="Picture 11">
            <a:extLst>
              <a:ext uri="{FF2B5EF4-FFF2-40B4-BE49-F238E27FC236}">
                <a16:creationId xmlns:a16="http://schemas.microsoft.com/office/drawing/2014/main" id="{24BD6E1C-4826-7CE4-CF9E-ED8FDC147BE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652" y="1655284"/>
            <a:ext cx="5496232" cy="2394296"/>
          </a:xfrm>
          <a:prstGeom prst="rect">
            <a:avLst/>
          </a:prstGeom>
        </p:spPr>
      </p:pic>
      <p:sp>
        <p:nvSpPr>
          <p:cNvPr id="14" name="TextBox 13">
            <a:extLst>
              <a:ext uri="{FF2B5EF4-FFF2-40B4-BE49-F238E27FC236}">
                <a16:creationId xmlns:a16="http://schemas.microsoft.com/office/drawing/2014/main" id="{3C72AC43-BE13-190E-4843-ECA9439106C9}"/>
              </a:ext>
            </a:extLst>
          </p:cNvPr>
          <p:cNvSpPr txBox="1"/>
          <p:nvPr/>
        </p:nvSpPr>
        <p:spPr>
          <a:xfrm>
            <a:off x="6096000" y="3429000"/>
            <a:ext cx="6098458" cy="461665"/>
          </a:xfrm>
          <a:prstGeom prst="rect">
            <a:avLst/>
          </a:prstGeom>
          <a:noFill/>
        </p:spPr>
        <p:txBody>
          <a:bodyPr wrap="square">
            <a:spAutoFit/>
          </a:bodyPr>
          <a:lstStyle/>
          <a:p>
            <a:pPr lvl="0"/>
            <a:r>
              <a:rPr lang="en-US" sz="2400" b="1" dirty="0"/>
              <a:t>Health Check-Up Reminders</a:t>
            </a:r>
            <a:endParaRPr lang="en-US" sz="2400" dirty="0"/>
          </a:p>
        </p:txBody>
      </p:sp>
      <p:sp>
        <p:nvSpPr>
          <p:cNvPr id="3" name="TextBox 2">
            <a:extLst>
              <a:ext uri="{FF2B5EF4-FFF2-40B4-BE49-F238E27FC236}">
                <a16:creationId xmlns:a16="http://schemas.microsoft.com/office/drawing/2014/main" id="{EAEC3D45-F027-BFA5-530C-2CFFB5C7B58B}"/>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12</a:t>
            </a:r>
          </a:p>
        </p:txBody>
      </p:sp>
    </p:spTree>
    <p:extLst>
      <p:ext uri="{BB962C8B-B14F-4D97-AF65-F5344CB8AC3E}">
        <p14:creationId xmlns:p14="http://schemas.microsoft.com/office/powerpoint/2010/main" val="1970122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3C311-D473-AD13-967F-7C05483EC4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63599-D8D2-930B-5DE0-B8019C6DEDF8}"/>
              </a:ext>
            </a:extLst>
          </p:cNvPr>
          <p:cNvSpPr>
            <a:spLocks noGrp="1"/>
          </p:cNvSpPr>
          <p:nvPr>
            <p:ph type="title"/>
          </p:nvPr>
        </p:nvSpPr>
        <p:spPr>
          <a:xfrm>
            <a:off x="307258" y="145586"/>
            <a:ext cx="10515600" cy="1140365"/>
          </a:xfrm>
        </p:spPr>
        <p:txBody>
          <a:bodyPr>
            <a:normAutofit/>
          </a:bodyPr>
          <a:lstStyle/>
          <a:p>
            <a:r>
              <a:rPr lang="en-US" sz="4800" dirty="0"/>
              <a:t>Features</a:t>
            </a:r>
          </a:p>
        </p:txBody>
      </p:sp>
      <p:sp>
        <p:nvSpPr>
          <p:cNvPr id="4" name="TextBox 3">
            <a:extLst>
              <a:ext uri="{FF2B5EF4-FFF2-40B4-BE49-F238E27FC236}">
                <a16:creationId xmlns:a16="http://schemas.microsoft.com/office/drawing/2014/main" id="{9756EBD3-B909-9314-570A-C285C7B48B51}"/>
              </a:ext>
            </a:extLst>
          </p:cNvPr>
          <p:cNvSpPr txBox="1"/>
          <p:nvPr/>
        </p:nvSpPr>
        <p:spPr>
          <a:xfrm>
            <a:off x="2518444" y="1472742"/>
            <a:ext cx="6093228" cy="523220"/>
          </a:xfrm>
          <a:prstGeom prst="rect">
            <a:avLst/>
          </a:prstGeom>
          <a:noFill/>
        </p:spPr>
        <p:txBody>
          <a:bodyPr wrap="square">
            <a:spAutoFit/>
          </a:bodyPr>
          <a:lstStyle/>
          <a:p>
            <a:pPr lvl="0" algn="ctr"/>
            <a:r>
              <a:rPr lang="en-US" sz="2800" b="1" dirty="0"/>
              <a:t>AI-Driven </a:t>
            </a:r>
            <a:r>
              <a:rPr lang="en-US" sz="2400" b="1" dirty="0"/>
              <a:t>Report</a:t>
            </a:r>
            <a:r>
              <a:rPr lang="en-US" sz="2800" b="1" dirty="0"/>
              <a:t> Analysis</a:t>
            </a:r>
            <a:endParaRPr lang="en-US" sz="2800" dirty="0"/>
          </a:p>
        </p:txBody>
      </p:sp>
      <p:pic>
        <p:nvPicPr>
          <p:cNvPr id="7" name="Picture 6">
            <a:extLst>
              <a:ext uri="{FF2B5EF4-FFF2-40B4-BE49-F238E27FC236}">
                <a16:creationId xmlns:a16="http://schemas.microsoft.com/office/drawing/2014/main" id="{DFFE7373-6600-0375-D019-52557C433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2012" y="2028865"/>
            <a:ext cx="8146092" cy="4392811"/>
          </a:xfrm>
          <a:prstGeom prst="rect">
            <a:avLst/>
          </a:prstGeom>
        </p:spPr>
      </p:pic>
      <p:sp>
        <p:nvSpPr>
          <p:cNvPr id="3" name="TextBox 2">
            <a:extLst>
              <a:ext uri="{FF2B5EF4-FFF2-40B4-BE49-F238E27FC236}">
                <a16:creationId xmlns:a16="http://schemas.microsoft.com/office/drawing/2014/main" id="{78B1D85D-B2E4-8E5D-197B-CF6565E9F57A}"/>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13</a:t>
            </a:r>
          </a:p>
        </p:txBody>
      </p:sp>
    </p:spTree>
    <p:extLst>
      <p:ext uri="{BB962C8B-B14F-4D97-AF65-F5344CB8AC3E}">
        <p14:creationId xmlns:p14="http://schemas.microsoft.com/office/powerpoint/2010/main" val="889883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5A30F-59F5-7A12-C20E-E9890E147E5E}"/>
              </a:ext>
            </a:extLst>
          </p:cNvPr>
          <p:cNvSpPr>
            <a:spLocks noGrp="1"/>
          </p:cNvSpPr>
          <p:nvPr>
            <p:ph type="title"/>
          </p:nvPr>
        </p:nvSpPr>
        <p:spPr>
          <a:xfrm>
            <a:off x="466722" y="586855"/>
            <a:ext cx="3201366" cy="3387497"/>
          </a:xfrm>
        </p:spPr>
        <p:txBody>
          <a:bodyPr anchor="b">
            <a:normAutofit/>
          </a:bodyPr>
          <a:lstStyle/>
          <a:p>
            <a:pPr algn="r"/>
            <a:r>
              <a:rPr lang="en-US" sz="3400" b="1">
                <a:solidFill>
                  <a:srgbClr val="FFFFFF"/>
                </a:solidFill>
              </a:rPr>
              <a:t>Reasons to Make Preventive Health Check-Ups Mandatory:</a:t>
            </a:r>
            <a:br>
              <a:rPr lang="en-US" sz="3400" b="1">
                <a:solidFill>
                  <a:srgbClr val="FFFFFF"/>
                </a:solidFill>
              </a:rPr>
            </a:br>
            <a:endParaRPr lang="en-US" sz="3400">
              <a:solidFill>
                <a:srgbClr val="FFFFFF"/>
              </a:solidFill>
            </a:endParaRPr>
          </a:p>
        </p:txBody>
      </p:sp>
      <p:sp>
        <p:nvSpPr>
          <p:cNvPr id="15" name="Content Placeholder 2">
            <a:extLst>
              <a:ext uri="{FF2B5EF4-FFF2-40B4-BE49-F238E27FC236}">
                <a16:creationId xmlns:a16="http://schemas.microsoft.com/office/drawing/2014/main" id="{A393D94E-1BDF-D1EB-CD12-678E5487A9EB}"/>
              </a:ext>
            </a:extLst>
          </p:cNvPr>
          <p:cNvSpPr>
            <a:spLocks noGrp="1"/>
          </p:cNvSpPr>
          <p:nvPr>
            <p:ph idx="1"/>
          </p:nvPr>
        </p:nvSpPr>
        <p:spPr>
          <a:xfrm>
            <a:off x="4810259" y="649480"/>
            <a:ext cx="6555347" cy="5546047"/>
          </a:xfrm>
        </p:spPr>
        <p:txBody>
          <a:bodyPr numCol="2" anchor="ctr">
            <a:normAutofit/>
          </a:bodyPr>
          <a:lstStyle/>
          <a:p>
            <a:pPr>
              <a:buFont typeface="+mj-lt"/>
              <a:buAutoNum type="arabicPeriod"/>
            </a:pPr>
            <a:r>
              <a:rPr lang="en-US" sz="1700" b="1" dirty="0"/>
              <a:t>Early Detection of Diseases</a:t>
            </a:r>
            <a:r>
              <a:rPr lang="en-US" sz="1700" dirty="0"/>
              <a:t>: Regular check-ups help catch diseases early, allowing time for treatment and preventing potential epidemics or pandemics (e.g., COVID-19).</a:t>
            </a:r>
          </a:p>
          <a:p>
            <a:pPr>
              <a:buFont typeface="+mj-lt"/>
              <a:buAutoNum type="arabicPeriod"/>
            </a:pPr>
            <a:r>
              <a:rPr lang="en-US" sz="1700" b="1" dirty="0"/>
              <a:t>Cost Reduction</a:t>
            </a:r>
            <a:r>
              <a:rPr lang="en-US" sz="1700" dirty="0"/>
              <a:t>: Early treatment of health issues is cheaper than treating advanced diseases, reducing overall healthcare costs.</a:t>
            </a:r>
          </a:p>
          <a:p>
            <a:pPr>
              <a:buFont typeface="+mj-lt"/>
              <a:buAutoNum type="arabicPeriod"/>
            </a:pPr>
            <a:r>
              <a:rPr lang="en-US" sz="1700" b="1" dirty="0"/>
              <a:t>Reduced Healthcare Burden</a:t>
            </a:r>
            <a:r>
              <a:rPr lang="en-US" sz="1700" dirty="0"/>
              <a:t>: Preventive care helps avoid critical health situations, reducing the strain on emergency services and hospitals.</a:t>
            </a:r>
          </a:p>
          <a:p>
            <a:pPr>
              <a:buFont typeface="+mj-lt"/>
              <a:buAutoNum type="arabicPeriod"/>
            </a:pPr>
            <a:r>
              <a:rPr lang="en-US" sz="1700" b="1" dirty="0"/>
              <a:t>Better Public Health</a:t>
            </a:r>
            <a:r>
              <a:rPr lang="en-US" sz="1700" dirty="0"/>
              <a:t>: Regular check-ups encourage proactive health management, helping individuals prevent diseases.</a:t>
            </a:r>
          </a:p>
          <a:p>
            <a:pPr>
              <a:buFont typeface="+mj-lt"/>
              <a:buAutoNum type="arabicPeriod"/>
            </a:pPr>
            <a:r>
              <a:rPr lang="en-US" sz="1700" b="1" dirty="0"/>
              <a:t>Workforce Productivity</a:t>
            </a:r>
            <a:r>
              <a:rPr lang="en-US" sz="1700" dirty="0"/>
              <a:t>: Healthy employees are more productive, reducing absenteeism and improving economic outcomes.</a:t>
            </a:r>
          </a:p>
          <a:p>
            <a:pPr>
              <a:buFont typeface="+mj-lt"/>
              <a:buAutoNum type="arabicPeriod"/>
            </a:pPr>
            <a:r>
              <a:rPr lang="en-US" sz="1700" b="1" dirty="0"/>
              <a:t>Health Equity</a:t>
            </a:r>
            <a:r>
              <a:rPr lang="en-US" sz="1700" dirty="0"/>
              <a:t>: Making check-ups mandatory ensures more people, regardless of income, have access to preventive care, promoting equality in healthcare.</a:t>
            </a:r>
          </a:p>
          <a:p>
            <a:endParaRPr lang="en-US" sz="1700" dirty="0"/>
          </a:p>
        </p:txBody>
      </p:sp>
      <p:sp>
        <p:nvSpPr>
          <p:cNvPr id="3" name="TextBox 2">
            <a:extLst>
              <a:ext uri="{FF2B5EF4-FFF2-40B4-BE49-F238E27FC236}">
                <a16:creationId xmlns:a16="http://schemas.microsoft.com/office/drawing/2014/main" id="{B57B4394-8C03-C1F4-F9C0-52FB80A046C2}"/>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14</a:t>
            </a:r>
          </a:p>
        </p:txBody>
      </p:sp>
    </p:spTree>
    <p:extLst>
      <p:ext uri="{BB962C8B-B14F-4D97-AF65-F5344CB8AC3E}">
        <p14:creationId xmlns:p14="http://schemas.microsoft.com/office/powerpoint/2010/main" val="12637363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6B3ADB-22C2-4A99-0B56-9602383B1FD6}"/>
              </a:ext>
            </a:extLst>
          </p:cNvPr>
          <p:cNvSpPr>
            <a:spLocks noGrp="1"/>
          </p:cNvSpPr>
          <p:nvPr>
            <p:ph type="title"/>
          </p:nvPr>
        </p:nvSpPr>
        <p:spPr>
          <a:xfrm>
            <a:off x="838200" y="365125"/>
            <a:ext cx="10515600" cy="1325563"/>
          </a:xfrm>
        </p:spPr>
        <p:txBody>
          <a:bodyPr vert="horz" lIns="91440" tIns="45720" rIns="91440" bIns="45720" rtlCol="0" anchor="ctr">
            <a:normAutofit/>
          </a:bodyPr>
          <a:lstStyle/>
          <a:p>
            <a:br>
              <a:rPr lang="en-US" sz="2600" kern="1200">
                <a:solidFill>
                  <a:schemeClr val="tx1"/>
                </a:solidFill>
                <a:latin typeface="+mj-lt"/>
                <a:ea typeface="+mj-ea"/>
                <a:cs typeface="+mj-cs"/>
              </a:rPr>
            </a:br>
            <a:r>
              <a:rPr lang="en-US" sz="2600" b="1" kern="1200">
                <a:solidFill>
                  <a:schemeClr val="tx1"/>
                </a:solidFill>
                <a:latin typeface="+mj-lt"/>
                <a:ea typeface="+mj-ea"/>
                <a:cs typeface="+mj-cs"/>
              </a:rPr>
              <a:t>Solutions to Make Preventive Health Check-Ups Mandatory</a:t>
            </a:r>
            <a:br>
              <a:rPr lang="en-US" sz="2600" kern="1200">
                <a:solidFill>
                  <a:schemeClr val="tx1"/>
                </a:solidFill>
                <a:latin typeface="+mj-lt"/>
                <a:ea typeface="+mj-ea"/>
                <a:cs typeface="+mj-cs"/>
              </a:rPr>
            </a:br>
            <a:endParaRPr lang="en-US" sz="2600" kern="1200">
              <a:solidFill>
                <a:schemeClr val="tx1"/>
              </a:solidFill>
              <a:latin typeface="+mj-lt"/>
              <a:ea typeface="+mj-ea"/>
              <a:cs typeface="+mj-cs"/>
            </a:endParaRPr>
          </a:p>
        </p:txBody>
      </p:sp>
      <p:sp>
        <p:nvSpPr>
          <p:cNvPr id="5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7847636-573D-DE97-2952-CD9D7FFA2B96}"/>
              </a:ext>
            </a:extLst>
          </p:cNvPr>
          <p:cNvSpPr>
            <a:spLocks noGrp="1"/>
          </p:cNvSpPr>
          <p:nvPr>
            <p:ph idx="1"/>
          </p:nvPr>
        </p:nvSpPr>
        <p:spPr>
          <a:xfrm>
            <a:off x="838200" y="1929384"/>
            <a:ext cx="10515600" cy="4251960"/>
          </a:xfrm>
        </p:spPr>
        <p:txBody>
          <a:bodyPr vert="horz" lIns="91440" tIns="45720" rIns="91440" bIns="45720" numCol="2" rtlCol="0">
            <a:normAutofit/>
          </a:bodyPr>
          <a:lstStyle/>
          <a:p>
            <a:r>
              <a:rPr lang="en-US" sz="2200" b="1" u="sng"/>
              <a:t>Retirees:</a:t>
            </a:r>
            <a:endParaRPr lang="en-US" sz="2200" u="sng"/>
          </a:p>
          <a:p>
            <a:pPr marL="0"/>
            <a:r>
              <a:rPr lang="en-US" sz="2200" b="1"/>
              <a:t>Solution:</a:t>
            </a:r>
            <a:r>
              <a:rPr lang="en-US" sz="2200"/>
              <a:t> Require retirees to submit annual health check-up reports with life certificates for pension.</a:t>
            </a:r>
          </a:p>
          <a:p>
            <a:pPr marL="0"/>
            <a:r>
              <a:rPr lang="en-US" sz="2200" b="1"/>
              <a:t>Benefit:</a:t>
            </a:r>
            <a:r>
              <a:rPr lang="en-US" sz="2200"/>
              <a:t> Encourages regular health monitoring and links check-ups to pension disbursements for their well-being.</a:t>
            </a:r>
          </a:p>
          <a:p>
            <a:r>
              <a:rPr lang="en-US" sz="2200" b="1" u="sng"/>
              <a:t>Employees:</a:t>
            </a:r>
            <a:endParaRPr lang="en-US" sz="2200" u="sng"/>
          </a:p>
          <a:p>
            <a:pPr marL="0"/>
            <a:r>
              <a:rPr lang="en-US" sz="2200" b="1"/>
              <a:t>Solution:</a:t>
            </a:r>
            <a:r>
              <a:rPr lang="en-US" sz="2200"/>
              <a:t> Make annual health check-ups mandatory for employees to qualify for bonuses.</a:t>
            </a:r>
          </a:p>
          <a:p>
            <a:pPr marL="0"/>
            <a:r>
              <a:rPr lang="en-US" sz="2200" b="1"/>
              <a:t>Benefit:</a:t>
            </a:r>
            <a:r>
              <a:rPr lang="en-US" sz="2200"/>
              <a:t> Promotes regular health monitoring, reducing absenteeism and improving productivity.</a:t>
            </a:r>
          </a:p>
          <a:p>
            <a:r>
              <a:rPr lang="en-US" sz="2200" b="1" u="sng"/>
              <a:t>Students:</a:t>
            </a:r>
            <a:endParaRPr lang="en-US" sz="2200" u="sng"/>
          </a:p>
          <a:p>
            <a:pPr marL="0"/>
            <a:r>
              <a:rPr lang="en-US" sz="2200" b="1"/>
              <a:t>Solution:</a:t>
            </a:r>
            <a:r>
              <a:rPr lang="en-US" sz="2200"/>
              <a:t> Mandate health check-ups every 2-3 years, with loyalty points earned for timely check-ups, redeemable for discounted travel in India.</a:t>
            </a:r>
          </a:p>
          <a:p>
            <a:pPr marL="0"/>
            <a:r>
              <a:rPr lang="en-US" sz="2200" b="1"/>
              <a:t>Benefit:</a:t>
            </a:r>
            <a:r>
              <a:rPr lang="en-US" sz="2200"/>
              <a:t> Encourages health prioritization and rewards regular check-ups with travel incentives.</a:t>
            </a:r>
          </a:p>
          <a:p>
            <a:endParaRPr lang="en-US" sz="2200"/>
          </a:p>
        </p:txBody>
      </p:sp>
      <p:sp>
        <p:nvSpPr>
          <p:cNvPr id="4" name="TextBox 3">
            <a:extLst>
              <a:ext uri="{FF2B5EF4-FFF2-40B4-BE49-F238E27FC236}">
                <a16:creationId xmlns:a16="http://schemas.microsoft.com/office/drawing/2014/main" id="{5F9796D7-4D5F-D054-6E44-6B86C3D8CB59}"/>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15</a:t>
            </a:r>
          </a:p>
        </p:txBody>
      </p:sp>
    </p:spTree>
    <p:extLst>
      <p:ext uri="{BB962C8B-B14F-4D97-AF65-F5344CB8AC3E}">
        <p14:creationId xmlns:p14="http://schemas.microsoft.com/office/powerpoint/2010/main" val="3601599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E729AB-6DA5-5859-572C-A66D762B97F0}"/>
            </a:ext>
          </a:extLst>
        </p:cNvPr>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4DB92C58-8131-EB45-5D9B-19938BDA7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8A2F2F-7670-3F6F-285B-0502EEF7B53E}"/>
              </a:ext>
            </a:extLst>
          </p:cNvPr>
          <p:cNvSpPr>
            <a:spLocks noGrp="1"/>
          </p:cNvSpPr>
          <p:nvPr>
            <p:ph type="title"/>
          </p:nvPr>
        </p:nvSpPr>
        <p:spPr>
          <a:xfrm>
            <a:off x="838200" y="365125"/>
            <a:ext cx="10515600" cy="1325563"/>
          </a:xfrm>
        </p:spPr>
        <p:txBody>
          <a:bodyPr vert="horz" lIns="91440" tIns="45720" rIns="91440" bIns="45720" rtlCol="0" anchor="ctr">
            <a:normAutofit/>
          </a:bodyPr>
          <a:lstStyle/>
          <a:p>
            <a:br>
              <a:rPr lang="en-US" sz="2600" kern="1200">
                <a:solidFill>
                  <a:schemeClr val="tx1"/>
                </a:solidFill>
                <a:latin typeface="+mj-lt"/>
                <a:ea typeface="+mj-ea"/>
                <a:cs typeface="+mj-cs"/>
              </a:rPr>
            </a:br>
            <a:r>
              <a:rPr lang="en-US" sz="2600" b="1" kern="1200">
                <a:solidFill>
                  <a:schemeClr val="tx1"/>
                </a:solidFill>
                <a:latin typeface="+mj-lt"/>
                <a:ea typeface="+mj-ea"/>
                <a:cs typeface="+mj-cs"/>
              </a:rPr>
              <a:t>Solutions to Make Preventive Health Check-Ups Mandatory</a:t>
            </a:r>
            <a:br>
              <a:rPr lang="en-US" sz="2600" kern="1200">
                <a:solidFill>
                  <a:schemeClr val="tx1"/>
                </a:solidFill>
                <a:latin typeface="+mj-lt"/>
                <a:ea typeface="+mj-ea"/>
                <a:cs typeface="+mj-cs"/>
              </a:rPr>
            </a:br>
            <a:endParaRPr lang="en-US" sz="2600" kern="1200">
              <a:solidFill>
                <a:schemeClr val="tx1"/>
              </a:solidFill>
              <a:latin typeface="+mj-lt"/>
              <a:ea typeface="+mj-ea"/>
              <a:cs typeface="+mj-cs"/>
            </a:endParaRPr>
          </a:p>
        </p:txBody>
      </p:sp>
      <p:sp>
        <p:nvSpPr>
          <p:cNvPr id="52" name="sketch line">
            <a:extLst>
              <a:ext uri="{FF2B5EF4-FFF2-40B4-BE49-F238E27FC236}">
                <a16:creationId xmlns:a16="http://schemas.microsoft.com/office/drawing/2014/main" id="{B54363E4-4ED0-9AA8-91F6-946FE2B3ED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13CCC4D7-E89B-F3E7-D77B-4FEF44C5ABFB}"/>
              </a:ext>
            </a:extLst>
          </p:cNvPr>
          <p:cNvSpPr>
            <a:spLocks noGrp="1"/>
          </p:cNvSpPr>
          <p:nvPr>
            <p:ph idx="1"/>
          </p:nvPr>
        </p:nvSpPr>
        <p:spPr>
          <a:xfrm>
            <a:off x="838200" y="1825625"/>
            <a:ext cx="10197662" cy="4339336"/>
          </a:xfrm>
        </p:spPr>
        <p:txBody>
          <a:bodyPr>
            <a:normAutofit fontScale="92500" lnSpcReduction="20000"/>
          </a:bodyPr>
          <a:lstStyle/>
          <a:p>
            <a:r>
              <a:rPr lang="en-US" sz="2800" b="1" u="sng" dirty="0"/>
              <a:t>Non-Employed/Housewives:</a:t>
            </a:r>
            <a:endParaRPr lang="en-US" sz="2800" u="sng" dirty="0"/>
          </a:p>
          <a:p>
            <a:pPr marL="0" indent="0">
              <a:buNone/>
            </a:pPr>
            <a:r>
              <a:rPr lang="en-US" sz="2800" b="1" dirty="0"/>
              <a:t>Solution:</a:t>
            </a:r>
            <a:r>
              <a:rPr lang="en-US" sz="2800" dirty="0"/>
              <a:t> Offer a loyalty card for regular check-ups, with points redeemable for discounts on goods.</a:t>
            </a:r>
          </a:p>
          <a:p>
            <a:pPr marL="0" indent="0">
              <a:buNone/>
            </a:pPr>
            <a:r>
              <a:rPr lang="en-US" sz="2800" b="1" dirty="0"/>
              <a:t>Benefit:</a:t>
            </a:r>
            <a:r>
              <a:rPr lang="en-US" sz="2800" dirty="0"/>
              <a:t> Incentivizes non-employed individuals to stay on top of their health and participate in check-ups.</a:t>
            </a:r>
          </a:p>
          <a:p>
            <a:pPr marL="0" indent="0">
              <a:buNone/>
            </a:pPr>
            <a:endParaRPr lang="en-US" sz="2800" dirty="0"/>
          </a:p>
          <a:p>
            <a:r>
              <a:rPr lang="en-US" sz="2800" b="1" u="sng" dirty="0"/>
              <a:t>Business Owners:</a:t>
            </a:r>
            <a:endParaRPr lang="en-US" sz="2800" u="sng" dirty="0"/>
          </a:p>
          <a:p>
            <a:pPr marL="0" indent="0">
              <a:buNone/>
            </a:pPr>
            <a:r>
              <a:rPr lang="en-US" sz="2800" b="1" dirty="0"/>
              <a:t>Solution:</a:t>
            </a:r>
            <a:r>
              <a:rPr lang="en-US" sz="2800" dirty="0"/>
              <a:t> Offer tax discounts for business owners who complete regular health check-ups.</a:t>
            </a:r>
          </a:p>
          <a:p>
            <a:pPr marL="0" indent="0">
              <a:buNone/>
            </a:pPr>
            <a:r>
              <a:rPr lang="en-US" sz="2800" b="1" dirty="0"/>
              <a:t>Benefit:</a:t>
            </a:r>
            <a:r>
              <a:rPr lang="en-US" sz="2800" dirty="0"/>
              <a:t> Links health monitoring to financial benefits, encouraging business owners to prioritize their health.</a:t>
            </a:r>
          </a:p>
          <a:p>
            <a:endParaRPr lang="en-US" dirty="0"/>
          </a:p>
        </p:txBody>
      </p:sp>
      <p:sp>
        <p:nvSpPr>
          <p:cNvPr id="3" name="TextBox 2">
            <a:extLst>
              <a:ext uri="{FF2B5EF4-FFF2-40B4-BE49-F238E27FC236}">
                <a16:creationId xmlns:a16="http://schemas.microsoft.com/office/drawing/2014/main" id="{36AE2809-B90C-0D0B-DCEE-D9102CE88096}"/>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16</a:t>
            </a:r>
          </a:p>
        </p:txBody>
      </p:sp>
    </p:spTree>
    <p:extLst>
      <p:ext uri="{BB962C8B-B14F-4D97-AF65-F5344CB8AC3E}">
        <p14:creationId xmlns:p14="http://schemas.microsoft.com/office/powerpoint/2010/main" val="1259783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97967-E4C0-8BB6-6371-B4669144F0EC}"/>
              </a:ext>
            </a:extLst>
          </p:cNvPr>
          <p:cNvSpPr>
            <a:spLocks noGrp="1"/>
          </p:cNvSpPr>
          <p:nvPr>
            <p:ph type="title"/>
          </p:nvPr>
        </p:nvSpPr>
        <p:spPr/>
        <p:txBody>
          <a:bodyPr>
            <a:normAutofit fontScale="90000"/>
          </a:bodyPr>
          <a:lstStyle/>
          <a:p>
            <a:r>
              <a:rPr lang="en-US" b="1"/>
              <a:t>Effect on Costs for Preventive Health Check-Ups:</a:t>
            </a:r>
            <a:br>
              <a:rPr lang="en-US"/>
            </a:br>
            <a:endParaRPr lang="en-US" dirty="0"/>
          </a:p>
        </p:txBody>
      </p:sp>
      <p:graphicFrame>
        <p:nvGraphicFramePr>
          <p:cNvPr id="15" name="Content Placeholder 2">
            <a:extLst>
              <a:ext uri="{FF2B5EF4-FFF2-40B4-BE49-F238E27FC236}">
                <a16:creationId xmlns:a16="http://schemas.microsoft.com/office/drawing/2014/main" id="{095CA3FD-1338-0FE7-ABD7-70F4896D7E0B}"/>
              </a:ext>
            </a:extLst>
          </p:cNvPr>
          <p:cNvGraphicFramePr>
            <a:graphicFrameLocks noGrp="1"/>
          </p:cNvGraphicFramePr>
          <p:nvPr>
            <p:ph idx="1"/>
            <p:extLst>
              <p:ext uri="{D42A27DB-BD31-4B8C-83A1-F6EECF244321}">
                <p14:modId xmlns:p14="http://schemas.microsoft.com/office/powerpoint/2010/main" val="1504415480"/>
              </p:ext>
            </p:extLst>
          </p:nvPr>
        </p:nvGraphicFramePr>
        <p:xfrm>
          <a:off x="695990" y="1479665"/>
          <a:ext cx="11152239" cy="39975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TextBox 12">
            <a:extLst>
              <a:ext uri="{FF2B5EF4-FFF2-40B4-BE49-F238E27FC236}">
                <a16:creationId xmlns:a16="http://schemas.microsoft.com/office/drawing/2014/main" id="{92D5B1EC-05CC-43BE-D81D-7FE06CA2123C}"/>
              </a:ext>
            </a:extLst>
          </p:cNvPr>
          <p:cNvSpPr txBox="1"/>
          <p:nvPr/>
        </p:nvSpPr>
        <p:spPr>
          <a:xfrm>
            <a:off x="695991" y="5477212"/>
            <a:ext cx="11152239" cy="1015663"/>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In conclusion, mandatory preventive check-ups are likely to reduce both individual and system-wide healthcare costs by preventing the escalation of health issues, improving resource efficiency, and promoting more affordable care.</a:t>
            </a:r>
          </a:p>
        </p:txBody>
      </p:sp>
      <p:sp>
        <p:nvSpPr>
          <p:cNvPr id="3" name="TextBox 2">
            <a:extLst>
              <a:ext uri="{FF2B5EF4-FFF2-40B4-BE49-F238E27FC236}">
                <a16:creationId xmlns:a16="http://schemas.microsoft.com/office/drawing/2014/main" id="{73490818-CDE6-439B-A0BB-9FCDC3BB56F6}"/>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17</a:t>
            </a:r>
          </a:p>
        </p:txBody>
      </p:sp>
    </p:spTree>
    <p:extLst>
      <p:ext uri="{BB962C8B-B14F-4D97-AF65-F5344CB8AC3E}">
        <p14:creationId xmlns:p14="http://schemas.microsoft.com/office/powerpoint/2010/main" val="23435355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E439E041-C325-C8CE-A477-34C7B9B1D555}"/>
              </a:ext>
            </a:extLst>
          </p:cNvPr>
          <p:cNvPicPr>
            <a:picLocks noChangeAspect="1"/>
          </p:cNvPicPr>
          <p:nvPr/>
        </p:nvPicPr>
        <p:blipFill>
          <a:blip r:embed="rId2"/>
          <a:srcRect t="1402" r="9091" b="30416"/>
          <a:stretch/>
        </p:blipFill>
        <p:spPr>
          <a:xfrm>
            <a:off x="20" y="10"/>
            <a:ext cx="12191980" cy="6857990"/>
          </a:xfrm>
          <a:prstGeom prst="rect">
            <a:avLst/>
          </a:prstGeom>
        </p:spPr>
      </p:pic>
      <p:sp>
        <p:nvSpPr>
          <p:cNvPr id="24" name="Rectangle 23">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060548D-8D56-7802-BF01-B60BE2E74A77}"/>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a:t>FUTURE PLANS</a:t>
            </a:r>
            <a:br>
              <a:rPr lang="en-US"/>
            </a:br>
            <a:endParaRPr lang="en-US" dirty="0"/>
          </a:p>
        </p:txBody>
      </p:sp>
      <p:grpSp>
        <p:nvGrpSpPr>
          <p:cNvPr id="10" name="Group 9">
            <a:extLst>
              <a:ext uri="{FF2B5EF4-FFF2-40B4-BE49-F238E27FC236}">
                <a16:creationId xmlns:a16="http://schemas.microsoft.com/office/drawing/2014/main" id="{EA1982B0-2F99-A504-5A38-0D05358EA309}"/>
              </a:ext>
            </a:extLst>
          </p:cNvPr>
          <p:cNvGrpSpPr/>
          <p:nvPr/>
        </p:nvGrpSpPr>
        <p:grpSpPr>
          <a:xfrm>
            <a:off x="833397" y="1534033"/>
            <a:ext cx="10887547" cy="4685792"/>
            <a:chOff x="1143000" y="2132549"/>
            <a:chExt cx="10515600" cy="4347088"/>
          </a:xfrm>
        </p:grpSpPr>
        <p:sp>
          <p:nvSpPr>
            <p:cNvPr id="11" name="Straight Connector 10">
              <a:extLst>
                <a:ext uri="{FF2B5EF4-FFF2-40B4-BE49-F238E27FC236}">
                  <a16:creationId xmlns:a16="http://schemas.microsoft.com/office/drawing/2014/main" id="{F549A894-4D92-B4BF-E1E9-F77CF9AAC1D0}"/>
                </a:ext>
              </a:extLst>
            </p:cNvPr>
            <p:cNvSpPr/>
            <p:nvPr/>
          </p:nvSpPr>
          <p:spPr>
            <a:xfrm>
              <a:off x="1143000" y="2132549"/>
              <a:ext cx="10515600"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000"/>
            </a:p>
          </p:txBody>
        </p:sp>
        <p:sp>
          <p:nvSpPr>
            <p:cNvPr id="12" name="Freeform: Shape 11">
              <a:extLst>
                <a:ext uri="{FF2B5EF4-FFF2-40B4-BE49-F238E27FC236}">
                  <a16:creationId xmlns:a16="http://schemas.microsoft.com/office/drawing/2014/main" id="{60E9A0D7-1C59-D068-A636-62DD03C2C62E}"/>
                </a:ext>
              </a:extLst>
            </p:cNvPr>
            <p:cNvSpPr/>
            <p:nvPr/>
          </p:nvSpPr>
          <p:spPr>
            <a:xfrm>
              <a:off x="1143000" y="2132549"/>
              <a:ext cx="10515600" cy="724514"/>
            </a:xfrm>
            <a:custGeom>
              <a:avLst/>
              <a:gdLst>
                <a:gd name="connsiteX0" fmla="*/ 0 w 10515600"/>
                <a:gd name="connsiteY0" fmla="*/ 0 h 724514"/>
                <a:gd name="connsiteX1" fmla="*/ 10515600 w 10515600"/>
                <a:gd name="connsiteY1" fmla="*/ 0 h 724514"/>
                <a:gd name="connsiteX2" fmla="*/ 10515600 w 10515600"/>
                <a:gd name="connsiteY2" fmla="*/ 724514 h 724514"/>
                <a:gd name="connsiteX3" fmla="*/ 0 w 10515600"/>
                <a:gd name="connsiteY3" fmla="*/ 724514 h 724514"/>
                <a:gd name="connsiteX4" fmla="*/ 0 w 10515600"/>
                <a:gd name="connsiteY4" fmla="*/ 0 h 724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24514">
                  <a:moveTo>
                    <a:pt x="0" y="0"/>
                  </a:moveTo>
                  <a:lnTo>
                    <a:pt x="10515600" y="0"/>
                  </a:lnTo>
                  <a:lnTo>
                    <a:pt x="10515600" y="724514"/>
                  </a:lnTo>
                  <a:lnTo>
                    <a:pt x="0" y="7245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400" kern="1200" dirty="0"/>
                <a:t>Slot Booking: Enable users to schedule health check-ups at their preferred time.</a:t>
              </a:r>
            </a:p>
          </p:txBody>
        </p:sp>
        <p:sp>
          <p:nvSpPr>
            <p:cNvPr id="13" name="Straight Connector 12">
              <a:extLst>
                <a:ext uri="{FF2B5EF4-FFF2-40B4-BE49-F238E27FC236}">
                  <a16:creationId xmlns:a16="http://schemas.microsoft.com/office/drawing/2014/main" id="{9EC40ADC-3302-B26A-A815-712B773DAB0B}"/>
                </a:ext>
              </a:extLst>
            </p:cNvPr>
            <p:cNvSpPr/>
            <p:nvPr/>
          </p:nvSpPr>
          <p:spPr>
            <a:xfrm>
              <a:off x="1143000" y="2857064"/>
              <a:ext cx="10515600"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000"/>
            </a:p>
          </p:txBody>
        </p:sp>
        <p:sp>
          <p:nvSpPr>
            <p:cNvPr id="14" name="Freeform: Shape 13">
              <a:extLst>
                <a:ext uri="{FF2B5EF4-FFF2-40B4-BE49-F238E27FC236}">
                  <a16:creationId xmlns:a16="http://schemas.microsoft.com/office/drawing/2014/main" id="{EE136A8C-C6CD-35A1-C54E-B97C723C26ED}"/>
                </a:ext>
              </a:extLst>
            </p:cNvPr>
            <p:cNvSpPr/>
            <p:nvPr/>
          </p:nvSpPr>
          <p:spPr>
            <a:xfrm>
              <a:off x="1143000" y="2857064"/>
              <a:ext cx="10515600" cy="724514"/>
            </a:xfrm>
            <a:custGeom>
              <a:avLst/>
              <a:gdLst>
                <a:gd name="connsiteX0" fmla="*/ 0 w 10515600"/>
                <a:gd name="connsiteY0" fmla="*/ 0 h 724514"/>
                <a:gd name="connsiteX1" fmla="*/ 10515600 w 10515600"/>
                <a:gd name="connsiteY1" fmla="*/ 0 h 724514"/>
                <a:gd name="connsiteX2" fmla="*/ 10515600 w 10515600"/>
                <a:gd name="connsiteY2" fmla="*/ 724514 h 724514"/>
                <a:gd name="connsiteX3" fmla="*/ 0 w 10515600"/>
                <a:gd name="connsiteY3" fmla="*/ 724514 h 724514"/>
                <a:gd name="connsiteX4" fmla="*/ 0 w 10515600"/>
                <a:gd name="connsiteY4" fmla="*/ 0 h 724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24514">
                  <a:moveTo>
                    <a:pt x="0" y="0"/>
                  </a:moveTo>
                  <a:lnTo>
                    <a:pt x="10515600" y="0"/>
                  </a:lnTo>
                  <a:lnTo>
                    <a:pt x="10515600" y="724514"/>
                  </a:lnTo>
                  <a:lnTo>
                    <a:pt x="0" y="7245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400" kern="1200"/>
                <a:t>Loyalty Points: Reward users with redeemable points for regular check-ups.</a:t>
              </a:r>
            </a:p>
          </p:txBody>
        </p:sp>
        <p:sp>
          <p:nvSpPr>
            <p:cNvPr id="15" name="Straight Connector 14">
              <a:extLst>
                <a:ext uri="{FF2B5EF4-FFF2-40B4-BE49-F238E27FC236}">
                  <a16:creationId xmlns:a16="http://schemas.microsoft.com/office/drawing/2014/main" id="{32E86C56-8F03-9E01-8822-C48600AD08DD}"/>
                </a:ext>
              </a:extLst>
            </p:cNvPr>
            <p:cNvSpPr/>
            <p:nvPr/>
          </p:nvSpPr>
          <p:spPr>
            <a:xfrm>
              <a:off x="1143000" y="3581579"/>
              <a:ext cx="10515600"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000"/>
            </a:p>
          </p:txBody>
        </p:sp>
        <p:sp>
          <p:nvSpPr>
            <p:cNvPr id="16" name="Freeform: Shape 15">
              <a:extLst>
                <a:ext uri="{FF2B5EF4-FFF2-40B4-BE49-F238E27FC236}">
                  <a16:creationId xmlns:a16="http://schemas.microsoft.com/office/drawing/2014/main" id="{BC6304E8-3D5B-311E-C9F9-85936259015B}"/>
                </a:ext>
              </a:extLst>
            </p:cNvPr>
            <p:cNvSpPr/>
            <p:nvPr/>
          </p:nvSpPr>
          <p:spPr>
            <a:xfrm>
              <a:off x="1143000" y="3581579"/>
              <a:ext cx="10515600" cy="724514"/>
            </a:xfrm>
            <a:custGeom>
              <a:avLst/>
              <a:gdLst>
                <a:gd name="connsiteX0" fmla="*/ 0 w 10515600"/>
                <a:gd name="connsiteY0" fmla="*/ 0 h 724514"/>
                <a:gd name="connsiteX1" fmla="*/ 10515600 w 10515600"/>
                <a:gd name="connsiteY1" fmla="*/ 0 h 724514"/>
                <a:gd name="connsiteX2" fmla="*/ 10515600 w 10515600"/>
                <a:gd name="connsiteY2" fmla="*/ 724514 h 724514"/>
                <a:gd name="connsiteX3" fmla="*/ 0 w 10515600"/>
                <a:gd name="connsiteY3" fmla="*/ 724514 h 724514"/>
                <a:gd name="connsiteX4" fmla="*/ 0 w 10515600"/>
                <a:gd name="connsiteY4" fmla="*/ 0 h 724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24514">
                  <a:moveTo>
                    <a:pt x="0" y="0"/>
                  </a:moveTo>
                  <a:lnTo>
                    <a:pt x="10515600" y="0"/>
                  </a:lnTo>
                  <a:lnTo>
                    <a:pt x="10515600" y="724514"/>
                  </a:lnTo>
                  <a:lnTo>
                    <a:pt x="0" y="7245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400" kern="1200" dirty="0"/>
                <a:t>Price Comparison: Allow users to compare private and government lab costs for affordability.</a:t>
              </a:r>
            </a:p>
          </p:txBody>
        </p:sp>
        <p:sp>
          <p:nvSpPr>
            <p:cNvPr id="18" name="Straight Connector 17">
              <a:extLst>
                <a:ext uri="{FF2B5EF4-FFF2-40B4-BE49-F238E27FC236}">
                  <a16:creationId xmlns:a16="http://schemas.microsoft.com/office/drawing/2014/main" id="{B05144B5-02FC-5F11-ABE0-AF4EE5212CFA}"/>
                </a:ext>
              </a:extLst>
            </p:cNvPr>
            <p:cNvSpPr/>
            <p:nvPr/>
          </p:nvSpPr>
          <p:spPr>
            <a:xfrm>
              <a:off x="1143000" y="4306094"/>
              <a:ext cx="10515600"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000"/>
            </a:p>
          </p:txBody>
        </p:sp>
        <p:sp>
          <p:nvSpPr>
            <p:cNvPr id="20" name="Freeform: Shape 19">
              <a:extLst>
                <a:ext uri="{FF2B5EF4-FFF2-40B4-BE49-F238E27FC236}">
                  <a16:creationId xmlns:a16="http://schemas.microsoft.com/office/drawing/2014/main" id="{563DA859-0B00-CAA6-CE76-83DC50E46CAA}"/>
                </a:ext>
              </a:extLst>
            </p:cNvPr>
            <p:cNvSpPr/>
            <p:nvPr/>
          </p:nvSpPr>
          <p:spPr>
            <a:xfrm>
              <a:off x="1143000" y="4306094"/>
              <a:ext cx="10515600" cy="724514"/>
            </a:xfrm>
            <a:custGeom>
              <a:avLst/>
              <a:gdLst>
                <a:gd name="connsiteX0" fmla="*/ 0 w 10515600"/>
                <a:gd name="connsiteY0" fmla="*/ 0 h 724514"/>
                <a:gd name="connsiteX1" fmla="*/ 10515600 w 10515600"/>
                <a:gd name="connsiteY1" fmla="*/ 0 h 724514"/>
                <a:gd name="connsiteX2" fmla="*/ 10515600 w 10515600"/>
                <a:gd name="connsiteY2" fmla="*/ 724514 h 724514"/>
                <a:gd name="connsiteX3" fmla="*/ 0 w 10515600"/>
                <a:gd name="connsiteY3" fmla="*/ 724514 h 724514"/>
                <a:gd name="connsiteX4" fmla="*/ 0 w 10515600"/>
                <a:gd name="connsiteY4" fmla="*/ 0 h 724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24514">
                  <a:moveTo>
                    <a:pt x="0" y="0"/>
                  </a:moveTo>
                  <a:lnTo>
                    <a:pt x="10515600" y="0"/>
                  </a:lnTo>
                  <a:lnTo>
                    <a:pt x="10515600" y="724514"/>
                  </a:lnTo>
                  <a:lnTo>
                    <a:pt x="0" y="7245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400" kern="1200"/>
                <a:t>Diet Recommendations: Provide AI-based personalized diet plans based on health reports.</a:t>
              </a:r>
            </a:p>
          </p:txBody>
        </p:sp>
        <p:sp>
          <p:nvSpPr>
            <p:cNvPr id="21" name="Straight Connector 20">
              <a:extLst>
                <a:ext uri="{FF2B5EF4-FFF2-40B4-BE49-F238E27FC236}">
                  <a16:creationId xmlns:a16="http://schemas.microsoft.com/office/drawing/2014/main" id="{3C65B597-B9B2-45D4-021E-D7F2161979A5}"/>
                </a:ext>
              </a:extLst>
            </p:cNvPr>
            <p:cNvSpPr/>
            <p:nvPr/>
          </p:nvSpPr>
          <p:spPr>
            <a:xfrm>
              <a:off x="1143000" y="5030608"/>
              <a:ext cx="10515600"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000"/>
            </a:p>
          </p:txBody>
        </p:sp>
        <p:sp>
          <p:nvSpPr>
            <p:cNvPr id="22" name="Freeform: Shape 21">
              <a:extLst>
                <a:ext uri="{FF2B5EF4-FFF2-40B4-BE49-F238E27FC236}">
                  <a16:creationId xmlns:a16="http://schemas.microsoft.com/office/drawing/2014/main" id="{58E73C41-563A-60BF-210B-EC6FFF48FFBD}"/>
                </a:ext>
              </a:extLst>
            </p:cNvPr>
            <p:cNvSpPr/>
            <p:nvPr/>
          </p:nvSpPr>
          <p:spPr>
            <a:xfrm>
              <a:off x="1143000" y="5030608"/>
              <a:ext cx="10515600" cy="724514"/>
            </a:xfrm>
            <a:custGeom>
              <a:avLst/>
              <a:gdLst>
                <a:gd name="connsiteX0" fmla="*/ 0 w 10515600"/>
                <a:gd name="connsiteY0" fmla="*/ 0 h 724514"/>
                <a:gd name="connsiteX1" fmla="*/ 10515600 w 10515600"/>
                <a:gd name="connsiteY1" fmla="*/ 0 h 724514"/>
                <a:gd name="connsiteX2" fmla="*/ 10515600 w 10515600"/>
                <a:gd name="connsiteY2" fmla="*/ 724514 h 724514"/>
                <a:gd name="connsiteX3" fmla="*/ 0 w 10515600"/>
                <a:gd name="connsiteY3" fmla="*/ 724514 h 724514"/>
                <a:gd name="connsiteX4" fmla="*/ 0 w 10515600"/>
                <a:gd name="connsiteY4" fmla="*/ 0 h 724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24514">
                  <a:moveTo>
                    <a:pt x="0" y="0"/>
                  </a:moveTo>
                  <a:lnTo>
                    <a:pt x="10515600" y="0"/>
                  </a:lnTo>
                  <a:lnTo>
                    <a:pt x="10515600" y="724514"/>
                  </a:lnTo>
                  <a:lnTo>
                    <a:pt x="0" y="7245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400" kern="1200"/>
                <a:t>Lab Locator: Include a map to locate nearby labs with addresses.</a:t>
              </a:r>
            </a:p>
          </p:txBody>
        </p:sp>
        <p:sp>
          <p:nvSpPr>
            <p:cNvPr id="23" name="Straight Connector 22">
              <a:extLst>
                <a:ext uri="{FF2B5EF4-FFF2-40B4-BE49-F238E27FC236}">
                  <a16:creationId xmlns:a16="http://schemas.microsoft.com/office/drawing/2014/main" id="{CCBF98DA-A0B3-DE31-F72B-763FA3DB63A5}"/>
                </a:ext>
              </a:extLst>
            </p:cNvPr>
            <p:cNvSpPr/>
            <p:nvPr/>
          </p:nvSpPr>
          <p:spPr>
            <a:xfrm>
              <a:off x="1143000" y="5755123"/>
              <a:ext cx="10515600" cy="0"/>
            </a:xfrm>
            <a:prstGeom prst="line">
              <a:avLst/>
            </a:prstGeom>
          </p:spPr>
          <p:style>
            <a:lnRef idx="2">
              <a:schemeClr val="accen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sz="2000"/>
            </a:p>
          </p:txBody>
        </p:sp>
        <p:sp>
          <p:nvSpPr>
            <p:cNvPr id="25" name="Freeform: Shape 24">
              <a:extLst>
                <a:ext uri="{FF2B5EF4-FFF2-40B4-BE49-F238E27FC236}">
                  <a16:creationId xmlns:a16="http://schemas.microsoft.com/office/drawing/2014/main" id="{60B87851-ED47-91EF-EDF8-8CDD7552C133}"/>
                </a:ext>
              </a:extLst>
            </p:cNvPr>
            <p:cNvSpPr/>
            <p:nvPr/>
          </p:nvSpPr>
          <p:spPr>
            <a:xfrm>
              <a:off x="1143000" y="5755123"/>
              <a:ext cx="10515600" cy="724514"/>
            </a:xfrm>
            <a:custGeom>
              <a:avLst/>
              <a:gdLst>
                <a:gd name="connsiteX0" fmla="*/ 0 w 10515600"/>
                <a:gd name="connsiteY0" fmla="*/ 0 h 724514"/>
                <a:gd name="connsiteX1" fmla="*/ 10515600 w 10515600"/>
                <a:gd name="connsiteY1" fmla="*/ 0 h 724514"/>
                <a:gd name="connsiteX2" fmla="*/ 10515600 w 10515600"/>
                <a:gd name="connsiteY2" fmla="*/ 724514 h 724514"/>
                <a:gd name="connsiteX3" fmla="*/ 0 w 10515600"/>
                <a:gd name="connsiteY3" fmla="*/ 724514 h 724514"/>
                <a:gd name="connsiteX4" fmla="*/ 0 w 10515600"/>
                <a:gd name="connsiteY4" fmla="*/ 0 h 7245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0" h="724514">
                  <a:moveTo>
                    <a:pt x="0" y="0"/>
                  </a:moveTo>
                  <a:lnTo>
                    <a:pt x="10515600" y="0"/>
                  </a:lnTo>
                  <a:lnTo>
                    <a:pt x="10515600" y="724514"/>
                  </a:lnTo>
                  <a:lnTo>
                    <a:pt x="0" y="72451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400" kern="1200"/>
                <a:t>Age-Specific Packages: Offer customized health check-up packages for different age groups.</a:t>
              </a:r>
            </a:p>
          </p:txBody>
        </p:sp>
      </p:grpSp>
      <p:sp>
        <p:nvSpPr>
          <p:cNvPr id="3" name="TextBox 2">
            <a:extLst>
              <a:ext uri="{FF2B5EF4-FFF2-40B4-BE49-F238E27FC236}">
                <a16:creationId xmlns:a16="http://schemas.microsoft.com/office/drawing/2014/main" id="{89160261-3205-A7FD-2D5B-624FCA3D29E3}"/>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18</a:t>
            </a:r>
          </a:p>
        </p:txBody>
      </p:sp>
    </p:spTree>
    <p:extLst>
      <p:ext uri="{BB962C8B-B14F-4D97-AF65-F5344CB8AC3E}">
        <p14:creationId xmlns:p14="http://schemas.microsoft.com/office/powerpoint/2010/main" val="913299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8301FC-C6F7-CA1B-26B8-AB4D25B89BD3}"/>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sz="4200" b="1" kern="1200" dirty="0">
                <a:solidFill>
                  <a:schemeClr val="tx1"/>
                </a:solidFill>
                <a:latin typeface="+mj-lt"/>
                <a:ea typeface="+mj-ea"/>
                <a:cs typeface="+mj-cs"/>
              </a:rPr>
              <a:t>Overall Conclusion:</a:t>
            </a:r>
            <a:br>
              <a:rPr lang="en-US" sz="4200" kern="1200" dirty="0">
                <a:solidFill>
                  <a:schemeClr val="tx1"/>
                </a:solidFill>
                <a:latin typeface="+mj-lt"/>
                <a:ea typeface="+mj-ea"/>
                <a:cs typeface="+mj-cs"/>
              </a:rPr>
            </a:br>
            <a:endParaRPr lang="en-US" sz="4200" kern="1200" dirty="0">
              <a:solidFill>
                <a:schemeClr val="tx1"/>
              </a:solidFill>
              <a:latin typeface="+mj-lt"/>
              <a:ea typeface="+mj-ea"/>
              <a:cs typeface="+mj-cs"/>
            </a:endParaRPr>
          </a:p>
        </p:txBody>
      </p:sp>
      <p:sp>
        <p:nvSpPr>
          <p:cNvPr id="14"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ntent Placeholder 2">
            <a:extLst>
              <a:ext uri="{FF2B5EF4-FFF2-40B4-BE49-F238E27FC236}">
                <a16:creationId xmlns:a16="http://schemas.microsoft.com/office/drawing/2014/main" id="{79741C55-BEF0-C8C9-8371-E252843E743C}"/>
              </a:ext>
            </a:extLst>
          </p:cNvPr>
          <p:cNvSpPr>
            <a:spLocks noGrp="1"/>
          </p:cNvSpPr>
          <p:nvPr>
            <p:ph idx="1"/>
          </p:nvPr>
        </p:nvSpPr>
        <p:spPr>
          <a:xfrm>
            <a:off x="838200" y="1929384"/>
            <a:ext cx="10515600" cy="4251960"/>
          </a:xfrm>
        </p:spPr>
        <p:txBody>
          <a:bodyPr vert="horz" lIns="91440" tIns="45720" rIns="91440" bIns="45720" rtlCol="0">
            <a:normAutofit/>
          </a:bodyPr>
          <a:lstStyle/>
          <a:p>
            <a:r>
              <a:rPr lang="en-US" sz="2200" b="1"/>
              <a:t>Mandatory Preventive Health Check-Ups</a:t>
            </a:r>
            <a:r>
              <a:rPr lang="en-US" sz="2200"/>
              <a:t> will improve public health and promote early disease detection.</a:t>
            </a:r>
          </a:p>
          <a:p>
            <a:r>
              <a:rPr lang="en-US" sz="2200"/>
              <a:t>Tailored solutions for </a:t>
            </a:r>
            <a:r>
              <a:rPr lang="en-US" sz="2200" b="1"/>
              <a:t>different age and occupation groups</a:t>
            </a:r>
            <a:r>
              <a:rPr lang="en-US" sz="2200"/>
              <a:t> will ensure accessibility and encourage regular health monitoring.</a:t>
            </a:r>
          </a:p>
          <a:p>
            <a:r>
              <a:rPr lang="en-US" sz="2200"/>
              <a:t>These measures will help reduce </a:t>
            </a:r>
            <a:r>
              <a:rPr lang="en-US" sz="2200" b="1"/>
              <a:t>healthcare costs</a:t>
            </a:r>
            <a:r>
              <a:rPr lang="en-US" sz="2200"/>
              <a:t> by preventing serious health issues through early detection.</a:t>
            </a:r>
          </a:p>
          <a:p>
            <a:r>
              <a:rPr lang="en-US" sz="2200" b="1"/>
              <a:t>Increased health awareness</a:t>
            </a:r>
            <a:r>
              <a:rPr lang="en-US" sz="2200"/>
              <a:t> will lead to healthier lifestyles and proactive care.</a:t>
            </a:r>
          </a:p>
          <a:p>
            <a:r>
              <a:rPr lang="en-US" sz="2200"/>
              <a:t>Early detection can prevent </a:t>
            </a:r>
            <a:r>
              <a:rPr lang="en-US" sz="2200" b="1"/>
              <a:t>epidemics and pandemics</a:t>
            </a:r>
            <a:r>
              <a:rPr lang="en-US" sz="2200"/>
              <a:t>, saving lives and healthcare resources.</a:t>
            </a:r>
          </a:p>
          <a:p>
            <a:r>
              <a:rPr lang="en-US" sz="2200"/>
              <a:t>Overall, these solutions will contribute to a </a:t>
            </a:r>
            <a:r>
              <a:rPr lang="en-US" sz="2200" b="1"/>
              <a:t>sustainable and efficient healthcare system</a:t>
            </a:r>
            <a:r>
              <a:rPr lang="en-US" sz="2200"/>
              <a:t>, benefiting both individuals and society as a whole.</a:t>
            </a:r>
          </a:p>
          <a:p>
            <a:endParaRPr lang="en-US" sz="2200"/>
          </a:p>
        </p:txBody>
      </p:sp>
      <p:sp>
        <p:nvSpPr>
          <p:cNvPr id="3" name="TextBox 2">
            <a:extLst>
              <a:ext uri="{FF2B5EF4-FFF2-40B4-BE49-F238E27FC236}">
                <a16:creationId xmlns:a16="http://schemas.microsoft.com/office/drawing/2014/main" id="{78D3328B-717E-5512-00BC-86E357EC7952}"/>
              </a:ext>
            </a:extLst>
          </p:cNvPr>
          <p:cNvSpPr txBox="1"/>
          <p:nvPr/>
        </p:nvSpPr>
        <p:spPr>
          <a:xfrm>
            <a:off x="11143091" y="234804"/>
            <a:ext cx="693174" cy="369332"/>
          </a:xfrm>
          <a:prstGeom prst="rect">
            <a:avLst/>
          </a:prstGeom>
          <a:solidFill>
            <a:schemeClr val="accent2"/>
          </a:solidFill>
        </p:spPr>
        <p:txBody>
          <a:bodyPr wrap="square" rtlCol="0">
            <a:spAutoFit/>
          </a:bodyPr>
          <a:lstStyle/>
          <a:p>
            <a:pPr algn="ctr"/>
            <a:r>
              <a:rPr lang="en-US" dirty="0"/>
              <a:t>19</a:t>
            </a:r>
          </a:p>
        </p:txBody>
      </p:sp>
    </p:spTree>
    <p:extLst>
      <p:ext uri="{BB962C8B-B14F-4D97-AF65-F5344CB8AC3E}">
        <p14:creationId xmlns:p14="http://schemas.microsoft.com/office/powerpoint/2010/main" val="183241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 name="Rectangle 3">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0DA10B-36DE-8D5B-1D0F-C16B4FDCB9DA}"/>
              </a:ext>
            </a:extLst>
          </p:cNvPr>
          <p:cNvSpPr>
            <a:spLocks noGrp="1"/>
          </p:cNvSpPr>
          <p:nvPr>
            <p:ph type="title"/>
          </p:nvPr>
        </p:nvSpPr>
        <p:spPr>
          <a:xfrm>
            <a:off x="1386865" y="818984"/>
            <a:ext cx="6596245" cy="3268520"/>
          </a:xfrm>
        </p:spPr>
        <p:txBody>
          <a:bodyPr vert="horz" lIns="91440" tIns="45720" rIns="91440" bIns="45720" rtlCol="0" anchor="b">
            <a:normAutofit/>
          </a:bodyPr>
          <a:lstStyle/>
          <a:p>
            <a:pPr algn="r"/>
            <a:r>
              <a:rPr lang="en-US" sz="4800" kern="1200">
                <a:solidFill>
                  <a:srgbClr val="FFFFFF"/>
                </a:solidFill>
                <a:latin typeface="+mj-lt"/>
                <a:ea typeface="+mj-ea"/>
                <a:cs typeface="+mj-cs"/>
              </a:rPr>
              <a:t>Thank you!!!</a:t>
            </a:r>
          </a:p>
        </p:txBody>
      </p:sp>
      <p:sp>
        <p:nvSpPr>
          <p:cNvPr id="17" name="Rectangle 16">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69800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C0A3E416-13B0-4CFE-8B85-8989D8AEFB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ABE01347FC3FF459AB720BD84556ACB" ma:contentTypeVersion="10" ma:contentTypeDescription="Create a new document." ma:contentTypeScope="" ma:versionID="678844f693b4099f502b18e9a6abc244">
  <xsd:schema xmlns:xsd="http://www.w3.org/2001/XMLSchema" xmlns:xs="http://www.w3.org/2001/XMLSchema" xmlns:p="http://schemas.microsoft.com/office/2006/metadata/properties" xmlns:ns3="402542ff-8b4c-4803-a531-a6ed2d8a89d0" targetNamespace="http://schemas.microsoft.com/office/2006/metadata/properties" ma:root="true" ma:fieldsID="3664348bb61ffb7e6e8fcf241814f7da" ns3:_="">
    <xsd:import namespace="402542ff-8b4c-4803-a531-a6ed2d8a89d0"/>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02542ff-8b4c-4803-a531-a6ed2d8a89d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SystemTags" ma:index="13" nillable="true" ma:displayName="MediaServiceSystemTags" ma:hidden="true" ma:internalName="MediaServiceSystemTag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SearchProperties" ma:index="17"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402542ff-8b4c-4803-a531-a6ed2d8a89d0" xsi:nil="true"/>
  </documentManagement>
</p:properties>
</file>

<file path=customXml/itemProps1.xml><?xml version="1.0" encoding="utf-8"?>
<ds:datastoreItem xmlns:ds="http://schemas.openxmlformats.org/officeDocument/2006/customXml" ds:itemID="{B280958F-989D-47FE-9F96-3BBC7F2C8F9D}">
  <ds:schemaRefs>
    <ds:schemaRef ds:uri="http://schemas.microsoft.com/office/2006/metadata/contentType"/>
    <ds:schemaRef ds:uri="http://schemas.microsoft.com/office/2006/metadata/properties/metaAttributes"/>
    <ds:schemaRef ds:uri="http://www.w3.org/2000/xmlns/"/>
    <ds:schemaRef ds:uri="http://www.w3.org/2001/XMLSchema"/>
    <ds:schemaRef ds:uri="402542ff-8b4c-4803-a531-a6ed2d8a89d0"/>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1012531-050B-426F-AF37-ADE39A341484}">
  <ds:schemaRefs>
    <ds:schemaRef ds:uri="http://schemas.microsoft.com/sharepoint/v3/contenttype/forms"/>
  </ds:schemaRefs>
</ds:datastoreItem>
</file>

<file path=customXml/itemProps3.xml><?xml version="1.0" encoding="utf-8"?>
<ds:datastoreItem xmlns:ds="http://schemas.openxmlformats.org/officeDocument/2006/customXml" ds:itemID="{93ADE57A-E766-46F5-B2F8-46B233B9244F}">
  <ds:schemaRefs>
    <ds:schemaRef ds:uri="http://schemas.microsoft.com/office/infopath/2007/PartnerControls"/>
    <ds:schemaRef ds:uri="http://www.w3.org/XML/1998/namespace"/>
    <ds:schemaRef ds:uri="http://schemas.microsoft.com/office/2006/documentManagement/types"/>
    <ds:schemaRef ds:uri="http://schemas.openxmlformats.org/package/2006/metadata/core-properties"/>
    <ds:schemaRef ds:uri="http://schemas.microsoft.com/office/2006/metadata/properties"/>
    <ds:schemaRef ds:uri="http://purl.org/dc/dcmitype/"/>
    <ds:schemaRef ds:uri="402542ff-8b4c-4803-a531-a6ed2d8a89d0"/>
    <ds:schemaRef ds:uri="http://purl.org/dc/term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1102</TotalTime>
  <Words>1574</Words>
  <Application>Microsoft Office PowerPoint</Application>
  <PresentationFormat>Widescreen</PresentationFormat>
  <Paragraphs>165</Paragraphs>
  <Slides>20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Aptos Display</vt:lpstr>
      <vt:lpstr>Arial</vt:lpstr>
      <vt:lpstr>Calibri</vt:lpstr>
      <vt:lpstr>Times New Roman</vt:lpstr>
      <vt:lpstr>Office Theme</vt:lpstr>
      <vt:lpstr>Breaking Barriers: Making Preventive Healthcare Affordable</vt:lpstr>
      <vt:lpstr>Abstract</vt:lpstr>
      <vt:lpstr>INTRODUCTION</vt:lpstr>
      <vt:lpstr>OBJECTIVES</vt:lpstr>
      <vt:lpstr>METHODOLOGY</vt:lpstr>
      <vt:lpstr>PowerPoint Presentation</vt:lpstr>
      <vt:lpstr>PowerPoint Presentation</vt:lpstr>
      <vt:lpstr>PowerPoint Presentation</vt:lpstr>
      <vt:lpstr>PowerPoint Presentation</vt:lpstr>
      <vt:lpstr>PowerPoint Presentation</vt:lpstr>
      <vt:lpstr>SOLUTIONS</vt:lpstr>
      <vt:lpstr>Features</vt:lpstr>
      <vt:lpstr>Features</vt:lpstr>
      <vt:lpstr>Reasons to Make Preventive Health Check-Ups Mandatory: </vt:lpstr>
      <vt:lpstr> Solutions to Make Preventive Health Check-Ups Mandatory </vt:lpstr>
      <vt:lpstr> Solutions to Make Preventive Health Check-Ups Mandatory </vt:lpstr>
      <vt:lpstr>Effect on Costs for Preventive Health Check-Ups: </vt:lpstr>
      <vt:lpstr>FUTURE PLANS </vt:lpstr>
      <vt:lpstr>Overall Conclusion: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 to Health: The Influence of Pricing on Preventive Check-Ups</dc:title>
  <dc:creator>JK</dc:creator>
  <cp:lastModifiedBy>Kore Riddhi Ghananil (Student)</cp:lastModifiedBy>
  <cp:revision>4</cp:revision>
  <dcterms:created xsi:type="dcterms:W3CDTF">2024-11-20T06:42:13Z</dcterms:created>
  <dcterms:modified xsi:type="dcterms:W3CDTF">2024-12-08T19:38:57Z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0x010100FABE01347FC3FF459AB720BD84556ACB</vt:lpwstr>
  </property>
</Properties>
</file>